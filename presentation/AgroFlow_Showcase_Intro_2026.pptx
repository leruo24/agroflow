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7618c5-75b7-bc52-9bf3-4ddd971b7dbb}">
          <p14:sldIdLst>
            <p14:sldId id="256"/>
            <p14:sldId id="257"/>
            <p14:sldId id="258"/>
          </p14:sldIdLst>
        </p14:section>
        <p14:section name="Solution" id="{7fed257a-17b0-8f65-2743-5642d76d183c}">
          <p14:sldIdLst>
            <p14:sldId id="259"/>
            <p14:sldId id="260"/>
          </p14:sldIdLst>
        </p14:section>
        <p14:section name="Design" id="{5d000f03-05d8-d616-87a5-2e4d333d87f7}">
          <p14:sldIdLst>
            <p14:sldId id="261"/>
            <p14:sldId id="262"/>
          </p14:sldIdLst>
        </p14:section>
        <p14:section name="Implementation" id="{1c8e8a1f-6f82-37ed-6671-bbdeef00cc12}">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Lubaelihle Msuku (Project Manager). ~20 s.
Good morning. We're Team 2, and this is AgroFlow, a smart irrigation management system.
It combines agriculture, IoT hardware in the field, irrigation control and software. The screens on the right are our real farmer app. The project was sponsored by the Mafikeng Cisco Edge Centre, MDiHub.
Source: Milestone 2/3 cover pages; app screens captured from apps/mobile (see source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Lubaelihle. ~20 s.
I'm Lubaelihle, the project manager. Leruo is our software developer, Philisile our business analyst, and Olwethu our soft-skills specialist. All four of us will present today.
Our sponsor is Boingotlo Molefhe, and our tutor and mentor were Nazreen Ryklief and Jodie Thorburn.
Roles: Milestone 1, Table 14 (Summary of roles). Names: Milestone 1 cover / repo landing page.
ACTION: the circles are editable placeholders — no team photos were supplied. Replace each with a real photo (Insert &gt; Picture, crop to circle).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Lubaelihle. ~40 s.
Farmers have to decide when and how much to water without reliable, real-time visibility of their fields.
In practice that means walking from zone to zone to judge the soil, or relying on fixed timers that ignore the weather. The result is over- and under-watering, extra labour, and no record of the water used.
Rural sites also have weak signal and load-shedding, so the system has to keep working offline.
Our persona, Sipho Dlamini, wants to check his soil without walking to every zone.
Handover: Leruo will show how AgroFlow answers that.
Sources: Milestone 3 §1.1 Business Case Summary; Milestone 3 §2 (R10 connectivity, R14 load shedding); persona Figure 7.1 (goal: 'ability to check soil conditions without having to walk to every zone'). No yield or water-saving percentages are claimed — none were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Leruo Matlhatsi (Software Developer). ~35 s.
Thanks, Luba. AgroFlow is one connected system.
Each zone has an ESP32 kit that reads soil moisture, temperature and humidity every thirty seconds and switches the pump through a relay.
The platform stores those readings, checks each zone, and uses the FAO-56 method to advise how much water the crop needs. When a person needs to act, it sends a Telegram alert.
The farmer can leave a zone on automatic, schedule it, or water manually.
The advice is rule-based and sourced, not an AI model.
Sources: firmware SENSOR_REPORT_INTERVAL_MS = 30000 (AgroFlowIrrigationNode.ino:98); IrrigationMode.cs (automatic/scheduled/manual); Agronomy/IrrigationAdvisor.cs header ('This is NOT a language model'); TelegramNotificationService.cs.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Leruo. ~50 s.
This is the system as built, traced from our code.
The kit's sensors feed the ESP32, which drives the relay and pump. It publishes readings over MQTT, encrypted with TLS, to HiveMQ Cloud; enrolment and event logging use HTTPS.
Our ASP.NET Core API, running in Docker on Railway, stores readings in Supabase, decides whether automatic zones need water, runs the advice engine with Open-Meteo weather, and sends Telegram alerts.
Both apps read straight from Supabase, where row-level security keeps each farmer to their own farm.
Along the bottom is the command path: queued in the database, picked up by the API, sent over MQTT to the ESP32.
Handover: Philisile will walk through the process.
Sources: README.md Architecture; hardware/shared/MQTT_TOPICS.md; Mqtt/IrrigationCommandNotifyService.cs; Services/SensorReadingProcessor.cs; WeatherCollectionService.cs (Open-Meteo); migration 0011_row_level_security.sql; Dockerfile; Milestone 3 §2.1.4. NOTE: Milestone 3 describes an ESP-NOW gateway between boards and OpenWeatherMap; neither is in the final code — each board connects directly over Wi-Fi, and weather comes from Open-Meteo.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Philisile Tyobeka (Business Analyst). ~45 s.
Thank you, Leruo. Our To-Be process has three lanes: farmer, platform and hardware.
The kit reads its sensors every thirty seconds. The platform stores each reading and updates the zone's health. If the zone is on automatic and below the farmer's threshold, it queues a start command; otherwise it keeps monitoring.
Meanwhile the farmer reviews the FAO-56 advice and can start a manual run for a chosen number of minutes.
Either way the command reaches the relay and the pump runs, until the time is up, a stop arrives, or a safety limit is hit. The event is logged and appears in the farmer's history.
Sources: Milestone 2 §3 To-Be Activity Diagram — Farmer (original: view conditions → initiate irrigation → check hardware → assess → irrigate loop → record). Updated because the implemented system adds automatic mode decisions (Zone.ShouldStartIrrigation), FAO-56 advice, and duration-limited manual runs (FarmerEndpoints.CreateManualCommandAsync). Safety cap: firmware SAFETY_MAX_RUN_MS = 5 minutes on every run (AgroFlowIrrigationNode.ino:105).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Philisile. ~35 s.
This is our domain model, simplified. A farm user owns farms, and each farm has zones.
The zone is the centre: it has hardware — the ESP32, sensors and pump all inherit from Hardware — and it collects irrigation logs, alerts and advice.
On the right is the real Zone class. ShouldStartIrrigation only returns true when the farmer has set a threshold; it never guesses.
Handover: Olwethu will show what we built.
Sources: backend/AgroFlow.Domain/*.cs (User abstract; FarmUser : User; Admin : User; ESP32/Sensor/Pump : Hardware; Farm.Zones collection); supabase/migrations (farm.owner_id, zone.farm_id, hardware.zone_id, alert/irrigation_event/ai_recommendation.zone_id, weather.farm_id). Changed since the Milestone 3 DCD: Admin extends User (not FarmUser); RelaySwitch, WeatherService, DashboardService and NotificationService are not domain classes — that work lives in API services. Maintenance (→ Hardware) and Report exist but are omitted here for readability.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Olwethu Nkabinde (Soft Skills). ~30 s.
Thanks, Philisile. This is our evidence that AgroFlow is built, not just designed.
Top left is the farmer app; top right, the admin console, which opens on what needs attention. Bottom left is our kit [describe the photo once added], and bottom right is the ESP32 firmware switching the pump on a start command and off on a stop.
Sources: screenshots captured from the running apps on 6 Oct 2026 (apps/mobile via Expo web; apps/web/admin via Vite). The build sandbox could not reach Supabase or Railway, so data comes from a local fixture mirroring docs/demo-account.md — no sensor values were invented, which is why readings show 'No reading'. Code: hardware/esp32/AgroFlowIrrigationNode/AgroFlowIrrigationNode.ino lines 492–509.
ACTION: replace the dashed box with a real photo of the kit before presenting; consider re-capturing the app screens from the live system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Olwethu. ~35 s.
Here is where we stand. The field kit enrols with a one-time code, keeps watering locally when offline, and caps every pump run at five minutes.
The platform, farmer app and admin console are all working, as listed.
Some things aren't finished. Maintenance and alert assignment don't persist yet, uptime isn't measured, and the ESP-NOW gateway from our design wasn't built.
Sources: docs/final-finish-report.md 'Still not done'; docs/release-notes-v2.md 'What is not connected yet'; firmware v1.2–1.4 header; admin exports commit 2ff6594. Not on the slide because it could not be verified here: the report states 650 domain tests pass (dotnet was not available in this environment), and the admin audit log depends on migration 0038 being applied and the dev branch being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Olwethu. ~45 s.
Our system demo follows one farmer's day. They open AgroFlow, and Drip, the app's helper, points them to Zone 2. Its soil moisture has dropped below its start level, so the zone is critical, and the FAO-56 advice says to water now for about five minutes.
The farmer switches the zone to manual and starts a run. When they type ninety minutes, the app stops them, because a run must be between one and sixty minutes. They correct it to five. The command reaches the kit, the pump runs, and the run appears in their history. Finally, an administrator follows up the alert.
Now, let's see AgroFlow in action.
Source: the team's system demo (showcase/narration.md, showcase/system-audit.md, showcase/assets/screens/*). Screens are the real, unmodified app answering with clearly labelled illustrative demo data (showcase/capture/demo-data.mjs), approved by the team per showcase/system-audit.md. Validation: apps/mobile/src/app/zone/[id].tsx handleStartManualRun ('Enter a duration between 1 and 60 minutes.'). The demo uses 5 minutes, which fits the firmware's 5-minute safety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F_CONTENT">
    <p:bg>
      <p:bgPr>
        <a:solidFill>
          <a:srgbClr val="FFFFFF"/>
        </a:solidFill>
      </p:bgPr>
    </p:bg>
    <p:spTree>
      <p:nvGrpSpPr>
        <p:cNvPr id="1" name=""/>
        <p:cNvGrpSpPr/>
        <p:nvPr/>
      </p:nvGrpSpPr>
      <p:grpSpPr>
        <a:xfrm>
          <a:off x="0" y="0"/>
          <a:ext cx="0" cy="0"/>
          <a:chOff x="0" y="0"/>
          <a:chExt cx="0" cy="0"/>
        </a:xfrm>
      </p:grpSpPr>
      <p:pic>
        <p:nvPicPr>
          <p:cNvPr id="2" name="Image 0" descr="/home/user/AgroFlow/presentation/presentation-assets/brand/agroflow-icon.png">    </p:cNvPr>
          <p:cNvPicPr>
            <a:picLocks noChangeAspect="1"/>
          </p:cNvPicPr>
          <p:nvPr/>
        </p:nvPicPr>
        <p:blipFill>
          <a:blip r:embed="rId1"/>
          <a:stretch>
            <a:fillRect/>
          </a:stretch>
        </p:blipFill>
        <p:spPr>
          <a:xfrm>
            <a:off x="502920" y="6382512"/>
            <a:ext cx="274320" cy="274320"/>
          </a:xfrm>
          <a:prstGeom prst="rect">
            <a:avLst/>
          </a:prstGeom>
        </p:spPr>
      </p:pic>
      <p:sp>
        <p:nvSpPr>
          <p:cNvPr id="3" name="Text 0"/>
          <p:cNvSpPr/>
          <p:nvPr/>
        </p:nvSpPr>
        <p:spPr>
          <a:xfrm>
            <a:off x="841248" y="6382512"/>
            <a:ext cx="5486400" cy="274320"/>
          </a:xfrm>
          <a:prstGeom prst="rect">
            <a:avLst/>
          </a:prstGeom>
          <a:noFill/>
          <a:ln/>
        </p:spPr>
        <p:txBody>
          <a:bodyPr wrap="square" lIns="0" tIns="0" rIns="0" bIns="0" rtlCol="0" anchor="ctr"/>
          <a:lstStyle/>
          <a:p>
            <a:pPr indent="0" marL="0">
              <a:buNone/>
            </a:pPr>
            <a:r>
              <a:rPr lang="en-US" sz="1000" dirty="0">
                <a:solidFill>
                  <a:srgbClr val="5B6B73"/>
                </a:solidFill>
              </a:rPr>
              <a:t>AgroFlow · Team 2 · INF3003W · UCT 2026</a:t>
            </a:r>
            <a:endParaRPr lang="en-US" sz="1000" dirty="0"/>
          </a:p>
        </p:txBody>
      </p:sp>
      <p:sp>
        <p:nvSpPr>
          <p:cNvPr id="4" name="Text 1"/>
          <p:cNvSpPr/>
          <p:nvPr>
            <p:ph idx="102" type="title" hasCustomPrompt="1"/>
          </p:nvPr>
        </p:nvSpPr>
        <p:spPr>
          <a:xfrm>
            <a:off x="502920" y="347472"/>
            <a:ext cx="9326880" cy="731520"/>
          </a:xfrm>
          <a:prstGeom prst="rect">
            <a:avLst/>
          </a:prstGeom>
          <a:noFill/>
          <a:ln/>
        </p:spPr>
        <p:txBody>
          <a:bodyPr wrap="square" rtlCol="0"/>
          <a:lstStyle>
            <a:lvl1pPr algn="l" indent="0" marL="0">
              <a:buNone/>
              <a:defRPr lang="en-US" sz="3400" b="1" dirty="0">
                <a:solidFill>
                  <a:srgbClr val="0F2A36"/>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9284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F_DARK">
    <p:bg>
      <p:bgPr>
        <a:solidFill>
          <a:srgbClr val="0F2A3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3.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late"/>
          <p:cNvSpPr/>
          <p:nvPr/>
        </p:nvSpPr>
        <p:spPr>
          <a:xfrm>
            <a:off x="685800" y="640080"/>
            <a:ext cx="1234440" cy="1234440"/>
          </a:xfrm>
          <a:prstGeom prst="roundRect">
            <a:avLst>
              <a:gd name="adj" fmla="val 18519"/>
            </a:avLst>
          </a:prstGeom>
          <a:solidFill>
            <a:srgbClr val="FFFFFF"/>
          </a:solidFill>
          <a:ln w="12700">
            <a:solidFill>
              <a:srgbClr val="FFFFFF"/>
            </a:solidFill>
            <a:prstDash val="solid"/>
          </a:ln>
        </p:spPr>
      </p:sp>
      <p:pic>
        <p:nvPicPr>
          <p:cNvPr id="3" name="AgroFlow logo" descr="/home/user/AgroFlow/presentation/presentation-assets/brand/agroflow-icon.png">    </p:cNvPr>
          <p:cNvPicPr>
            <a:picLocks noChangeAspect="1"/>
          </p:cNvPicPr>
          <p:nvPr/>
        </p:nvPicPr>
        <p:blipFill>
          <a:blip r:embed="rId1"/>
          <a:stretch>
            <a:fillRect/>
          </a:stretch>
        </p:blipFill>
        <p:spPr>
          <a:xfrm>
            <a:off x="731520" y="685800"/>
            <a:ext cx="1143000" cy="1143000"/>
          </a:xfrm>
          <a:prstGeom prst="rect">
            <a:avLst/>
          </a:prstGeom>
        </p:spPr>
      </p:pic>
      <p:sp>
        <p:nvSpPr>
          <p:cNvPr id="4" name="Text 1"/>
          <p:cNvSpPr txBox="1"/>
          <p:nvPr/>
        </p:nvSpPr>
        <p:spPr>
          <a:xfrm>
            <a:off x="685800" y="2057400"/>
            <a:ext cx="6583680" cy="1005840"/>
          </a:xfrm>
          <a:prstGeom prst="rect">
            <a:avLst/>
          </a:prstGeom>
          <a:noFill/>
          <a:ln/>
        </p:spPr>
        <p:txBody>
          <a:bodyPr wrap="square" lIns="0" tIns="0" rIns="0" bIns="0" rtlCol="0" anchor="t"/>
          <a:lstStyle/>
          <a:p>
            <a:pPr indent="0" marL="0">
              <a:buNone/>
            </a:pPr>
            <a:r>
              <a:rPr lang="en-US" sz="6600" b="1" spc="400" kern="0" dirty="0">
                <a:solidFill>
                  <a:srgbClr val="FFFFFF"/>
                </a:solidFill>
              </a:rPr>
              <a:t>AGROFLOW</a:t>
            </a:r>
            <a:endParaRPr lang="en-US" sz="6600" dirty="0"/>
          </a:p>
        </p:txBody>
      </p:sp>
      <p:sp>
        <p:nvSpPr>
          <p:cNvPr id="5" name="Text 2"/>
          <p:cNvSpPr txBox="1"/>
          <p:nvPr/>
        </p:nvSpPr>
        <p:spPr>
          <a:xfrm>
            <a:off x="685800" y="3063240"/>
            <a:ext cx="6583680" cy="548640"/>
          </a:xfrm>
          <a:prstGeom prst="rect">
            <a:avLst/>
          </a:prstGeom>
          <a:noFill/>
          <a:ln/>
        </p:spPr>
        <p:txBody>
          <a:bodyPr wrap="square" lIns="0" tIns="0" rIns="0" bIns="0" rtlCol="0" anchor="t"/>
          <a:lstStyle/>
          <a:p>
            <a:pPr indent="0" marL="0">
              <a:buNone/>
            </a:pPr>
            <a:r>
              <a:rPr lang="en-US" sz="2800" dirty="0">
                <a:solidFill>
                  <a:srgbClr val="42C3C7"/>
                </a:solidFill>
              </a:rPr>
              <a:t>Smart Irrigation Management System</a:t>
            </a:r>
            <a:endParaRPr lang="en-US" sz="2800" dirty="0"/>
          </a:p>
        </p:txBody>
      </p:sp>
      <p:sp>
        <p:nvSpPr>
          <p:cNvPr id="6" name="Icon circle"/>
          <p:cNvSpPr/>
          <p:nvPr/>
        </p:nvSpPr>
        <p:spPr>
          <a:xfrm>
            <a:off x="685800" y="3977640"/>
            <a:ext cx="566928" cy="566928"/>
          </a:xfrm>
          <a:prstGeom prst="ellipse">
            <a:avLst/>
          </a:prstGeom>
          <a:solidFill>
            <a:srgbClr val="1D3F4D"/>
          </a:solidFill>
          <a:ln w="12700">
            <a:solidFill>
              <a:srgbClr val="1D3F4D"/>
            </a:solidFill>
            <a:prstDash val="solid"/>
          </a:ln>
        </p:spPr>
      </p:sp>
      <p:pic>
        <p:nvPicPr>
          <p:cNvPr id="7" name="Icon" descr="preencoded.png">    </p:cNvPr>
          <p:cNvPicPr>
            <a:picLocks noChangeAspect="1"/>
          </p:cNvPicPr>
          <p:nvPr/>
        </p:nvPicPr>
        <p:blipFill>
          <a:blip r:embed="rId2"/>
          <a:stretch>
            <a:fillRect/>
          </a:stretch>
        </p:blipFill>
        <p:spPr>
          <a:xfrm>
            <a:off x="827532" y="4119372"/>
            <a:ext cx="283464" cy="283464"/>
          </a:xfrm>
          <a:prstGeom prst="rect">
            <a:avLst/>
          </a:prstGeom>
        </p:spPr>
      </p:pic>
      <p:sp>
        <p:nvSpPr>
          <p:cNvPr id="8" name="Text 4"/>
          <p:cNvSpPr txBox="1"/>
          <p:nvPr/>
        </p:nvSpPr>
        <p:spPr>
          <a:xfrm>
            <a:off x="1344168" y="3977640"/>
            <a:ext cx="1097280" cy="566928"/>
          </a:xfrm>
          <a:prstGeom prst="rect">
            <a:avLst/>
          </a:prstGeom>
          <a:noFill/>
          <a:ln/>
        </p:spPr>
        <p:txBody>
          <a:bodyPr wrap="square" lIns="0" tIns="0" rIns="0" bIns="0" rtlCol="0" anchor="ctr"/>
          <a:lstStyle/>
          <a:p>
            <a:pPr indent="0" marL="0">
              <a:buNone/>
            </a:pPr>
            <a:r>
              <a:rPr lang="en-US" sz="1400" dirty="0">
                <a:solidFill>
                  <a:srgbClr val="FFFFFF"/>
                </a:solidFill>
              </a:rPr>
              <a:t>Agriculture</a:t>
            </a:r>
            <a:endParaRPr lang="en-US" sz="1400" dirty="0"/>
          </a:p>
        </p:txBody>
      </p:sp>
      <p:sp>
        <p:nvSpPr>
          <p:cNvPr id="9" name="Icon circle"/>
          <p:cNvSpPr/>
          <p:nvPr/>
        </p:nvSpPr>
        <p:spPr>
          <a:xfrm>
            <a:off x="2606040" y="3977640"/>
            <a:ext cx="566928" cy="566928"/>
          </a:xfrm>
          <a:prstGeom prst="ellipse">
            <a:avLst/>
          </a:prstGeom>
          <a:solidFill>
            <a:srgbClr val="1D3F4D"/>
          </a:solidFill>
          <a:ln w="12700">
            <a:solidFill>
              <a:srgbClr val="1D3F4D"/>
            </a:solidFill>
            <a:prstDash val="solid"/>
          </a:ln>
        </p:spPr>
      </p:sp>
      <p:pic>
        <p:nvPicPr>
          <p:cNvPr id="10" name="Icon" descr="preencoded.png">    </p:cNvPr>
          <p:cNvPicPr>
            <a:picLocks noChangeAspect="1"/>
          </p:cNvPicPr>
          <p:nvPr/>
        </p:nvPicPr>
        <p:blipFill>
          <a:blip r:embed="rId3"/>
          <a:stretch>
            <a:fillRect/>
          </a:stretch>
        </p:blipFill>
        <p:spPr>
          <a:xfrm>
            <a:off x="2747772" y="4119372"/>
            <a:ext cx="283464" cy="283464"/>
          </a:xfrm>
          <a:prstGeom prst="rect">
            <a:avLst/>
          </a:prstGeom>
        </p:spPr>
      </p:pic>
      <p:sp>
        <p:nvSpPr>
          <p:cNvPr id="11" name="Text 6"/>
          <p:cNvSpPr txBox="1"/>
          <p:nvPr/>
        </p:nvSpPr>
        <p:spPr>
          <a:xfrm>
            <a:off x="3264408" y="3977640"/>
            <a:ext cx="1097280" cy="566928"/>
          </a:xfrm>
          <a:prstGeom prst="rect">
            <a:avLst/>
          </a:prstGeom>
          <a:noFill/>
          <a:ln/>
        </p:spPr>
        <p:txBody>
          <a:bodyPr wrap="square" lIns="0" tIns="0" rIns="0" bIns="0" rtlCol="0" anchor="ctr"/>
          <a:lstStyle/>
          <a:p>
            <a:pPr indent="0" marL="0">
              <a:buNone/>
            </a:pPr>
            <a:r>
              <a:rPr lang="en-US" sz="1400" dirty="0">
                <a:solidFill>
                  <a:srgbClr val="FFFFFF"/>
                </a:solidFill>
              </a:rPr>
              <a:t>IoT</a:t>
            </a:r>
            <a:endParaRPr lang="en-US" sz="1400" dirty="0"/>
          </a:p>
        </p:txBody>
      </p:sp>
      <p:sp>
        <p:nvSpPr>
          <p:cNvPr id="12" name="Icon circle"/>
          <p:cNvSpPr/>
          <p:nvPr/>
        </p:nvSpPr>
        <p:spPr>
          <a:xfrm>
            <a:off x="3794760" y="3977640"/>
            <a:ext cx="566928" cy="566928"/>
          </a:xfrm>
          <a:prstGeom prst="ellipse">
            <a:avLst/>
          </a:prstGeom>
          <a:solidFill>
            <a:srgbClr val="1D3F4D"/>
          </a:solidFill>
          <a:ln w="12700">
            <a:solidFill>
              <a:srgbClr val="1D3F4D"/>
            </a:solidFill>
            <a:prstDash val="solid"/>
          </a:ln>
        </p:spPr>
      </p:sp>
      <p:pic>
        <p:nvPicPr>
          <p:cNvPr id="13" name="Icon" descr="preencoded.png">    </p:cNvPr>
          <p:cNvPicPr>
            <a:picLocks noChangeAspect="1"/>
          </p:cNvPicPr>
          <p:nvPr/>
        </p:nvPicPr>
        <p:blipFill>
          <a:blip r:embed="rId4"/>
          <a:stretch>
            <a:fillRect/>
          </a:stretch>
        </p:blipFill>
        <p:spPr>
          <a:xfrm>
            <a:off x="3936492" y="4119372"/>
            <a:ext cx="283464" cy="283464"/>
          </a:xfrm>
          <a:prstGeom prst="rect">
            <a:avLst/>
          </a:prstGeom>
        </p:spPr>
      </p:pic>
      <p:sp>
        <p:nvSpPr>
          <p:cNvPr id="14" name="Text 8"/>
          <p:cNvSpPr txBox="1"/>
          <p:nvPr/>
        </p:nvSpPr>
        <p:spPr>
          <a:xfrm>
            <a:off x="4453128" y="3977640"/>
            <a:ext cx="1097280" cy="566928"/>
          </a:xfrm>
          <a:prstGeom prst="rect">
            <a:avLst/>
          </a:prstGeom>
          <a:noFill/>
          <a:ln/>
        </p:spPr>
        <p:txBody>
          <a:bodyPr wrap="square" lIns="0" tIns="0" rIns="0" bIns="0" rtlCol="0" anchor="ctr"/>
          <a:lstStyle/>
          <a:p>
            <a:pPr indent="0" marL="0">
              <a:buNone/>
            </a:pPr>
            <a:r>
              <a:rPr lang="en-US" sz="1400" dirty="0">
                <a:solidFill>
                  <a:srgbClr val="FFFFFF"/>
                </a:solidFill>
              </a:rPr>
              <a:t>Irrigation</a:t>
            </a:r>
            <a:endParaRPr lang="en-US" sz="1400" dirty="0"/>
          </a:p>
        </p:txBody>
      </p:sp>
      <p:sp>
        <p:nvSpPr>
          <p:cNvPr id="15" name="Icon circle"/>
          <p:cNvSpPr/>
          <p:nvPr/>
        </p:nvSpPr>
        <p:spPr>
          <a:xfrm>
            <a:off x="5577840" y="3977640"/>
            <a:ext cx="566928" cy="566928"/>
          </a:xfrm>
          <a:prstGeom prst="ellipse">
            <a:avLst/>
          </a:prstGeom>
          <a:solidFill>
            <a:srgbClr val="1D3F4D"/>
          </a:solidFill>
          <a:ln w="12700">
            <a:solidFill>
              <a:srgbClr val="1D3F4D"/>
            </a:solidFill>
            <a:prstDash val="solid"/>
          </a:ln>
        </p:spPr>
      </p:sp>
      <p:pic>
        <p:nvPicPr>
          <p:cNvPr id="16" name="Icon" descr="preencoded.png">    </p:cNvPr>
          <p:cNvPicPr>
            <a:picLocks noChangeAspect="1"/>
          </p:cNvPicPr>
          <p:nvPr/>
        </p:nvPicPr>
        <p:blipFill>
          <a:blip r:embed="rId5"/>
          <a:stretch>
            <a:fillRect/>
          </a:stretch>
        </p:blipFill>
        <p:spPr>
          <a:xfrm>
            <a:off x="5719572" y="4119372"/>
            <a:ext cx="283464" cy="283464"/>
          </a:xfrm>
          <a:prstGeom prst="rect">
            <a:avLst/>
          </a:prstGeom>
        </p:spPr>
      </p:pic>
      <p:sp>
        <p:nvSpPr>
          <p:cNvPr id="17" name="Text 10"/>
          <p:cNvSpPr txBox="1"/>
          <p:nvPr/>
        </p:nvSpPr>
        <p:spPr>
          <a:xfrm>
            <a:off x="6236208" y="3977640"/>
            <a:ext cx="1097280" cy="566928"/>
          </a:xfrm>
          <a:prstGeom prst="rect">
            <a:avLst/>
          </a:prstGeom>
          <a:noFill/>
          <a:ln/>
        </p:spPr>
        <p:txBody>
          <a:bodyPr wrap="square" lIns="0" tIns="0" rIns="0" bIns="0" rtlCol="0" anchor="ctr"/>
          <a:lstStyle/>
          <a:p>
            <a:pPr indent="0" marL="0">
              <a:buNone/>
            </a:pPr>
            <a:r>
              <a:rPr lang="en-US" sz="1400" dirty="0">
                <a:solidFill>
                  <a:srgbClr val="FFFFFF"/>
                </a:solidFill>
              </a:rPr>
              <a:t>Software</a:t>
            </a:r>
            <a:endParaRPr lang="en-US" sz="1400" dirty="0"/>
          </a:p>
        </p:txBody>
      </p:sp>
      <p:sp>
        <p:nvSpPr>
          <p:cNvPr id="18" name="Text 11"/>
          <p:cNvSpPr txBox="1"/>
          <p:nvPr/>
        </p:nvSpPr>
        <p:spPr>
          <a:xfrm>
            <a:off x="685800" y="4937760"/>
            <a:ext cx="6583680" cy="1097280"/>
          </a:xfrm>
          <a:prstGeom prst="rect">
            <a:avLst/>
          </a:prstGeom>
          <a:noFill/>
          <a:ln/>
        </p:spPr>
        <p:txBody>
          <a:bodyPr wrap="square" lIns="0" tIns="0" rIns="0" bIns="0" rtlCol="0" anchor="t"/>
          <a:lstStyle/>
          <a:p>
            <a:pPr indent="0" marL="0">
              <a:spcAft>
                <a:spcPts val="400"/>
              </a:spcAft>
              <a:buNone/>
            </a:pPr>
            <a:r>
              <a:rPr lang="en-US" sz="1600" dirty="0">
                <a:solidFill>
                  <a:srgbClr val="FFFFFF"/>
                </a:solidFill>
              </a:rPr>
              <a:t>INF3003W · Systems Development Project I</a:t>
            </a:r>
            <a:endParaRPr lang="en-US" sz="1600" dirty="0"/>
          </a:p>
          <a:p>
            <a:pPr indent="0" marL="0">
              <a:spcAft>
                <a:spcPts val="400"/>
              </a:spcAft>
              <a:buNone/>
            </a:pPr>
            <a:r>
              <a:rPr lang="en-US" sz="1600" dirty="0">
                <a:solidFill>
                  <a:srgbClr val="FFFFFF"/>
                </a:solidFill>
              </a:rPr>
              <a:t>Team 2 · University of Cape Town · 2026</a:t>
            </a:r>
            <a:endParaRPr lang="en-US" sz="1600" dirty="0"/>
          </a:p>
          <a:p>
            <a:pPr indent="0" marL="0">
              <a:spcAft>
                <a:spcPts val="400"/>
              </a:spcAft>
              <a:buNone/>
            </a:pPr>
            <a:r>
              <a:rPr lang="en-US" sz="1600" dirty="0">
                <a:solidFill>
                  <a:srgbClr val="9FB6BF"/>
                </a:solidFill>
              </a:rPr>
              <a:t>Sponsor: Mafikeng Cisco Edge Centre (MDiHub)</a:t>
            </a:r>
            <a:endParaRPr lang="en-US" sz="1600" dirty="0"/>
          </a:p>
        </p:txBody>
      </p:sp>
      <p:pic>
        <p:nvPicPr>
          <p:cNvPr id="19" name="Farmer app — zone irrigation control" descr="/home/user/AgroFlow/presentation/presentation-assets/ui/mobile-zone-manual-run.png">    </p:cNvPr>
          <p:cNvPicPr>
            <a:picLocks noChangeAspect="1"/>
          </p:cNvPicPr>
          <p:nvPr/>
        </p:nvPicPr>
        <p:blipFill>
          <a:blip r:embed="rId6"/>
          <a:stretch>
            <a:fillRect/>
          </a:stretch>
        </p:blipFill>
        <p:spPr>
          <a:xfrm>
            <a:off x="7498080" y="960120"/>
            <a:ext cx="2547061" cy="5349240"/>
          </a:xfrm>
          <a:prstGeom prst="rect">
            <a:avLst/>
          </a:prstGeom>
        </p:spPr>
      </p:pic>
      <p:pic>
        <p:nvPicPr>
          <p:cNvPr id="20" name="Farmer app — reports" descr="/home/user/AgroFlow/presentation/presentation-assets/ui/mobile-reports.png">    </p:cNvPr>
          <p:cNvPicPr>
            <a:picLocks noChangeAspect="1"/>
          </p:cNvPicPr>
          <p:nvPr/>
        </p:nvPicPr>
        <p:blipFill>
          <a:blip r:embed="rId7"/>
          <a:stretch>
            <a:fillRect/>
          </a:stretch>
        </p:blipFill>
        <p:spPr>
          <a:xfrm>
            <a:off x="9646920" y="1417320"/>
            <a:ext cx="2329364" cy="4892040"/>
          </a:xfrm>
          <a:prstGeom prst="rect">
            <a:avLst/>
          </a:prstGeom>
        </p:spPr>
      </p:pic>
      <p:sp>
        <p:nvSpPr>
          <p:cNvPr id="21" name="Text 12"/>
          <p:cNvSpPr txBox="1"/>
          <p:nvPr/>
        </p:nvSpPr>
        <p:spPr>
          <a:xfrm>
            <a:off x="7543800" y="6446520"/>
            <a:ext cx="4389120" cy="274320"/>
          </a:xfrm>
          <a:prstGeom prst="rect">
            <a:avLst/>
          </a:prstGeom>
          <a:noFill/>
          <a:ln/>
        </p:spPr>
        <p:txBody>
          <a:bodyPr wrap="square" lIns="0" tIns="0" rIns="0" bIns="0" rtlCol="0" anchor="t"/>
          <a:lstStyle/>
          <a:p>
            <a:pPr indent="0" marL="0">
              <a:buNone/>
            </a:pPr>
            <a:r>
              <a:rPr lang="en-US" sz="1000" i="1" dirty="0">
                <a:solidFill>
                  <a:srgbClr val="9FB6BF"/>
                </a:solidFill>
              </a:rPr>
              <a:t>Real AgroFlow farmer app, running from the current repository</a:t>
            </a:r>
            <a:endParaRPr lang="en-US" sz="1000" dirty="0"/>
          </a:p>
        </p:txBody>
      </p:sp>
      <p:sp>
        <p:nvSpPr>
          <p:cNvPr id="22" name="Speaker tag"/>
          <p:cNvSpPr txBox="1"/>
          <p:nvPr/>
        </p:nvSpPr>
        <p:spPr>
          <a:xfrm>
            <a:off x="10012680" y="457200"/>
            <a:ext cx="1691640" cy="329184"/>
          </a:xfrm>
          <a:prstGeom prst="roundRect">
            <a:avLst>
              <a:gd name="adj" fmla="val 41667"/>
            </a:avLst>
          </a:prstGeom>
          <a:solidFill>
            <a:srgbClr val="1D3F4D"/>
          </a:solidFill>
          <a:ln>
            <a:solidFill>
              <a:srgbClr val="1D3F4D"/>
            </a:solidFill>
          </a:ln>
        </p:spPr>
        <p:txBody>
          <a:bodyPr wrap="square" lIns="0" tIns="0" rIns="0" bIns="0" rtlCol="0" anchor="ctr"/>
          <a:lstStyle/>
          <a:p>
            <a:pPr algn="ctr" indent="0" marL="0">
              <a:buNone/>
            </a:pPr>
            <a:r>
              <a:rPr lang="en-US" sz="1100" b="1" dirty="0">
                <a:solidFill>
                  <a:srgbClr val="42C3C7"/>
                </a:solidFill>
              </a:rPr>
              <a:t>Lubaelihle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02920" y="347472"/>
            <a:ext cx="9326880" cy="731520"/>
          </a:xfrm>
          <a:prstGeom prst="rect">
            <a:avLst/>
          </a:prstGeom>
          <a:noFill/>
          <a:ln/>
        </p:spPr>
        <p:txBody>
          <a:bodyPr wrap="square" lIns="0" tIns="0" rIns="0" bIns="0" rtlCol="0" anchor="ctr"/>
          <a:lstStyle/>
          <a:p>
            <a:pPr algn="l" indent="0" marL="0">
              <a:buNone/>
            </a:pPr>
            <a:r>
              <a:rPr lang="en-US" sz="3400" b="1" dirty="0">
                <a:solidFill>
                  <a:srgbClr val="0F2A36"/>
                </a:solidFill>
              </a:rPr>
              <a:t>Meet Team 2</a:t>
            </a:r>
            <a:endParaRPr lang="en-US" sz="3400" dirty="0"/>
          </a:p>
        </p:txBody>
      </p:sp>
      <p:sp>
        <p:nvSpPr>
          <p:cNvPr id="3" name="Speaker tag"/>
          <p:cNvSpPr txBox="1"/>
          <p:nvPr/>
        </p:nvSpPr>
        <p:spPr>
          <a:xfrm>
            <a:off x="10012680" y="457200"/>
            <a:ext cx="1691640" cy="329184"/>
          </a:xfrm>
          <a:prstGeom prst="roundRect">
            <a:avLst>
              <a:gd name="adj" fmla="val 41667"/>
            </a:avLst>
          </a:prstGeom>
          <a:solidFill>
            <a:srgbClr val="E3F4F5"/>
          </a:solidFill>
          <a:ln>
            <a:solidFill>
              <a:srgbClr val="E3F4F5"/>
            </a:solidFill>
          </a:ln>
        </p:spPr>
        <p:txBody>
          <a:bodyPr wrap="square" lIns="0" tIns="0" rIns="0" bIns="0" rtlCol="0" anchor="ctr"/>
          <a:lstStyle/>
          <a:p>
            <a:pPr algn="ctr" indent="0" marL="0">
              <a:buNone/>
            </a:pPr>
            <a:r>
              <a:rPr lang="en-US" sz="1100" b="1" dirty="0">
                <a:solidFill>
                  <a:srgbClr val="168F99"/>
                </a:solidFill>
              </a:rPr>
              <a:t>Lubaelihle</a:t>
            </a:r>
            <a:endParaRPr lang="en-US" sz="1100" dirty="0"/>
          </a:p>
        </p:txBody>
      </p:sp>
      <p:sp>
        <p:nvSpPr>
          <p:cNvPr id="4" name="Team card 1"/>
          <p:cNvSpPr/>
          <p:nvPr/>
        </p:nvSpPr>
        <p:spPr>
          <a:xfrm>
            <a:off x="502920" y="1417320"/>
            <a:ext cx="2606040" cy="3520440"/>
          </a:xfrm>
          <a:prstGeom prst="roundRect">
            <a:avLst>
              <a:gd name="adj" fmla="val 4211"/>
            </a:avLst>
          </a:prstGeom>
          <a:solidFill>
            <a:srgbClr val="FFFFFF"/>
          </a:solidFill>
          <a:ln w="9525">
            <a:solidFill>
              <a:srgbClr val="C9D6D9"/>
            </a:solidFill>
            <a:prstDash val="solid"/>
          </a:ln>
          <a:effectLst>
            <a:outerShdw sx="100000" sy="100000" kx="0" ky="0" algn="bl" rotWithShape="0" blurRad="101600" dist="25400" dir="5400000">
              <a:srgbClr val="0F2A36">
                <a:alpha val="12000"/>
              </a:srgbClr>
            </a:outerShdw>
          </a:effectLst>
        </p:spPr>
      </p:sp>
      <p:sp>
        <p:nvSpPr>
          <p:cNvPr id="5" name="PHOTO PLACEHOLDER — replace with team photo"/>
          <p:cNvSpPr txBox="1"/>
          <p:nvPr/>
        </p:nvSpPr>
        <p:spPr>
          <a:xfrm>
            <a:off x="1143000" y="1691640"/>
            <a:ext cx="1325880" cy="1325880"/>
          </a:xfrm>
          <a:prstGeom prst="ellipse">
            <a:avLst/>
          </a:prstGeom>
          <a:solidFill>
            <a:srgbClr val="F2F7F6"/>
          </a:solidFill>
          <a:ln w="31750">
            <a:solidFill>
              <a:srgbClr val="2F6B4B"/>
            </a:solidFill>
            <a:prstDash val="dash"/>
          </a:ln>
        </p:spPr>
        <p:txBody>
          <a:bodyPr wrap="square" lIns="0" tIns="0" rIns="0" bIns="0" rtlCol="0" anchor="ctr"/>
          <a:lstStyle/>
          <a:p>
            <a:pPr algn="ctr" indent="0" marL="0">
              <a:buNone/>
            </a:pPr>
            <a:r>
              <a:rPr lang="en-US" sz="3000" b="1" dirty="0">
                <a:solidFill>
                  <a:srgbClr val="2F6B4B"/>
                </a:solidFill>
              </a:rPr>
              <a:t>LM</a:t>
            </a:r>
            <a:endParaRPr lang="en-US" sz="3000" dirty="0"/>
          </a:p>
          <a:p>
            <a:pPr algn="ctr" indent="0" marL="0">
              <a:buNone/>
            </a:pPr>
            <a:r>
              <a:rPr lang="en-US" sz="1000" dirty="0">
                <a:solidFill>
                  <a:srgbClr val="2F6B4B"/>
                </a:solidFill>
              </a:rPr>
              <a:t>add photo</a:t>
            </a:r>
            <a:endParaRPr lang="en-US" sz="3000" dirty="0"/>
          </a:p>
        </p:txBody>
      </p:sp>
      <p:sp>
        <p:nvSpPr>
          <p:cNvPr id="6" name="Text 4"/>
          <p:cNvSpPr txBox="1"/>
          <p:nvPr/>
        </p:nvSpPr>
        <p:spPr>
          <a:xfrm>
            <a:off x="640080" y="3246120"/>
            <a:ext cx="2331720" cy="411480"/>
          </a:xfrm>
          <a:prstGeom prst="rect">
            <a:avLst/>
          </a:prstGeom>
          <a:noFill/>
          <a:ln/>
        </p:spPr>
        <p:txBody>
          <a:bodyPr wrap="square" lIns="0" tIns="0" rIns="0" bIns="0" rtlCol="0" anchor="t"/>
          <a:lstStyle/>
          <a:p>
            <a:pPr algn="ctr" indent="0" marL="0">
              <a:buNone/>
            </a:pPr>
            <a:r>
              <a:rPr lang="en-US" sz="1800" b="1" dirty="0">
                <a:solidFill>
                  <a:srgbClr val="0F2A36"/>
                </a:solidFill>
              </a:rPr>
              <a:t>Lubaelihle Msuku</a:t>
            </a:r>
            <a:endParaRPr lang="en-US" sz="1800" dirty="0"/>
          </a:p>
        </p:txBody>
      </p:sp>
      <p:sp>
        <p:nvSpPr>
          <p:cNvPr id="7" name="Text 5"/>
          <p:cNvSpPr txBox="1"/>
          <p:nvPr/>
        </p:nvSpPr>
        <p:spPr>
          <a:xfrm>
            <a:off x="640080" y="3657600"/>
            <a:ext cx="2331720" cy="320040"/>
          </a:xfrm>
          <a:prstGeom prst="rect">
            <a:avLst/>
          </a:prstGeom>
          <a:noFill/>
          <a:ln/>
        </p:spPr>
        <p:txBody>
          <a:bodyPr wrap="square" lIns="0" tIns="0" rIns="0" bIns="0" rtlCol="0" anchor="t"/>
          <a:lstStyle/>
          <a:p>
            <a:pPr algn="ctr" indent="0" marL="0">
              <a:buNone/>
            </a:pPr>
            <a:r>
              <a:rPr lang="en-US" sz="1400" b="1" dirty="0">
                <a:solidFill>
                  <a:srgbClr val="2F6B4B"/>
                </a:solidFill>
              </a:rPr>
              <a:t>Project Manager</a:t>
            </a:r>
            <a:endParaRPr lang="en-US" sz="1400" dirty="0"/>
          </a:p>
        </p:txBody>
      </p:sp>
      <p:sp>
        <p:nvSpPr>
          <p:cNvPr id="8" name="Text 6"/>
          <p:cNvSpPr txBox="1"/>
          <p:nvPr/>
        </p:nvSpPr>
        <p:spPr>
          <a:xfrm>
            <a:off x="640080" y="4297680"/>
            <a:ext cx="2331720" cy="274320"/>
          </a:xfrm>
          <a:prstGeom prst="rect">
            <a:avLst/>
          </a:prstGeom>
          <a:noFill/>
          <a:ln/>
        </p:spPr>
        <p:txBody>
          <a:bodyPr wrap="square" lIns="0" tIns="0" rIns="0" bIns="0" rtlCol="0" anchor="t"/>
          <a:lstStyle/>
          <a:p>
            <a:pPr algn="ctr" indent="0" marL="0">
              <a:buNone/>
            </a:pPr>
            <a:r>
              <a:rPr lang="en-US" sz="1200" dirty="0">
                <a:solidFill>
                  <a:srgbClr val="5B6B73"/>
                </a:solidFill>
              </a:rPr>
              <a:t>Slides 1–3</a:t>
            </a:r>
            <a:endParaRPr lang="en-US" sz="1200" dirty="0"/>
          </a:p>
        </p:txBody>
      </p:sp>
      <p:sp>
        <p:nvSpPr>
          <p:cNvPr id="9" name="Team card 2"/>
          <p:cNvSpPr/>
          <p:nvPr/>
        </p:nvSpPr>
        <p:spPr>
          <a:xfrm>
            <a:off x="3337560" y="1417320"/>
            <a:ext cx="2606040" cy="3520440"/>
          </a:xfrm>
          <a:prstGeom prst="roundRect">
            <a:avLst>
              <a:gd name="adj" fmla="val 4211"/>
            </a:avLst>
          </a:prstGeom>
          <a:solidFill>
            <a:srgbClr val="FFFFFF"/>
          </a:solidFill>
          <a:ln w="9525">
            <a:solidFill>
              <a:srgbClr val="C9D6D9"/>
            </a:solidFill>
            <a:prstDash val="solid"/>
          </a:ln>
          <a:effectLst>
            <a:outerShdw sx="100000" sy="100000" kx="0" ky="0" algn="bl" rotWithShape="0" blurRad="101600" dist="25400" dir="5400000">
              <a:srgbClr val="0F2A36">
                <a:alpha val="12000"/>
              </a:srgbClr>
            </a:outerShdw>
          </a:effectLst>
        </p:spPr>
      </p:sp>
      <p:sp>
        <p:nvSpPr>
          <p:cNvPr id="10" name="PHOTO PLACEHOLDER — replace with team photo"/>
          <p:cNvSpPr txBox="1"/>
          <p:nvPr/>
        </p:nvSpPr>
        <p:spPr>
          <a:xfrm>
            <a:off x="3977640" y="1691640"/>
            <a:ext cx="1325880" cy="1325880"/>
          </a:xfrm>
          <a:prstGeom prst="ellipse">
            <a:avLst/>
          </a:prstGeom>
          <a:solidFill>
            <a:srgbClr val="F2F7F6"/>
          </a:solidFill>
          <a:ln w="31750">
            <a:solidFill>
              <a:srgbClr val="168F99"/>
            </a:solidFill>
            <a:prstDash val="dash"/>
          </a:ln>
        </p:spPr>
        <p:txBody>
          <a:bodyPr wrap="square" lIns="0" tIns="0" rIns="0" bIns="0" rtlCol="0" anchor="ctr"/>
          <a:lstStyle/>
          <a:p>
            <a:pPr algn="ctr" indent="0" marL="0">
              <a:buNone/>
            </a:pPr>
            <a:r>
              <a:rPr lang="en-US" sz="3000" b="1" dirty="0">
                <a:solidFill>
                  <a:srgbClr val="168F99"/>
                </a:solidFill>
              </a:rPr>
              <a:t>LM</a:t>
            </a:r>
            <a:endParaRPr lang="en-US" sz="3000" dirty="0"/>
          </a:p>
          <a:p>
            <a:pPr algn="ctr" indent="0" marL="0">
              <a:buNone/>
            </a:pPr>
            <a:r>
              <a:rPr lang="en-US" sz="1000" dirty="0">
                <a:solidFill>
                  <a:srgbClr val="168F99"/>
                </a:solidFill>
              </a:rPr>
              <a:t>add photo</a:t>
            </a:r>
            <a:endParaRPr lang="en-US" sz="3000" dirty="0"/>
          </a:p>
        </p:txBody>
      </p:sp>
      <p:sp>
        <p:nvSpPr>
          <p:cNvPr id="11" name="Text 9"/>
          <p:cNvSpPr txBox="1"/>
          <p:nvPr/>
        </p:nvSpPr>
        <p:spPr>
          <a:xfrm>
            <a:off x="3474720" y="3246120"/>
            <a:ext cx="2331720" cy="411480"/>
          </a:xfrm>
          <a:prstGeom prst="rect">
            <a:avLst/>
          </a:prstGeom>
          <a:noFill/>
          <a:ln/>
        </p:spPr>
        <p:txBody>
          <a:bodyPr wrap="square" lIns="0" tIns="0" rIns="0" bIns="0" rtlCol="0" anchor="t"/>
          <a:lstStyle/>
          <a:p>
            <a:pPr algn="ctr" indent="0" marL="0">
              <a:buNone/>
            </a:pPr>
            <a:r>
              <a:rPr lang="en-US" sz="1800" b="1" dirty="0">
                <a:solidFill>
                  <a:srgbClr val="0F2A36"/>
                </a:solidFill>
              </a:rPr>
              <a:t>Leruo Matlhatsi</a:t>
            </a:r>
            <a:endParaRPr lang="en-US" sz="1800" dirty="0"/>
          </a:p>
        </p:txBody>
      </p:sp>
      <p:sp>
        <p:nvSpPr>
          <p:cNvPr id="12" name="Text 10"/>
          <p:cNvSpPr txBox="1"/>
          <p:nvPr/>
        </p:nvSpPr>
        <p:spPr>
          <a:xfrm>
            <a:off x="3474720" y="3657600"/>
            <a:ext cx="2331720" cy="320040"/>
          </a:xfrm>
          <a:prstGeom prst="rect">
            <a:avLst/>
          </a:prstGeom>
          <a:noFill/>
          <a:ln/>
        </p:spPr>
        <p:txBody>
          <a:bodyPr wrap="square" lIns="0" tIns="0" rIns="0" bIns="0" rtlCol="0" anchor="t"/>
          <a:lstStyle/>
          <a:p>
            <a:pPr algn="ctr" indent="0" marL="0">
              <a:buNone/>
            </a:pPr>
            <a:r>
              <a:rPr lang="en-US" sz="1400" b="1" dirty="0">
                <a:solidFill>
                  <a:srgbClr val="168F99"/>
                </a:solidFill>
              </a:rPr>
              <a:t>Software Developer</a:t>
            </a:r>
            <a:endParaRPr lang="en-US" sz="1400" dirty="0"/>
          </a:p>
        </p:txBody>
      </p:sp>
      <p:sp>
        <p:nvSpPr>
          <p:cNvPr id="13" name="Text 11"/>
          <p:cNvSpPr txBox="1"/>
          <p:nvPr/>
        </p:nvSpPr>
        <p:spPr>
          <a:xfrm>
            <a:off x="3474720" y="4297680"/>
            <a:ext cx="2331720" cy="274320"/>
          </a:xfrm>
          <a:prstGeom prst="rect">
            <a:avLst/>
          </a:prstGeom>
          <a:noFill/>
          <a:ln/>
        </p:spPr>
        <p:txBody>
          <a:bodyPr wrap="square" lIns="0" tIns="0" rIns="0" bIns="0" rtlCol="0" anchor="t"/>
          <a:lstStyle/>
          <a:p>
            <a:pPr algn="ctr" indent="0" marL="0">
              <a:buNone/>
            </a:pPr>
            <a:r>
              <a:rPr lang="en-US" sz="1200" dirty="0">
                <a:solidFill>
                  <a:srgbClr val="5B6B73"/>
                </a:solidFill>
              </a:rPr>
              <a:t>Slides 4–5</a:t>
            </a:r>
            <a:endParaRPr lang="en-US" sz="1200" dirty="0"/>
          </a:p>
        </p:txBody>
      </p:sp>
      <p:sp>
        <p:nvSpPr>
          <p:cNvPr id="14" name="Team card 3"/>
          <p:cNvSpPr/>
          <p:nvPr/>
        </p:nvSpPr>
        <p:spPr>
          <a:xfrm>
            <a:off x="6172200" y="1417320"/>
            <a:ext cx="2606040" cy="3520440"/>
          </a:xfrm>
          <a:prstGeom prst="roundRect">
            <a:avLst>
              <a:gd name="adj" fmla="val 4211"/>
            </a:avLst>
          </a:prstGeom>
          <a:solidFill>
            <a:srgbClr val="FFFFFF"/>
          </a:solidFill>
          <a:ln w="9525">
            <a:solidFill>
              <a:srgbClr val="C9D6D9"/>
            </a:solidFill>
            <a:prstDash val="solid"/>
          </a:ln>
          <a:effectLst>
            <a:outerShdw sx="100000" sy="100000" kx="0" ky="0" algn="bl" rotWithShape="0" blurRad="101600" dist="25400" dir="5400000">
              <a:srgbClr val="0F2A36">
                <a:alpha val="12000"/>
              </a:srgbClr>
            </a:outerShdw>
          </a:effectLst>
        </p:spPr>
      </p:sp>
      <p:sp>
        <p:nvSpPr>
          <p:cNvPr id="15" name="PHOTO PLACEHOLDER — replace with team photo"/>
          <p:cNvSpPr txBox="1"/>
          <p:nvPr/>
        </p:nvSpPr>
        <p:spPr>
          <a:xfrm>
            <a:off x="6812280" y="1691640"/>
            <a:ext cx="1325880" cy="1325880"/>
          </a:xfrm>
          <a:prstGeom prst="ellipse">
            <a:avLst/>
          </a:prstGeom>
          <a:solidFill>
            <a:srgbClr val="F2F7F6"/>
          </a:solidFill>
          <a:ln w="31750">
            <a:solidFill>
              <a:srgbClr val="1E88E5"/>
            </a:solidFill>
            <a:prstDash val="dash"/>
          </a:ln>
        </p:spPr>
        <p:txBody>
          <a:bodyPr wrap="square" lIns="0" tIns="0" rIns="0" bIns="0" rtlCol="0" anchor="ctr"/>
          <a:lstStyle/>
          <a:p>
            <a:pPr algn="ctr" indent="0" marL="0">
              <a:buNone/>
            </a:pPr>
            <a:r>
              <a:rPr lang="en-US" sz="3000" b="1" dirty="0">
                <a:solidFill>
                  <a:srgbClr val="1E88E5"/>
                </a:solidFill>
              </a:rPr>
              <a:t>PT</a:t>
            </a:r>
            <a:endParaRPr lang="en-US" sz="3000" dirty="0"/>
          </a:p>
          <a:p>
            <a:pPr algn="ctr" indent="0" marL="0">
              <a:buNone/>
            </a:pPr>
            <a:r>
              <a:rPr lang="en-US" sz="1000" dirty="0">
                <a:solidFill>
                  <a:srgbClr val="1E88E5"/>
                </a:solidFill>
              </a:rPr>
              <a:t>add photo</a:t>
            </a:r>
            <a:endParaRPr lang="en-US" sz="3000" dirty="0"/>
          </a:p>
        </p:txBody>
      </p:sp>
      <p:sp>
        <p:nvSpPr>
          <p:cNvPr id="16" name="Text 14"/>
          <p:cNvSpPr txBox="1"/>
          <p:nvPr/>
        </p:nvSpPr>
        <p:spPr>
          <a:xfrm>
            <a:off x="6309360" y="3246120"/>
            <a:ext cx="2331720" cy="411480"/>
          </a:xfrm>
          <a:prstGeom prst="rect">
            <a:avLst/>
          </a:prstGeom>
          <a:noFill/>
          <a:ln/>
        </p:spPr>
        <p:txBody>
          <a:bodyPr wrap="square" lIns="0" tIns="0" rIns="0" bIns="0" rtlCol="0" anchor="t"/>
          <a:lstStyle/>
          <a:p>
            <a:pPr algn="ctr" indent="0" marL="0">
              <a:buNone/>
            </a:pPr>
            <a:r>
              <a:rPr lang="en-US" sz="1800" b="1" dirty="0">
                <a:solidFill>
                  <a:srgbClr val="0F2A36"/>
                </a:solidFill>
              </a:rPr>
              <a:t>Philisile Tyobeka</a:t>
            </a:r>
            <a:endParaRPr lang="en-US" sz="1800" dirty="0"/>
          </a:p>
        </p:txBody>
      </p:sp>
      <p:sp>
        <p:nvSpPr>
          <p:cNvPr id="17" name="Text 15"/>
          <p:cNvSpPr txBox="1"/>
          <p:nvPr/>
        </p:nvSpPr>
        <p:spPr>
          <a:xfrm>
            <a:off x="6309360" y="3657600"/>
            <a:ext cx="2331720" cy="320040"/>
          </a:xfrm>
          <a:prstGeom prst="rect">
            <a:avLst/>
          </a:prstGeom>
          <a:noFill/>
          <a:ln/>
        </p:spPr>
        <p:txBody>
          <a:bodyPr wrap="square" lIns="0" tIns="0" rIns="0" bIns="0" rtlCol="0" anchor="t"/>
          <a:lstStyle/>
          <a:p>
            <a:pPr algn="ctr" indent="0" marL="0">
              <a:buNone/>
            </a:pPr>
            <a:r>
              <a:rPr lang="en-US" sz="1400" b="1" dirty="0">
                <a:solidFill>
                  <a:srgbClr val="1E88E5"/>
                </a:solidFill>
              </a:rPr>
              <a:t>Business Analyst</a:t>
            </a:r>
            <a:endParaRPr lang="en-US" sz="1400" dirty="0"/>
          </a:p>
        </p:txBody>
      </p:sp>
      <p:sp>
        <p:nvSpPr>
          <p:cNvPr id="18" name="Text 16"/>
          <p:cNvSpPr txBox="1"/>
          <p:nvPr/>
        </p:nvSpPr>
        <p:spPr>
          <a:xfrm>
            <a:off x="6309360" y="4297680"/>
            <a:ext cx="2331720" cy="274320"/>
          </a:xfrm>
          <a:prstGeom prst="rect">
            <a:avLst/>
          </a:prstGeom>
          <a:noFill/>
          <a:ln/>
        </p:spPr>
        <p:txBody>
          <a:bodyPr wrap="square" lIns="0" tIns="0" rIns="0" bIns="0" rtlCol="0" anchor="t"/>
          <a:lstStyle/>
          <a:p>
            <a:pPr algn="ctr" indent="0" marL="0">
              <a:buNone/>
            </a:pPr>
            <a:r>
              <a:rPr lang="en-US" sz="1200" dirty="0">
                <a:solidFill>
                  <a:srgbClr val="5B6B73"/>
                </a:solidFill>
              </a:rPr>
              <a:t>Slides 6–7</a:t>
            </a:r>
            <a:endParaRPr lang="en-US" sz="1200" dirty="0"/>
          </a:p>
        </p:txBody>
      </p:sp>
      <p:sp>
        <p:nvSpPr>
          <p:cNvPr id="19" name="Team card 4"/>
          <p:cNvSpPr/>
          <p:nvPr/>
        </p:nvSpPr>
        <p:spPr>
          <a:xfrm>
            <a:off x="9006840" y="1417320"/>
            <a:ext cx="2606040" cy="3520440"/>
          </a:xfrm>
          <a:prstGeom prst="roundRect">
            <a:avLst>
              <a:gd name="adj" fmla="val 4211"/>
            </a:avLst>
          </a:prstGeom>
          <a:solidFill>
            <a:srgbClr val="FFFFFF"/>
          </a:solidFill>
          <a:ln w="9525">
            <a:solidFill>
              <a:srgbClr val="C9D6D9"/>
            </a:solidFill>
            <a:prstDash val="solid"/>
          </a:ln>
          <a:effectLst>
            <a:outerShdw sx="100000" sy="100000" kx="0" ky="0" algn="bl" rotWithShape="0" blurRad="101600" dist="25400" dir="5400000">
              <a:srgbClr val="0F2A36">
                <a:alpha val="12000"/>
              </a:srgbClr>
            </a:outerShdw>
          </a:effectLst>
        </p:spPr>
      </p:sp>
      <p:sp>
        <p:nvSpPr>
          <p:cNvPr id="20" name="PHOTO PLACEHOLDER — replace with team photo"/>
          <p:cNvSpPr txBox="1"/>
          <p:nvPr/>
        </p:nvSpPr>
        <p:spPr>
          <a:xfrm>
            <a:off x="9646920" y="1691640"/>
            <a:ext cx="1325880" cy="1325880"/>
          </a:xfrm>
          <a:prstGeom prst="ellipse">
            <a:avLst/>
          </a:prstGeom>
          <a:solidFill>
            <a:srgbClr val="F2F7F6"/>
          </a:solidFill>
          <a:ln w="31750">
            <a:solidFill>
              <a:srgbClr val="184D35"/>
            </a:solidFill>
            <a:prstDash val="dash"/>
          </a:ln>
        </p:spPr>
        <p:txBody>
          <a:bodyPr wrap="square" lIns="0" tIns="0" rIns="0" bIns="0" rtlCol="0" anchor="ctr"/>
          <a:lstStyle/>
          <a:p>
            <a:pPr algn="ctr" indent="0" marL="0">
              <a:buNone/>
            </a:pPr>
            <a:r>
              <a:rPr lang="en-US" sz="3000" b="1" dirty="0">
                <a:solidFill>
                  <a:srgbClr val="184D35"/>
                </a:solidFill>
              </a:rPr>
              <a:t>ON</a:t>
            </a:r>
            <a:endParaRPr lang="en-US" sz="3000" dirty="0"/>
          </a:p>
          <a:p>
            <a:pPr algn="ctr" indent="0" marL="0">
              <a:buNone/>
            </a:pPr>
            <a:r>
              <a:rPr lang="en-US" sz="1000" dirty="0">
                <a:solidFill>
                  <a:srgbClr val="184D35"/>
                </a:solidFill>
              </a:rPr>
              <a:t>add photo</a:t>
            </a:r>
            <a:endParaRPr lang="en-US" sz="3000" dirty="0"/>
          </a:p>
        </p:txBody>
      </p:sp>
      <p:sp>
        <p:nvSpPr>
          <p:cNvPr id="21" name="Text 19"/>
          <p:cNvSpPr txBox="1"/>
          <p:nvPr/>
        </p:nvSpPr>
        <p:spPr>
          <a:xfrm>
            <a:off x="9144000" y="3246120"/>
            <a:ext cx="2331720" cy="411480"/>
          </a:xfrm>
          <a:prstGeom prst="rect">
            <a:avLst/>
          </a:prstGeom>
          <a:noFill/>
          <a:ln/>
        </p:spPr>
        <p:txBody>
          <a:bodyPr wrap="square" lIns="0" tIns="0" rIns="0" bIns="0" rtlCol="0" anchor="t"/>
          <a:lstStyle/>
          <a:p>
            <a:pPr algn="ctr" indent="0" marL="0">
              <a:buNone/>
            </a:pPr>
            <a:r>
              <a:rPr lang="en-US" sz="1800" b="1" dirty="0">
                <a:solidFill>
                  <a:srgbClr val="0F2A36"/>
                </a:solidFill>
              </a:rPr>
              <a:t>Olwethu Nkabinde</a:t>
            </a:r>
            <a:endParaRPr lang="en-US" sz="1800" dirty="0"/>
          </a:p>
        </p:txBody>
      </p:sp>
      <p:sp>
        <p:nvSpPr>
          <p:cNvPr id="22" name="Text 20"/>
          <p:cNvSpPr txBox="1"/>
          <p:nvPr/>
        </p:nvSpPr>
        <p:spPr>
          <a:xfrm>
            <a:off x="9144000" y="3657600"/>
            <a:ext cx="2331720" cy="320040"/>
          </a:xfrm>
          <a:prstGeom prst="rect">
            <a:avLst/>
          </a:prstGeom>
          <a:noFill/>
          <a:ln/>
        </p:spPr>
        <p:txBody>
          <a:bodyPr wrap="square" lIns="0" tIns="0" rIns="0" bIns="0" rtlCol="0" anchor="t"/>
          <a:lstStyle/>
          <a:p>
            <a:pPr algn="ctr" indent="0" marL="0">
              <a:buNone/>
            </a:pPr>
            <a:r>
              <a:rPr lang="en-US" sz="1400" b="1" dirty="0">
                <a:solidFill>
                  <a:srgbClr val="184D35"/>
                </a:solidFill>
              </a:rPr>
              <a:t>Soft Skills Specialist</a:t>
            </a:r>
            <a:endParaRPr lang="en-US" sz="1400" dirty="0"/>
          </a:p>
        </p:txBody>
      </p:sp>
      <p:sp>
        <p:nvSpPr>
          <p:cNvPr id="23" name="Text 21"/>
          <p:cNvSpPr txBox="1"/>
          <p:nvPr/>
        </p:nvSpPr>
        <p:spPr>
          <a:xfrm>
            <a:off x="9144000" y="4297680"/>
            <a:ext cx="2331720" cy="274320"/>
          </a:xfrm>
          <a:prstGeom prst="rect">
            <a:avLst/>
          </a:prstGeom>
          <a:noFill/>
          <a:ln/>
        </p:spPr>
        <p:txBody>
          <a:bodyPr wrap="square" lIns="0" tIns="0" rIns="0" bIns="0" rtlCol="0" anchor="t"/>
          <a:lstStyle/>
          <a:p>
            <a:pPr algn="ctr" indent="0" marL="0">
              <a:buNone/>
            </a:pPr>
            <a:r>
              <a:rPr lang="en-US" sz="1200" dirty="0">
                <a:solidFill>
                  <a:srgbClr val="5B6B73"/>
                </a:solidFill>
              </a:rPr>
              <a:t>Slides 8–10</a:t>
            </a:r>
            <a:endParaRPr lang="en-US" sz="1200" dirty="0"/>
          </a:p>
        </p:txBody>
      </p:sp>
      <p:sp>
        <p:nvSpPr>
          <p:cNvPr id="24" name="Project context"/>
          <p:cNvSpPr/>
          <p:nvPr/>
        </p:nvSpPr>
        <p:spPr>
          <a:xfrm>
            <a:off x="502920" y="5257800"/>
            <a:ext cx="11155680" cy="822960"/>
          </a:xfrm>
          <a:prstGeom prst="roundRect">
            <a:avLst>
              <a:gd name="adj" fmla="val 13333"/>
            </a:avLst>
          </a:prstGeom>
          <a:solidFill>
            <a:srgbClr val="F2F7F6"/>
          </a:solidFill>
          <a:ln w="9525">
            <a:solidFill>
              <a:srgbClr val="F2F7F6"/>
            </a:solidFill>
            <a:prstDash val="solid"/>
          </a:ln>
          <a:effectLst>
            <a:outerShdw sx="100000" sy="100000" kx="0" ky="0" algn="bl" rotWithShape="0" blurRad="101600" dist="25400" dir="5400000">
              <a:srgbClr val="0F2A36">
                <a:alpha val="12000"/>
              </a:srgbClr>
            </a:outerShdw>
          </a:effectLst>
        </p:spPr>
      </p:sp>
      <p:sp>
        <p:nvSpPr>
          <p:cNvPr id="25" name="Text 23"/>
          <p:cNvSpPr txBox="1"/>
          <p:nvPr/>
        </p:nvSpPr>
        <p:spPr>
          <a:xfrm>
            <a:off x="777240" y="5257800"/>
            <a:ext cx="10607040" cy="822960"/>
          </a:xfrm>
          <a:prstGeom prst="rect">
            <a:avLst/>
          </a:prstGeom>
          <a:noFill/>
          <a:ln/>
        </p:spPr>
        <p:txBody>
          <a:bodyPr wrap="square" lIns="0" tIns="0" rIns="0" bIns="0" rtlCol="0" anchor="ctr"/>
          <a:lstStyle/>
          <a:p>
            <a:pPr indent="0" marL="0">
              <a:buNone/>
            </a:pPr>
            <a:r>
              <a:rPr lang="en-US" sz="1400" b="1" dirty="0">
                <a:solidFill>
                  <a:srgbClr val="168F99"/>
                </a:solidFill>
              </a:rPr>
              <a:t>Sponsor  </a:t>
            </a:r>
            <a:pPr indent="0" marL="0">
              <a:buNone/>
            </a:pPr>
            <a:r>
              <a:rPr lang="en-US" sz="1400" dirty="0">
                <a:solidFill>
                  <a:srgbClr val="0F2A36"/>
                </a:solidFill>
              </a:rPr>
              <a:t>Boingotlo Molefhe · Mafikeng Cisco Edge Centre (MDiHub)      </a:t>
            </a:r>
            <a:pPr indent="0" marL="0">
              <a:buNone/>
            </a:pPr>
            <a:r>
              <a:rPr lang="en-US" sz="1400" b="1" dirty="0">
                <a:solidFill>
                  <a:srgbClr val="168F99"/>
                </a:solidFill>
              </a:rPr>
              <a:t>Tutor  </a:t>
            </a:r>
            <a:pPr indent="0" marL="0">
              <a:buNone/>
            </a:pPr>
            <a:r>
              <a:rPr lang="en-US" sz="1400" dirty="0">
                <a:solidFill>
                  <a:srgbClr val="0F2A36"/>
                </a:solidFill>
              </a:rPr>
              <a:t>Nazreen Ryklief      </a:t>
            </a:r>
            <a:pPr indent="0" marL="0">
              <a:buNone/>
            </a:pPr>
            <a:r>
              <a:rPr lang="en-US" sz="1400" b="1" dirty="0">
                <a:solidFill>
                  <a:srgbClr val="168F99"/>
                </a:solidFill>
              </a:rPr>
              <a:t>Mentor  </a:t>
            </a:r>
            <a:pPr indent="0" marL="0">
              <a:buNone/>
            </a:pPr>
            <a:r>
              <a:rPr lang="en-US" sz="1400" dirty="0">
                <a:solidFill>
                  <a:srgbClr val="0F2A36"/>
                </a:solidFill>
              </a:rPr>
              <a:t>Jodie Thorburn</a:t>
            </a:r>
            <a:endParaRPr lang="en-US" sz="1400" dirty="0"/>
          </a:p>
        </p:txBody>
      </p:sp>
      <p:sp>
        <p:nvSpPr>
          <p:cNvPr id="25" name="Slide Number Placeholder 0"/>
          <p:cNvSpPr>
            <a:spLocks noGrp="1"/>
          </p:cNvSpPr>
          <p:nvPr>
            <p:ph type="sldNum" sz="quarter" idx="4294967295"/>
          </p:nvPr>
        </p:nvSpPr>
        <p:spPr>
          <a:xfrm>
            <a:off x="1129284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02920" y="347472"/>
            <a:ext cx="9326880" cy="731520"/>
          </a:xfrm>
          <a:prstGeom prst="rect">
            <a:avLst/>
          </a:prstGeom>
          <a:noFill/>
          <a:ln/>
        </p:spPr>
        <p:txBody>
          <a:bodyPr wrap="square" lIns="0" tIns="0" rIns="0" bIns="0" rtlCol="0" anchor="ctr"/>
          <a:lstStyle/>
          <a:p>
            <a:pPr algn="l" indent="0" marL="0">
              <a:buNone/>
            </a:pPr>
            <a:r>
              <a:rPr lang="en-US" sz="3400" b="1" dirty="0">
                <a:solidFill>
                  <a:srgbClr val="0F2A36"/>
                </a:solidFill>
              </a:rPr>
              <a:t>The irrigation challenge</a:t>
            </a:r>
            <a:endParaRPr lang="en-US" sz="3400" dirty="0"/>
          </a:p>
        </p:txBody>
      </p:sp>
      <p:sp>
        <p:nvSpPr>
          <p:cNvPr id="3" name="Speaker tag"/>
          <p:cNvSpPr txBox="1"/>
          <p:nvPr/>
        </p:nvSpPr>
        <p:spPr>
          <a:xfrm>
            <a:off x="10012680" y="457200"/>
            <a:ext cx="1691640" cy="329184"/>
          </a:xfrm>
          <a:prstGeom prst="roundRect">
            <a:avLst>
              <a:gd name="adj" fmla="val 41667"/>
            </a:avLst>
          </a:prstGeom>
          <a:solidFill>
            <a:srgbClr val="E3F4F5"/>
          </a:solidFill>
          <a:ln>
            <a:solidFill>
              <a:srgbClr val="E3F4F5"/>
            </a:solidFill>
          </a:ln>
        </p:spPr>
        <p:txBody>
          <a:bodyPr wrap="square" lIns="0" tIns="0" rIns="0" bIns="0" rtlCol="0" anchor="ctr"/>
          <a:lstStyle/>
          <a:p>
            <a:pPr algn="ctr" indent="0" marL="0">
              <a:buNone/>
            </a:pPr>
            <a:r>
              <a:rPr lang="en-US" sz="1100" b="1" dirty="0">
                <a:solidFill>
                  <a:srgbClr val="168F99"/>
                </a:solidFill>
              </a:rPr>
              <a:t>Lubaelihle</a:t>
            </a:r>
            <a:endParaRPr lang="en-US" sz="1100" dirty="0"/>
          </a:p>
        </p:txBody>
      </p:sp>
      <p:sp>
        <p:nvSpPr>
          <p:cNvPr id="4" name="Text 2"/>
          <p:cNvSpPr txBox="1"/>
          <p:nvPr/>
        </p:nvSpPr>
        <p:spPr>
          <a:xfrm>
            <a:off x="502920" y="1234440"/>
            <a:ext cx="11155680" cy="777240"/>
          </a:xfrm>
          <a:prstGeom prst="rect">
            <a:avLst/>
          </a:prstGeom>
          <a:noFill/>
          <a:ln/>
        </p:spPr>
        <p:txBody>
          <a:bodyPr wrap="square" lIns="0" tIns="0" rIns="0" bIns="0" rtlCol="0" anchor="ctr"/>
          <a:lstStyle/>
          <a:p>
            <a:pPr indent="0" marL="0">
              <a:buNone/>
            </a:pPr>
            <a:r>
              <a:rPr lang="en-US" sz="2200" b="1" dirty="0">
                <a:solidFill>
                  <a:srgbClr val="184D35"/>
                </a:solidFill>
              </a:rPr>
              <a:t>Farmers have to decide when and how much to water without reliable, real-time visibility of their fields.</a:t>
            </a:r>
            <a:endParaRPr lang="en-US" sz="2200" dirty="0"/>
          </a:p>
        </p:txBody>
      </p:sp>
      <p:sp>
        <p:nvSpPr>
          <p:cNvPr id="5" name="Problem 1"/>
          <p:cNvSpPr/>
          <p:nvPr/>
        </p:nvSpPr>
        <p:spPr>
          <a:xfrm>
            <a:off x="502920" y="2240280"/>
            <a:ext cx="6035040" cy="822960"/>
          </a:xfrm>
          <a:prstGeom prst="roundRect">
            <a:avLst>
              <a:gd name="adj" fmla="val 13333"/>
            </a:avLst>
          </a:prstGeom>
          <a:solidFill>
            <a:srgbClr val="FFFFFF"/>
          </a:solidFill>
          <a:ln w="9525">
            <a:solidFill>
              <a:srgbClr val="C9D6D9"/>
            </a:solidFill>
            <a:prstDash val="solid"/>
          </a:ln>
          <a:effectLst>
            <a:outerShdw sx="100000" sy="100000" kx="0" ky="0" algn="bl" rotWithShape="0" blurRad="101600" dist="25400" dir="5400000">
              <a:srgbClr val="0F2A36">
                <a:alpha val="12000"/>
              </a:srgbClr>
            </a:outerShdw>
          </a:effectLst>
        </p:spPr>
      </p:sp>
      <p:sp>
        <p:nvSpPr>
          <p:cNvPr id="6" name="Icon circle"/>
          <p:cNvSpPr/>
          <p:nvPr/>
        </p:nvSpPr>
        <p:spPr>
          <a:xfrm>
            <a:off x="658368" y="2368296"/>
            <a:ext cx="566928" cy="566928"/>
          </a:xfrm>
          <a:prstGeom prst="ellipse">
            <a:avLst/>
          </a:prstGeom>
          <a:solidFill>
            <a:srgbClr val="E3F4F5"/>
          </a:solidFill>
          <a:ln w="12700">
            <a:solidFill>
              <a:srgbClr val="E3F4F5"/>
            </a:solidFill>
            <a:prstDash val="solid"/>
          </a:ln>
        </p:spPr>
      </p:sp>
      <p:pic>
        <p:nvPicPr>
          <p:cNvPr id="7" name="Icon" descr="preencoded.png">    </p:cNvPr>
          <p:cNvPicPr>
            <a:picLocks noChangeAspect="1"/>
          </p:cNvPicPr>
          <p:nvPr/>
        </p:nvPicPr>
        <p:blipFill>
          <a:blip r:embed="rId1"/>
          <a:stretch>
            <a:fillRect/>
          </a:stretch>
        </p:blipFill>
        <p:spPr>
          <a:xfrm>
            <a:off x="800100" y="2510028"/>
            <a:ext cx="283464" cy="283464"/>
          </a:xfrm>
          <a:prstGeom prst="rect">
            <a:avLst/>
          </a:prstGeom>
        </p:spPr>
      </p:pic>
      <p:sp>
        <p:nvSpPr>
          <p:cNvPr id="8" name="Text 5"/>
          <p:cNvSpPr txBox="1"/>
          <p:nvPr/>
        </p:nvSpPr>
        <p:spPr>
          <a:xfrm>
            <a:off x="1371600" y="2331720"/>
            <a:ext cx="5029200" cy="329184"/>
          </a:xfrm>
          <a:prstGeom prst="rect">
            <a:avLst/>
          </a:prstGeom>
          <a:noFill/>
          <a:ln/>
        </p:spPr>
        <p:txBody>
          <a:bodyPr wrap="square" lIns="0" tIns="0" rIns="0" bIns="0" rtlCol="0" anchor="t"/>
          <a:lstStyle/>
          <a:p>
            <a:pPr indent="0" marL="0">
              <a:buNone/>
            </a:pPr>
            <a:r>
              <a:rPr lang="en-US" sz="1600" b="1" dirty="0">
                <a:solidFill>
                  <a:srgbClr val="0F2A36"/>
                </a:solidFill>
              </a:rPr>
              <a:t>Manual checks</a:t>
            </a:r>
            <a:endParaRPr lang="en-US" sz="1600" dirty="0"/>
          </a:p>
        </p:txBody>
      </p:sp>
      <p:sp>
        <p:nvSpPr>
          <p:cNvPr id="9" name="Text 6"/>
          <p:cNvSpPr txBox="1"/>
          <p:nvPr/>
        </p:nvSpPr>
        <p:spPr>
          <a:xfrm>
            <a:off x="1371600" y="2660904"/>
            <a:ext cx="5029200" cy="310896"/>
          </a:xfrm>
          <a:prstGeom prst="rect">
            <a:avLst/>
          </a:prstGeom>
          <a:noFill/>
          <a:ln/>
        </p:spPr>
        <p:txBody>
          <a:bodyPr wrap="square" lIns="0" tIns="0" rIns="0" bIns="0" rtlCol="0" anchor="t"/>
          <a:lstStyle/>
          <a:p>
            <a:pPr indent="0" marL="0">
              <a:buNone/>
            </a:pPr>
            <a:r>
              <a:rPr lang="en-US" sz="1400" dirty="0">
                <a:solidFill>
                  <a:srgbClr val="5B6B73"/>
                </a:solidFill>
              </a:rPr>
              <a:t>Walking zone to zone to judge the soil</a:t>
            </a:r>
            <a:endParaRPr lang="en-US" sz="1400" dirty="0"/>
          </a:p>
        </p:txBody>
      </p:sp>
      <p:sp>
        <p:nvSpPr>
          <p:cNvPr id="10" name="Shape 7"/>
          <p:cNvSpPr/>
          <p:nvPr/>
        </p:nvSpPr>
        <p:spPr>
          <a:xfrm>
            <a:off x="6675120" y="2651760"/>
            <a:ext cx="594360" cy="914"/>
          </a:xfrm>
          <a:prstGeom prst="line">
            <a:avLst/>
          </a:prstGeom>
          <a:noFill/>
          <a:ln w="19050">
            <a:solidFill>
              <a:srgbClr val="168F99"/>
            </a:solidFill>
            <a:prstDash val="solid"/>
            <a:tailEnd type="triangle"/>
          </a:ln>
        </p:spPr>
      </p:sp>
      <p:sp>
        <p:nvSpPr>
          <p:cNvPr id="11" name="Consequence 1"/>
          <p:cNvSpPr txBox="1"/>
          <p:nvPr/>
        </p:nvSpPr>
        <p:spPr>
          <a:xfrm>
            <a:off x="7360920" y="2350008"/>
            <a:ext cx="2514600" cy="603504"/>
          </a:xfrm>
          <a:prstGeom prst="roundRect">
            <a:avLst>
              <a:gd name="adj" fmla="val 15152"/>
            </a:avLst>
          </a:prstGeom>
          <a:solidFill>
            <a:srgbClr val="FBF1DC"/>
          </a:solidFill>
          <a:ln>
            <a:solidFill>
              <a:srgbClr val="FBF1DC"/>
            </a:solidFill>
          </a:ln>
        </p:spPr>
        <p:txBody>
          <a:bodyPr wrap="square" lIns="0" tIns="0" rIns="0" bIns="0" rtlCol="0" anchor="ctr"/>
          <a:lstStyle/>
          <a:p>
            <a:pPr algn="ctr" indent="0" marL="0">
              <a:buNone/>
            </a:pPr>
            <a:r>
              <a:rPr lang="en-US" sz="1400" b="1" dirty="0">
                <a:solidFill>
                  <a:srgbClr val="7A5300"/>
                </a:solidFill>
              </a:rPr>
              <a:t>Time and labour</a:t>
            </a:r>
            <a:endParaRPr lang="en-US" sz="1400" dirty="0"/>
          </a:p>
        </p:txBody>
      </p:sp>
      <p:sp>
        <p:nvSpPr>
          <p:cNvPr id="12" name="Problem 2"/>
          <p:cNvSpPr/>
          <p:nvPr/>
        </p:nvSpPr>
        <p:spPr>
          <a:xfrm>
            <a:off x="502920" y="3227832"/>
            <a:ext cx="6035040" cy="822960"/>
          </a:xfrm>
          <a:prstGeom prst="roundRect">
            <a:avLst>
              <a:gd name="adj" fmla="val 13333"/>
            </a:avLst>
          </a:prstGeom>
          <a:solidFill>
            <a:srgbClr val="FFFFFF"/>
          </a:solidFill>
          <a:ln w="9525">
            <a:solidFill>
              <a:srgbClr val="C9D6D9"/>
            </a:solidFill>
            <a:prstDash val="solid"/>
          </a:ln>
          <a:effectLst>
            <a:outerShdw sx="100000" sy="100000" kx="0" ky="0" algn="bl" rotWithShape="0" blurRad="101600" dist="25400" dir="5400000">
              <a:srgbClr val="0F2A36">
                <a:alpha val="12000"/>
              </a:srgbClr>
            </a:outerShdw>
          </a:effectLst>
        </p:spPr>
      </p:sp>
      <p:sp>
        <p:nvSpPr>
          <p:cNvPr id="13" name="Icon circle"/>
          <p:cNvSpPr/>
          <p:nvPr/>
        </p:nvSpPr>
        <p:spPr>
          <a:xfrm>
            <a:off x="658368" y="3355848"/>
            <a:ext cx="566928" cy="566928"/>
          </a:xfrm>
          <a:prstGeom prst="ellipse">
            <a:avLst/>
          </a:prstGeom>
          <a:solidFill>
            <a:srgbClr val="E3F4F5"/>
          </a:solidFill>
          <a:ln w="12700">
            <a:solidFill>
              <a:srgbClr val="E3F4F5"/>
            </a:solidFill>
            <a:prstDash val="solid"/>
          </a:ln>
        </p:spPr>
      </p:sp>
      <p:pic>
        <p:nvPicPr>
          <p:cNvPr id="14" name="Icon" descr="preencoded.png">    </p:cNvPr>
          <p:cNvPicPr>
            <a:picLocks noChangeAspect="1"/>
          </p:cNvPicPr>
          <p:nvPr/>
        </p:nvPicPr>
        <p:blipFill>
          <a:blip r:embed="rId2"/>
          <a:stretch>
            <a:fillRect/>
          </a:stretch>
        </p:blipFill>
        <p:spPr>
          <a:xfrm>
            <a:off x="800100" y="3497580"/>
            <a:ext cx="283464" cy="283464"/>
          </a:xfrm>
          <a:prstGeom prst="rect">
            <a:avLst/>
          </a:prstGeom>
        </p:spPr>
      </p:pic>
      <p:sp>
        <p:nvSpPr>
          <p:cNvPr id="15" name="Text 11"/>
          <p:cNvSpPr txBox="1"/>
          <p:nvPr/>
        </p:nvSpPr>
        <p:spPr>
          <a:xfrm>
            <a:off x="1371600" y="3319272"/>
            <a:ext cx="5029200" cy="329184"/>
          </a:xfrm>
          <a:prstGeom prst="rect">
            <a:avLst/>
          </a:prstGeom>
          <a:noFill/>
          <a:ln/>
        </p:spPr>
        <p:txBody>
          <a:bodyPr wrap="square" lIns="0" tIns="0" rIns="0" bIns="0" rtlCol="0" anchor="t"/>
          <a:lstStyle/>
          <a:p>
            <a:pPr indent="0" marL="0">
              <a:buNone/>
            </a:pPr>
            <a:r>
              <a:rPr lang="en-US" sz="1600" b="1" dirty="0">
                <a:solidFill>
                  <a:srgbClr val="0F2A36"/>
                </a:solidFill>
              </a:rPr>
              <a:t>Fixed timers</a:t>
            </a:r>
            <a:endParaRPr lang="en-US" sz="1600" dirty="0"/>
          </a:p>
        </p:txBody>
      </p:sp>
      <p:sp>
        <p:nvSpPr>
          <p:cNvPr id="16" name="Text 12"/>
          <p:cNvSpPr txBox="1"/>
          <p:nvPr/>
        </p:nvSpPr>
        <p:spPr>
          <a:xfrm>
            <a:off x="1371600" y="3648456"/>
            <a:ext cx="5029200" cy="310896"/>
          </a:xfrm>
          <a:prstGeom prst="rect">
            <a:avLst/>
          </a:prstGeom>
          <a:noFill/>
          <a:ln/>
        </p:spPr>
        <p:txBody>
          <a:bodyPr wrap="square" lIns="0" tIns="0" rIns="0" bIns="0" rtlCol="0" anchor="t"/>
          <a:lstStyle/>
          <a:p>
            <a:pPr indent="0" marL="0">
              <a:buNone/>
            </a:pPr>
            <a:r>
              <a:rPr lang="en-US" sz="1400" dirty="0">
                <a:solidFill>
                  <a:srgbClr val="5B6B73"/>
                </a:solidFill>
              </a:rPr>
              <a:t>Schedules ignore soil and weather</a:t>
            </a:r>
            <a:endParaRPr lang="en-US" sz="1400" dirty="0"/>
          </a:p>
        </p:txBody>
      </p:sp>
      <p:sp>
        <p:nvSpPr>
          <p:cNvPr id="17" name="Shape 13"/>
          <p:cNvSpPr/>
          <p:nvPr/>
        </p:nvSpPr>
        <p:spPr>
          <a:xfrm>
            <a:off x="6675120" y="3639312"/>
            <a:ext cx="594360" cy="914"/>
          </a:xfrm>
          <a:prstGeom prst="line">
            <a:avLst/>
          </a:prstGeom>
          <a:noFill/>
          <a:ln w="19050">
            <a:solidFill>
              <a:srgbClr val="168F99"/>
            </a:solidFill>
            <a:prstDash val="solid"/>
            <a:tailEnd type="triangle"/>
          </a:ln>
        </p:spPr>
      </p:sp>
      <p:sp>
        <p:nvSpPr>
          <p:cNvPr id="18" name="Consequence 2"/>
          <p:cNvSpPr txBox="1"/>
          <p:nvPr/>
        </p:nvSpPr>
        <p:spPr>
          <a:xfrm>
            <a:off x="7360920" y="3337560"/>
            <a:ext cx="2514600" cy="603504"/>
          </a:xfrm>
          <a:prstGeom prst="roundRect">
            <a:avLst>
              <a:gd name="adj" fmla="val 15152"/>
            </a:avLst>
          </a:prstGeom>
          <a:solidFill>
            <a:srgbClr val="FBF1DC"/>
          </a:solidFill>
          <a:ln>
            <a:solidFill>
              <a:srgbClr val="FBF1DC"/>
            </a:solidFill>
          </a:ln>
        </p:spPr>
        <p:txBody>
          <a:bodyPr wrap="square" lIns="0" tIns="0" rIns="0" bIns="0" rtlCol="0" anchor="ctr"/>
          <a:lstStyle/>
          <a:p>
            <a:pPr algn="ctr" indent="0" marL="0">
              <a:buNone/>
            </a:pPr>
            <a:r>
              <a:rPr lang="en-US" sz="1400" b="1" dirty="0">
                <a:solidFill>
                  <a:srgbClr val="7A5300"/>
                </a:solidFill>
              </a:rPr>
              <a:t>Over- and under-watering</a:t>
            </a:r>
            <a:endParaRPr lang="en-US" sz="1400" dirty="0"/>
          </a:p>
        </p:txBody>
      </p:sp>
      <p:sp>
        <p:nvSpPr>
          <p:cNvPr id="19" name="Problem 3"/>
          <p:cNvSpPr/>
          <p:nvPr/>
        </p:nvSpPr>
        <p:spPr>
          <a:xfrm>
            <a:off x="502920" y="4215384"/>
            <a:ext cx="6035040" cy="822960"/>
          </a:xfrm>
          <a:prstGeom prst="roundRect">
            <a:avLst>
              <a:gd name="adj" fmla="val 13333"/>
            </a:avLst>
          </a:prstGeom>
          <a:solidFill>
            <a:srgbClr val="FFFFFF"/>
          </a:solidFill>
          <a:ln w="9525">
            <a:solidFill>
              <a:srgbClr val="C9D6D9"/>
            </a:solidFill>
            <a:prstDash val="solid"/>
          </a:ln>
          <a:effectLst>
            <a:outerShdw sx="100000" sy="100000" kx="0" ky="0" algn="bl" rotWithShape="0" blurRad="101600" dist="25400" dir="5400000">
              <a:srgbClr val="0F2A36">
                <a:alpha val="12000"/>
              </a:srgbClr>
            </a:outerShdw>
          </a:effectLst>
        </p:spPr>
      </p:sp>
      <p:sp>
        <p:nvSpPr>
          <p:cNvPr id="20" name="Icon circle"/>
          <p:cNvSpPr/>
          <p:nvPr/>
        </p:nvSpPr>
        <p:spPr>
          <a:xfrm>
            <a:off x="658368" y="4343400"/>
            <a:ext cx="566928" cy="566928"/>
          </a:xfrm>
          <a:prstGeom prst="ellipse">
            <a:avLst/>
          </a:prstGeom>
          <a:solidFill>
            <a:srgbClr val="E3F4F5"/>
          </a:solidFill>
          <a:ln w="12700">
            <a:solidFill>
              <a:srgbClr val="E3F4F5"/>
            </a:solidFill>
            <a:prstDash val="solid"/>
          </a:ln>
        </p:spPr>
      </p:sp>
      <p:pic>
        <p:nvPicPr>
          <p:cNvPr id="21" name="Icon" descr="preencoded.png">    </p:cNvPr>
          <p:cNvPicPr>
            <a:picLocks noChangeAspect="1"/>
          </p:cNvPicPr>
          <p:nvPr/>
        </p:nvPicPr>
        <p:blipFill>
          <a:blip r:embed="rId3"/>
          <a:stretch>
            <a:fillRect/>
          </a:stretch>
        </p:blipFill>
        <p:spPr>
          <a:xfrm>
            <a:off x="800100" y="4485132"/>
            <a:ext cx="283464" cy="283464"/>
          </a:xfrm>
          <a:prstGeom prst="rect">
            <a:avLst/>
          </a:prstGeom>
        </p:spPr>
      </p:pic>
      <p:sp>
        <p:nvSpPr>
          <p:cNvPr id="22" name="Text 17"/>
          <p:cNvSpPr txBox="1"/>
          <p:nvPr/>
        </p:nvSpPr>
        <p:spPr>
          <a:xfrm>
            <a:off x="1371600" y="4306824"/>
            <a:ext cx="5029200" cy="329184"/>
          </a:xfrm>
          <a:prstGeom prst="rect">
            <a:avLst/>
          </a:prstGeom>
          <a:noFill/>
          <a:ln/>
        </p:spPr>
        <p:txBody>
          <a:bodyPr wrap="square" lIns="0" tIns="0" rIns="0" bIns="0" rtlCol="0" anchor="t"/>
          <a:lstStyle/>
          <a:p>
            <a:pPr indent="0" marL="0">
              <a:buNone/>
            </a:pPr>
            <a:r>
              <a:rPr lang="en-US" sz="1600" b="1" dirty="0">
                <a:solidFill>
                  <a:srgbClr val="0F2A36"/>
                </a:solidFill>
              </a:rPr>
              <a:t>Little visibility</a:t>
            </a:r>
            <a:endParaRPr lang="en-US" sz="1600" dirty="0"/>
          </a:p>
        </p:txBody>
      </p:sp>
      <p:sp>
        <p:nvSpPr>
          <p:cNvPr id="23" name="Text 18"/>
          <p:cNvSpPr txBox="1"/>
          <p:nvPr/>
        </p:nvSpPr>
        <p:spPr>
          <a:xfrm>
            <a:off x="1371600" y="4636008"/>
            <a:ext cx="5029200" cy="310896"/>
          </a:xfrm>
          <a:prstGeom prst="rect">
            <a:avLst/>
          </a:prstGeom>
          <a:noFill/>
          <a:ln/>
        </p:spPr>
        <p:txBody>
          <a:bodyPr wrap="square" lIns="0" tIns="0" rIns="0" bIns="0" rtlCol="0" anchor="t"/>
          <a:lstStyle/>
          <a:p>
            <a:pPr indent="0" marL="0">
              <a:buNone/>
            </a:pPr>
            <a:r>
              <a:rPr lang="en-US" sz="1400" dirty="0">
                <a:solidFill>
                  <a:srgbClr val="5B6B73"/>
                </a:solidFill>
              </a:rPr>
              <a:t>No record of the water actually used</a:t>
            </a:r>
            <a:endParaRPr lang="en-US" sz="1400" dirty="0"/>
          </a:p>
        </p:txBody>
      </p:sp>
      <p:sp>
        <p:nvSpPr>
          <p:cNvPr id="24" name="Shape 19"/>
          <p:cNvSpPr/>
          <p:nvPr/>
        </p:nvSpPr>
        <p:spPr>
          <a:xfrm>
            <a:off x="6675120" y="4626864"/>
            <a:ext cx="594360" cy="914"/>
          </a:xfrm>
          <a:prstGeom prst="line">
            <a:avLst/>
          </a:prstGeom>
          <a:noFill/>
          <a:ln w="19050">
            <a:solidFill>
              <a:srgbClr val="168F99"/>
            </a:solidFill>
            <a:prstDash val="solid"/>
            <a:tailEnd type="triangle"/>
          </a:ln>
        </p:spPr>
      </p:sp>
      <p:sp>
        <p:nvSpPr>
          <p:cNvPr id="25" name="Consequence 3"/>
          <p:cNvSpPr txBox="1"/>
          <p:nvPr/>
        </p:nvSpPr>
        <p:spPr>
          <a:xfrm>
            <a:off x="7360920" y="4325112"/>
            <a:ext cx="2514600" cy="603504"/>
          </a:xfrm>
          <a:prstGeom prst="roundRect">
            <a:avLst>
              <a:gd name="adj" fmla="val 15152"/>
            </a:avLst>
          </a:prstGeom>
          <a:solidFill>
            <a:srgbClr val="FBF1DC"/>
          </a:solidFill>
          <a:ln>
            <a:solidFill>
              <a:srgbClr val="FBF1DC"/>
            </a:solidFill>
          </a:ln>
        </p:spPr>
        <p:txBody>
          <a:bodyPr wrap="square" lIns="0" tIns="0" rIns="0" bIns="0" rtlCol="0" anchor="ctr"/>
          <a:lstStyle/>
          <a:p>
            <a:pPr algn="ctr" indent="0" marL="0">
              <a:buNone/>
            </a:pPr>
            <a:r>
              <a:rPr lang="en-US" sz="1400" b="1" dirty="0">
                <a:solidFill>
                  <a:srgbClr val="7A5300"/>
                </a:solidFill>
              </a:rPr>
              <a:t>Decisions without data</a:t>
            </a:r>
            <a:endParaRPr lang="en-US" sz="1400" dirty="0"/>
          </a:p>
        </p:txBody>
      </p:sp>
      <p:sp>
        <p:nvSpPr>
          <p:cNvPr id="26" name="Problem 4"/>
          <p:cNvSpPr/>
          <p:nvPr/>
        </p:nvSpPr>
        <p:spPr>
          <a:xfrm>
            <a:off x="502920" y="5202936"/>
            <a:ext cx="6035040" cy="822960"/>
          </a:xfrm>
          <a:prstGeom prst="roundRect">
            <a:avLst>
              <a:gd name="adj" fmla="val 13333"/>
            </a:avLst>
          </a:prstGeom>
          <a:solidFill>
            <a:srgbClr val="FFFFFF"/>
          </a:solidFill>
          <a:ln w="9525">
            <a:solidFill>
              <a:srgbClr val="C9D6D9"/>
            </a:solidFill>
            <a:prstDash val="solid"/>
          </a:ln>
          <a:effectLst>
            <a:outerShdw sx="100000" sy="100000" kx="0" ky="0" algn="bl" rotWithShape="0" blurRad="101600" dist="25400" dir="5400000">
              <a:srgbClr val="0F2A36">
                <a:alpha val="12000"/>
              </a:srgbClr>
            </a:outerShdw>
          </a:effectLst>
        </p:spPr>
      </p:sp>
      <p:sp>
        <p:nvSpPr>
          <p:cNvPr id="27" name="Icon circle"/>
          <p:cNvSpPr/>
          <p:nvPr/>
        </p:nvSpPr>
        <p:spPr>
          <a:xfrm>
            <a:off x="658368" y="5330952"/>
            <a:ext cx="566928" cy="566928"/>
          </a:xfrm>
          <a:prstGeom prst="ellipse">
            <a:avLst/>
          </a:prstGeom>
          <a:solidFill>
            <a:srgbClr val="E3F4F5"/>
          </a:solidFill>
          <a:ln w="12700">
            <a:solidFill>
              <a:srgbClr val="E3F4F5"/>
            </a:solidFill>
            <a:prstDash val="solid"/>
          </a:ln>
        </p:spPr>
      </p:sp>
      <p:pic>
        <p:nvPicPr>
          <p:cNvPr id="28" name="Icon" descr="preencoded.png">    </p:cNvPr>
          <p:cNvPicPr>
            <a:picLocks noChangeAspect="1"/>
          </p:cNvPicPr>
          <p:nvPr/>
        </p:nvPicPr>
        <p:blipFill>
          <a:blip r:embed="rId4"/>
          <a:stretch>
            <a:fillRect/>
          </a:stretch>
        </p:blipFill>
        <p:spPr>
          <a:xfrm>
            <a:off x="800100" y="5472684"/>
            <a:ext cx="283464" cy="283464"/>
          </a:xfrm>
          <a:prstGeom prst="rect">
            <a:avLst/>
          </a:prstGeom>
        </p:spPr>
      </p:pic>
      <p:sp>
        <p:nvSpPr>
          <p:cNvPr id="29" name="Text 23"/>
          <p:cNvSpPr txBox="1"/>
          <p:nvPr/>
        </p:nvSpPr>
        <p:spPr>
          <a:xfrm>
            <a:off x="1371600" y="5294376"/>
            <a:ext cx="5029200" cy="329184"/>
          </a:xfrm>
          <a:prstGeom prst="rect">
            <a:avLst/>
          </a:prstGeom>
          <a:noFill/>
          <a:ln/>
        </p:spPr>
        <p:txBody>
          <a:bodyPr wrap="square" lIns="0" tIns="0" rIns="0" bIns="0" rtlCol="0" anchor="t"/>
          <a:lstStyle/>
          <a:p>
            <a:pPr indent="0" marL="0">
              <a:buNone/>
            </a:pPr>
            <a:r>
              <a:rPr lang="en-US" sz="1600" b="1" dirty="0">
                <a:solidFill>
                  <a:srgbClr val="0F2A36"/>
                </a:solidFill>
              </a:rPr>
              <a:t>Rural conditions</a:t>
            </a:r>
            <a:endParaRPr lang="en-US" sz="1600" dirty="0"/>
          </a:p>
        </p:txBody>
      </p:sp>
      <p:sp>
        <p:nvSpPr>
          <p:cNvPr id="30" name="Text 24"/>
          <p:cNvSpPr txBox="1"/>
          <p:nvPr/>
        </p:nvSpPr>
        <p:spPr>
          <a:xfrm>
            <a:off x="1371600" y="5623560"/>
            <a:ext cx="5029200" cy="310896"/>
          </a:xfrm>
          <a:prstGeom prst="rect">
            <a:avLst/>
          </a:prstGeom>
          <a:noFill/>
          <a:ln/>
        </p:spPr>
        <p:txBody>
          <a:bodyPr wrap="square" lIns="0" tIns="0" rIns="0" bIns="0" rtlCol="0" anchor="t"/>
          <a:lstStyle/>
          <a:p>
            <a:pPr indent="0" marL="0">
              <a:buNone/>
            </a:pPr>
            <a:r>
              <a:rPr lang="en-US" sz="1400" dirty="0">
                <a:solidFill>
                  <a:srgbClr val="5B6B73"/>
                </a:solidFill>
              </a:rPr>
              <a:t>Weak signal and load-shedding</a:t>
            </a:r>
            <a:endParaRPr lang="en-US" sz="1400" dirty="0"/>
          </a:p>
        </p:txBody>
      </p:sp>
      <p:sp>
        <p:nvSpPr>
          <p:cNvPr id="31" name="Shape 25"/>
          <p:cNvSpPr/>
          <p:nvPr/>
        </p:nvSpPr>
        <p:spPr>
          <a:xfrm>
            <a:off x="6675120" y="5614416"/>
            <a:ext cx="594360" cy="914"/>
          </a:xfrm>
          <a:prstGeom prst="line">
            <a:avLst/>
          </a:prstGeom>
          <a:noFill/>
          <a:ln w="19050">
            <a:solidFill>
              <a:srgbClr val="168F99"/>
            </a:solidFill>
            <a:prstDash val="solid"/>
            <a:tailEnd type="triangle"/>
          </a:ln>
        </p:spPr>
      </p:sp>
      <p:sp>
        <p:nvSpPr>
          <p:cNvPr id="32" name="Consequence 4"/>
          <p:cNvSpPr txBox="1"/>
          <p:nvPr/>
        </p:nvSpPr>
        <p:spPr>
          <a:xfrm>
            <a:off x="7360920" y="5312664"/>
            <a:ext cx="2514600" cy="603504"/>
          </a:xfrm>
          <a:prstGeom prst="roundRect">
            <a:avLst>
              <a:gd name="adj" fmla="val 15152"/>
            </a:avLst>
          </a:prstGeom>
          <a:solidFill>
            <a:srgbClr val="FBF1DC"/>
          </a:solidFill>
          <a:ln>
            <a:solidFill>
              <a:srgbClr val="FBF1DC"/>
            </a:solidFill>
          </a:ln>
        </p:spPr>
        <p:txBody>
          <a:bodyPr wrap="square" lIns="0" tIns="0" rIns="0" bIns="0" rtlCol="0" anchor="ctr"/>
          <a:lstStyle/>
          <a:p>
            <a:pPr algn="ctr" indent="0" marL="0">
              <a:buNone/>
            </a:pPr>
            <a:r>
              <a:rPr lang="en-US" sz="1400" b="1" dirty="0">
                <a:solidFill>
                  <a:srgbClr val="7A5300"/>
                </a:solidFill>
              </a:rPr>
              <a:t>Must keep working offline</a:t>
            </a:r>
            <a:endParaRPr lang="en-US" sz="1400" dirty="0"/>
          </a:p>
        </p:txBody>
      </p:sp>
      <p:sp>
        <p:nvSpPr>
          <p:cNvPr id="33" name="Persona"/>
          <p:cNvSpPr/>
          <p:nvPr/>
        </p:nvSpPr>
        <p:spPr>
          <a:xfrm>
            <a:off x="10104120" y="2240280"/>
            <a:ext cx="1554480" cy="3785616"/>
          </a:xfrm>
          <a:prstGeom prst="roundRect">
            <a:avLst>
              <a:gd name="adj" fmla="val 7059"/>
            </a:avLst>
          </a:prstGeom>
          <a:solidFill>
            <a:srgbClr val="E6F0EA"/>
          </a:solidFill>
          <a:ln w="9525">
            <a:solidFill>
              <a:srgbClr val="E6F0EA"/>
            </a:solidFill>
            <a:prstDash val="solid"/>
          </a:ln>
          <a:effectLst>
            <a:outerShdw sx="100000" sy="100000" kx="0" ky="0" algn="bl" rotWithShape="0" blurRad="101600" dist="25400" dir="5400000">
              <a:srgbClr val="0F2A36">
                <a:alpha val="12000"/>
              </a:srgbClr>
            </a:outerShdw>
          </a:effectLst>
        </p:spPr>
      </p:sp>
      <p:sp>
        <p:nvSpPr>
          <p:cNvPr id="34" name="Icon circle"/>
          <p:cNvSpPr/>
          <p:nvPr/>
        </p:nvSpPr>
        <p:spPr>
          <a:xfrm>
            <a:off x="10515600" y="2743200"/>
            <a:ext cx="731520" cy="731520"/>
          </a:xfrm>
          <a:prstGeom prst="ellipse">
            <a:avLst/>
          </a:prstGeom>
          <a:solidFill>
            <a:srgbClr val="FFFFFF"/>
          </a:solidFill>
          <a:ln w="12700">
            <a:solidFill>
              <a:srgbClr val="FFFFFF"/>
            </a:solidFill>
            <a:prstDash val="solid"/>
          </a:ln>
        </p:spPr>
      </p:sp>
      <p:pic>
        <p:nvPicPr>
          <p:cNvPr id="35" name="Icon" descr="preencoded.png">    </p:cNvPr>
          <p:cNvPicPr>
            <a:picLocks noChangeAspect="1"/>
          </p:cNvPicPr>
          <p:nvPr/>
        </p:nvPicPr>
        <p:blipFill>
          <a:blip r:embed="rId5"/>
          <a:stretch>
            <a:fillRect/>
          </a:stretch>
        </p:blipFill>
        <p:spPr>
          <a:xfrm>
            <a:off x="10698480" y="2926080"/>
            <a:ext cx="365760" cy="365760"/>
          </a:xfrm>
          <a:prstGeom prst="rect">
            <a:avLst/>
          </a:prstGeom>
        </p:spPr>
      </p:pic>
      <p:sp>
        <p:nvSpPr>
          <p:cNvPr id="36" name="Text 29"/>
          <p:cNvSpPr txBox="1"/>
          <p:nvPr/>
        </p:nvSpPr>
        <p:spPr>
          <a:xfrm>
            <a:off x="10195560" y="3611880"/>
            <a:ext cx="1371600" cy="2194560"/>
          </a:xfrm>
          <a:prstGeom prst="rect">
            <a:avLst/>
          </a:prstGeom>
          <a:noFill/>
          <a:ln/>
        </p:spPr>
        <p:txBody>
          <a:bodyPr wrap="square" lIns="0" tIns="0" rIns="0" bIns="0" rtlCol="0" anchor="t"/>
          <a:lstStyle/>
          <a:p>
            <a:pPr algn="ctr" indent="0" marL="0">
              <a:buNone/>
            </a:pPr>
            <a:r>
              <a:rPr lang="en-US" sz="1400" b="1" dirty="0">
                <a:solidFill>
                  <a:srgbClr val="0F2A36"/>
                </a:solidFill>
              </a:rPr>
              <a:t>Sipho Dlamini</a:t>
            </a:r>
            <a:endParaRPr lang="en-US" sz="1400" dirty="0"/>
          </a:p>
          <a:p>
            <a:pPr algn="ctr" indent="0" marL="0">
              <a:buNone/>
            </a:pPr>
            <a:r>
              <a:rPr lang="en-US" sz="1100" dirty="0">
                <a:solidFill>
                  <a:srgbClr val="5B6B73"/>
                </a:solidFill>
              </a:rPr>
              <a:t>Small-farm owner (persona)</a:t>
            </a:r>
            <a:endParaRPr lang="en-US" sz="1400" dirty="0"/>
          </a:p>
          <a:p>
            <a:pPr algn="ctr" indent="0" marL="0">
              <a:buNone/>
            </a:pPr>
            <a:r>
              <a:rPr lang="en-US" sz="600" dirty="0">
                <a:solidFill>
                  <a:srgbClr val="0F2A36"/>
                </a:solidFill>
              </a:rPr>
              <a:t> </a:t>
            </a:r>
            <a:endParaRPr lang="en-US" sz="1400" dirty="0"/>
          </a:p>
          <a:p>
            <a:pPr algn="ctr" indent="0" marL="0">
              <a:buNone/>
            </a:pPr>
            <a:r>
              <a:rPr lang="en-US" sz="1200" i="1" dirty="0">
                <a:solidFill>
                  <a:srgbClr val="184D35"/>
                </a:solidFill>
              </a:rPr>
              <a:t>“Check soil conditions without walking to every zone.”</a:t>
            </a:r>
            <a:endParaRPr lang="en-US" sz="1400" dirty="0"/>
          </a:p>
        </p:txBody>
      </p:sp>
      <p:sp>
        <p:nvSpPr>
          <p:cNvPr id="25" name="Slide Number Placeholder 0"/>
          <p:cNvSpPr>
            <a:spLocks noGrp="1"/>
          </p:cNvSpPr>
          <p:nvPr>
            <p:ph type="sldNum" sz="quarter" idx="4294967295"/>
          </p:nvPr>
        </p:nvSpPr>
        <p:spPr>
          <a:xfrm>
            <a:off x="1129284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02920" y="347472"/>
            <a:ext cx="9326880" cy="731520"/>
          </a:xfrm>
          <a:prstGeom prst="rect">
            <a:avLst/>
          </a:prstGeom>
          <a:noFill/>
          <a:ln/>
        </p:spPr>
        <p:txBody>
          <a:bodyPr wrap="square" lIns="0" tIns="0" rIns="0" bIns="0" rtlCol="0" anchor="ctr"/>
          <a:lstStyle/>
          <a:p>
            <a:pPr algn="l" indent="0" marL="0">
              <a:buNone/>
            </a:pPr>
            <a:r>
              <a:rPr lang="en-US" sz="3400" b="1" dirty="0">
                <a:solidFill>
                  <a:srgbClr val="0F2A36"/>
                </a:solidFill>
              </a:rPr>
              <a:t>From field conditions to informed irrigation</a:t>
            </a:r>
            <a:endParaRPr lang="en-US" sz="3400" dirty="0"/>
          </a:p>
        </p:txBody>
      </p:sp>
      <p:sp>
        <p:nvSpPr>
          <p:cNvPr id="3" name="Speaker tag"/>
          <p:cNvSpPr txBox="1"/>
          <p:nvPr/>
        </p:nvSpPr>
        <p:spPr>
          <a:xfrm>
            <a:off x="10012680" y="457200"/>
            <a:ext cx="1691640" cy="329184"/>
          </a:xfrm>
          <a:prstGeom prst="roundRect">
            <a:avLst>
              <a:gd name="adj" fmla="val 41667"/>
            </a:avLst>
          </a:prstGeom>
          <a:solidFill>
            <a:srgbClr val="E3F4F5"/>
          </a:solidFill>
          <a:ln>
            <a:solidFill>
              <a:srgbClr val="E3F4F5"/>
            </a:solidFill>
          </a:ln>
        </p:spPr>
        <p:txBody>
          <a:bodyPr wrap="square" lIns="0" tIns="0" rIns="0" bIns="0" rtlCol="0" anchor="ctr"/>
          <a:lstStyle/>
          <a:p>
            <a:pPr algn="ctr" indent="0" marL="0">
              <a:buNone/>
            </a:pPr>
            <a:r>
              <a:rPr lang="en-US" sz="1100" b="1" dirty="0">
                <a:solidFill>
                  <a:srgbClr val="168F99"/>
                </a:solidFill>
              </a:rPr>
              <a:t>Leruo</a:t>
            </a:r>
            <a:endParaRPr lang="en-US" sz="1100" dirty="0"/>
          </a:p>
        </p:txBody>
      </p:sp>
      <p:sp>
        <p:nvSpPr>
          <p:cNvPr id="4" name="FIELD"/>
          <p:cNvSpPr/>
          <p:nvPr/>
        </p:nvSpPr>
        <p:spPr>
          <a:xfrm>
            <a:off x="502920" y="1371600"/>
            <a:ext cx="2377440" cy="3977640"/>
          </a:xfrm>
          <a:prstGeom prst="roundRect">
            <a:avLst>
              <a:gd name="adj" fmla="val 4615"/>
            </a:avLst>
          </a:prstGeom>
          <a:solidFill>
            <a:srgbClr val="E6F0EA"/>
          </a:solidFill>
          <a:ln w="9525">
            <a:solidFill>
              <a:srgbClr val="E6F0EA"/>
            </a:solidFill>
            <a:prstDash val="solid"/>
          </a:ln>
          <a:effectLst>
            <a:outerShdw sx="100000" sy="100000" kx="0" ky="0" algn="bl" rotWithShape="0" blurRad="101600" dist="25400" dir="5400000">
              <a:srgbClr val="0F2A36">
                <a:alpha val="12000"/>
              </a:srgbClr>
            </a:outerShdw>
          </a:effectLst>
        </p:spPr>
      </p:sp>
      <p:sp>
        <p:nvSpPr>
          <p:cNvPr id="5" name="Icon circle"/>
          <p:cNvSpPr/>
          <p:nvPr/>
        </p:nvSpPr>
        <p:spPr>
          <a:xfrm>
            <a:off x="1371600" y="1554480"/>
            <a:ext cx="640080" cy="640080"/>
          </a:xfrm>
          <a:prstGeom prst="ellipse">
            <a:avLst/>
          </a:prstGeom>
          <a:solidFill>
            <a:srgbClr val="FFFFFF"/>
          </a:solidFill>
          <a:ln w="12700">
            <a:solidFill>
              <a:srgbClr val="FFFFFF"/>
            </a:solidFill>
            <a:prstDash val="solid"/>
          </a:ln>
        </p:spPr>
      </p:sp>
      <p:pic>
        <p:nvPicPr>
          <p:cNvPr id="6" name="Icon" descr="preencoded.png">    </p:cNvPr>
          <p:cNvPicPr>
            <a:picLocks noChangeAspect="1"/>
          </p:cNvPicPr>
          <p:nvPr/>
        </p:nvPicPr>
        <p:blipFill>
          <a:blip r:embed="rId1"/>
          <a:stretch>
            <a:fillRect/>
          </a:stretch>
        </p:blipFill>
        <p:spPr>
          <a:xfrm>
            <a:off x="1531620" y="1714500"/>
            <a:ext cx="320040" cy="320040"/>
          </a:xfrm>
          <a:prstGeom prst="rect">
            <a:avLst/>
          </a:prstGeom>
        </p:spPr>
      </p:pic>
      <p:sp>
        <p:nvSpPr>
          <p:cNvPr id="7" name="Text 4"/>
          <p:cNvSpPr txBox="1"/>
          <p:nvPr/>
        </p:nvSpPr>
        <p:spPr>
          <a:xfrm>
            <a:off x="594360" y="2286000"/>
            <a:ext cx="2194560" cy="365760"/>
          </a:xfrm>
          <a:prstGeom prst="rect">
            <a:avLst/>
          </a:prstGeom>
          <a:noFill/>
          <a:ln/>
        </p:spPr>
        <p:txBody>
          <a:bodyPr wrap="square" lIns="0" tIns="0" rIns="0" bIns="0" rtlCol="0" anchor="t"/>
          <a:lstStyle/>
          <a:p>
            <a:pPr algn="ctr" indent="0" marL="0">
              <a:buNone/>
            </a:pPr>
            <a:r>
              <a:rPr lang="en-US" sz="1500" b="1" dirty="0">
                <a:solidFill>
                  <a:srgbClr val="2F6B4B"/>
                </a:solidFill>
              </a:rPr>
              <a:t>FIELD</a:t>
            </a:r>
            <a:endParaRPr lang="en-US" sz="1500" dirty="0"/>
          </a:p>
        </p:txBody>
      </p:sp>
      <p:sp>
        <p:nvSpPr>
          <p:cNvPr id="8" name="Text 5"/>
          <p:cNvSpPr txBox="1"/>
          <p:nvPr/>
        </p:nvSpPr>
        <p:spPr>
          <a:xfrm>
            <a:off x="685800" y="2743200"/>
            <a:ext cx="205740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F2A36"/>
                </a:solidFill>
              </a:rPr>
              <a:t>ESP32 kit in every zone</a:t>
            </a:r>
            <a:endParaRPr lang="en-US" sz="1400" dirty="0"/>
          </a:p>
          <a:p>
            <a:pPr marL="342900" indent="-342900">
              <a:spcAft>
                <a:spcPts val="800"/>
              </a:spcAft>
              <a:buSzPct val="100000"/>
              <a:buChar char="•"/>
            </a:pPr>
            <a:r>
              <a:rPr lang="en-US" sz="1400" dirty="0">
                <a:solidFill>
                  <a:srgbClr val="0F2A36"/>
                </a:solidFill>
              </a:rPr>
              <a:t>Soil moisture, temperature and humidity every 30 s</a:t>
            </a:r>
            <a:endParaRPr lang="en-US" sz="1400" dirty="0"/>
          </a:p>
          <a:p>
            <a:pPr marL="342900" indent="-342900">
              <a:spcAft>
                <a:spcPts val="800"/>
              </a:spcAft>
              <a:buSzPct val="100000"/>
              <a:buChar char="•"/>
            </a:pPr>
            <a:r>
              <a:rPr lang="en-US" sz="1400" dirty="0">
                <a:solidFill>
                  <a:srgbClr val="0F2A36"/>
                </a:solidFill>
              </a:rPr>
              <a:t>Relay switches the pump</a:t>
            </a:r>
            <a:endParaRPr lang="en-US" sz="1400" dirty="0"/>
          </a:p>
        </p:txBody>
      </p:sp>
      <p:sp>
        <p:nvSpPr>
          <p:cNvPr id="9" name="Shape 6"/>
          <p:cNvSpPr/>
          <p:nvPr/>
        </p:nvSpPr>
        <p:spPr>
          <a:xfrm>
            <a:off x="2898648" y="3337560"/>
            <a:ext cx="283464" cy="914"/>
          </a:xfrm>
          <a:prstGeom prst="line">
            <a:avLst/>
          </a:prstGeom>
          <a:noFill/>
          <a:ln w="28575">
            <a:solidFill>
              <a:srgbClr val="2F6B4B"/>
            </a:solidFill>
            <a:prstDash val="solid"/>
            <a:tailEnd type="triangle"/>
          </a:ln>
        </p:spPr>
      </p:sp>
      <p:sp>
        <p:nvSpPr>
          <p:cNvPr id="10" name="CONNECTED PLATFORM"/>
          <p:cNvSpPr/>
          <p:nvPr/>
        </p:nvSpPr>
        <p:spPr>
          <a:xfrm>
            <a:off x="3200400" y="1371600"/>
            <a:ext cx="2377440" cy="3977640"/>
          </a:xfrm>
          <a:prstGeom prst="roundRect">
            <a:avLst>
              <a:gd name="adj" fmla="val 4615"/>
            </a:avLst>
          </a:prstGeom>
          <a:solidFill>
            <a:srgbClr val="E3F4F5"/>
          </a:solidFill>
          <a:ln w="9525">
            <a:solidFill>
              <a:srgbClr val="E3F4F5"/>
            </a:solidFill>
            <a:prstDash val="solid"/>
          </a:ln>
          <a:effectLst>
            <a:outerShdw sx="100000" sy="100000" kx="0" ky="0" algn="bl" rotWithShape="0" blurRad="101600" dist="25400" dir="5400000">
              <a:srgbClr val="0F2A36">
                <a:alpha val="12000"/>
              </a:srgbClr>
            </a:outerShdw>
          </a:effectLst>
        </p:spPr>
      </p:sp>
      <p:sp>
        <p:nvSpPr>
          <p:cNvPr id="11" name="Icon circle"/>
          <p:cNvSpPr/>
          <p:nvPr/>
        </p:nvSpPr>
        <p:spPr>
          <a:xfrm>
            <a:off x="4069080" y="1554480"/>
            <a:ext cx="640080" cy="640080"/>
          </a:xfrm>
          <a:prstGeom prst="ellipse">
            <a:avLst/>
          </a:prstGeom>
          <a:solidFill>
            <a:srgbClr val="FFFFFF"/>
          </a:solidFill>
          <a:ln w="12700">
            <a:solidFill>
              <a:srgbClr val="FFFFFF"/>
            </a:solidFill>
            <a:prstDash val="solid"/>
          </a:ln>
        </p:spPr>
      </p:sp>
      <p:pic>
        <p:nvPicPr>
          <p:cNvPr id="12" name="Icon" descr="preencoded.png">    </p:cNvPr>
          <p:cNvPicPr>
            <a:picLocks noChangeAspect="1"/>
          </p:cNvPicPr>
          <p:nvPr/>
        </p:nvPicPr>
        <p:blipFill>
          <a:blip r:embed="rId2"/>
          <a:stretch>
            <a:fillRect/>
          </a:stretch>
        </p:blipFill>
        <p:spPr>
          <a:xfrm>
            <a:off x="4229100" y="1714500"/>
            <a:ext cx="320040" cy="320040"/>
          </a:xfrm>
          <a:prstGeom prst="rect">
            <a:avLst/>
          </a:prstGeom>
        </p:spPr>
      </p:pic>
      <p:sp>
        <p:nvSpPr>
          <p:cNvPr id="13" name="Text 9"/>
          <p:cNvSpPr txBox="1"/>
          <p:nvPr/>
        </p:nvSpPr>
        <p:spPr>
          <a:xfrm>
            <a:off x="3291840" y="2286000"/>
            <a:ext cx="2194560" cy="365760"/>
          </a:xfrm>
          <a:prstGeom prst="rect">
            <a:avLst/>
          </a:prstGeom>
          <a:noFill/>
          <a:ln/>
        </p:spPr>
        <p:txBody>
          <a:bodyPr wrap="square" lIns="0" tIns="0" rIns="0" bIns="0" rtlCol="0" anchor="t"/>
          <a:lstStyle/>
          <a:p>
            <a:pPr algn="ctr" indent="0" marL="0">
              <a:buNone/>
            </a:pPr>
            <a:r>
              <a:rPr lang="en-US" sz="1500" b="1" dirty="0">
                <a:solidFill>
                  <a:srgbClr val="168F99"/>
                </a:solidFill>
              </a:rPr>
              <a:t>CONNECTED PLATFORM</a:t>
            </a:r>
            <a:endParaRPr lang="en-US" sz="1500" dirty="0"/>
          </a:p>
        </p:txBody>
      </p:sp>
      <p:sp>
        <p:nvSpPr>
          <p:cNvPr id="14" name="Text 10"/>
          <p:cNvSpPr txBox="1"/>
          <p:nvPr/>
        </p:nvSpPr>
        <p:spPr>
          <a:xfrm>
            <a:off x="3383280" y="2743200"/>
            <a:ext cx="205740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F2A36"/>
                </a:solidFill>
              </a:rPr>
              <a:t>Stores readings, checks each zone</a:t>
            </a:r>
            <a:endParaRPr lang="en-US" sz="1400" dirty="0"/>
          </a:p>
          <a:p>
            <a:pPr marL="342900" indent="-342900">
              <a:spcAft>
                <a:spcPts val="800"/>
              </a:spcAft>
              <a:buSzPct val="100000"/>
              <a:buChar char="•"/>
            </a:pPr>
            <a:r>
              <a:rPr lang="en-US" sz="1400" dirty="0">
                <a:solidFill>
                  <a:srgbClr val="0F2A36"/>
                </a:solidFill>
              </a:rPr>
              <a:t>FAO-56 advice from crop stage + forecast</a:t>
            </a:r>
            <a:endParaRPr lang="en-US" sz="1400" dirty="0"/>
          </a:p>
          <a:p>
            <a:pPr marL="342900" indent="-342900">
              <a:spcAft>
                <a:spcPts val="800"/>
              </a:spcAft>
              <a:buSzPct val="100000"/>
              <a:buChar char="•"/>
            </a:pPr>
            <a:r>
              <a:rPr lang="en-US" sz="1400" dirty="0">
                <a:solidFill>
                  <a:srgbClr val="0F2A36"/>
                </a:solidFill>
              </a:rPr>
              <a:t>Telegram alerts when action is needed</a:t>
            </a:r>
            <a:endParaRPr lang="en-US" sz="1400" dirty="0"/>
          </a:p>
        </p:txBody>
      </p:sp>
      <p:sp>
        <p:nvSpPr>
          <p:cNvPr id="15" name="Shape 11"/>
          <p:cNvSpPr/>
          <p:nvPr/>
        </p:nvSpPr>
        <p:spPr>
          <a:xfrm>
            <a:off x="5596128" y="3337560"/>
            <a:ext cx="283464" cy="914"/>
          </a:xfrm>
          <a:prstGeom prst="line">
            <a:avLst/>
          </a:prstGeom>
          <a:noFill/>
          <a:ln w="28575">
            <a:solidFill>
              <a:srgbClr val="168F99"/>
            </a:solidFill>
            <a:prstDash val="solid"/>
            <a:tailEnd type="triangle"/>
          </a:ln>
        </p:spPr>
      </p:sp>
      <p:sp>
        <p:nvSpPr>
          <p:cNvPr id="16" name="FARMER &amp; ADMIN"/>
          <p:cNvSpPr/>
          <p:nvPr/>
        </p:nvSpPr>
        <p:spPr>
          <a:xfrm>
            <a:off x="5897880" y="1371600"/>
            <a:ext cx="2377440" cy="3977640"/>
          </a:xfrm>
          <a:prstGeom prst="roundRect">
            <a:avLst>
              <a:gd name="adj" fmla="val 4615"/>
            </a:avLst>
          </a:prstGeom>
          <a:solidFill>
            <a:srgbClr val="E5F0FC"/>
          </a:solidFill>
          <a:ln w="9525">
            <a:solidFill>
              <a:srgbClr val="E5F0FC"/>
            </a:solidFill>
            <a:prstDash val="solid"/>
          </a:ln>
          <a:effectLst>
            <a:outerShdw sx="100000" sy="100000" kx="0" ky="0" algn="bl" rotWithShape="0" blurRad="101600" dist="25400" dir="5400000">
              <a:srgbClr val="0F2A36">
                <a:alpha val="12000"/>
              </a:srgbClr>
            </a:outerShdw>
          </a:effectLst>
        </p:spPr>
      </p:sp>
      <p:sp>
        <p:nvSpPr>
          <p:cNvPr id="17" name="Icon circle"/>
          <p:cNvSpPr/>
          <p:nvPr/>
        </p:nvSpPr>
        <p:spPr>
          <a:xfrm>
            <a:off x="6766560" y="1554480"/>
            <a:ext cx="640080" cy="640080"/>
          </a:xfrm>
          <a:prstGeom prst="ellipse">
            <a:avLst/>
          </a:prstGeom>
          <a:solidFill>
            <a:srgbClr val="FFFFFF"/>
          </a:solidFill>
          <a:ln w="12700">
            <a:solidFill>
              <a:srgbClr val="FFFFFF"/>
            </a:solidFill>
            <a:prstDash val="solid"/>
          </a:ln>
        </p:spPr>
      </p:sp>
      <p:pic>
        <p:nvPicPr>
          <p:cNvPr id="18" name="Icon" descr="preencoded.png">    </p:cNvPr>
          <p:cNvPicPr>
            <a:picLocks noChangeAspect="1"/>
          </p:cNvPicPr>
          <p:nvPr/>
        </p:nvPicPr>
        <p:blipFill>
          <a:blip r:embed="rId3"/>
          <a:stretch>
            <a:fillRect/>
          </a:stretch>
        </p:blipFill>
        <p:spPr>
          <a:xfrm>
            <a:off x="6926580" y="1714500"/>
            <a:ext cx="320040" cy="320040"/>
          </a:xfrm>
          <a:prstGeom prst="rect">
            <a:avLst/>
          </a:prstGeom>
        </p:spPr>
      </p:pic>
      <p:sp>
        <p:nvSpPr>
          <p:cNvPr id="19" name="Text 14"/>
          <p:cNvSpPr txBox="1"/>
          <p:nvPr/>
        </p:nvSpPr>
        <p:spPr>
          <a:xfrm>
            <a:off x="5989320" y="2286000"/>
            <a:ext cx="2194560" cy="365760"/>
          </a:xfrm>
          <a:prstGeom prst="rect">
            <a:avLst/>
          </a:prstGeom>
          <a:noFill/>
          <a:ln/>
        </p:spPr>
        <p:txBody>
          <a:bodyPr wrap="square" lIns="0" tIns="0" rIns="0" bIns="0" rtlCol="0" anchor="t"/>
          <a:lstStyle/>
          <a:p>
            <a:pPr algn="ctr" indent="0" marL="0">
              <a:buNone/>
            </a:pPr>
            <a:r>
              <a:rPr lang="en-US" sz="1500" b="1" dirty="0">
                <a:solidFill>
                  <a:srgbClr val="1E88E5"/>
                </a:solidFill>
              </a:rPr>
              <a:t>FARMER &amp; ADMIN</a:t>
            </a:r>
            <a:endParaRPr lang="en-US" sz="1500" dirty="0"/>
          </a:p>
        </p:txBody>
      </p:sp>
      <p:sp>
        <p:nvSpPr>
          <p:cNvPr id="20" name="Text 15"/>
          <p:cNvSpPr txBox="1"/>
          <p:nvPr/>
        </p:nvSpPr>
        <p:spPr>
          <a:xfrm>
            <a:off x="6080760" y="2743200"/>
            <a:ext cx="205740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F2A36"/>
                </a:solidFill>
              </a:rPr>
              <a:t>Every zone on the farmer's phone</a:t>
            </a:r>
            <a:endParaRPr lang="en-US" sz="1400" dirty="0"/>
          </a:p>
          <a:p>
            <a:pPr marL="342900" indent="-342900">
              <a:spcAft>
                <a:spcPts val="800"/>
              </a:spcAft>
              <a:buSzPct val="100000"/>
              <a:buChar char="•"/>
            </a:pPr>
            <a:r>
              <a:rPr lang="en-US" sz="1400" dirty="0">
                <a:solidFill>
                  <a:srgbClr val="0F2A36"/>
                </a:solidFill>
              </a:rPr>
              <a:t>Automatic, scheduled or manual watering</a:t>
            </a:r>
            <a:endParaRPr lang="en-US" sz="1400" dirty="0"/>
          </a:p>
          <a:p>
            <a:pPr marL="342900" indent="-342900">
              <a:spcAft>
                <a:spcPts val="800"/>
              </a:spcAft>
              <a:buSzPct val="100000"/>
              <a:buChar char="•"/>
            </a:pPr>
            <a:r>
              <a:rPr lang="en-US" sz="1400" dirty="0">
                <a:solidFill>
                  <a:srgbClr val="0F2A36"/>
                </a:solidFill>
              </a:rPr>
              <a:t>Admins register farms and kits</a:t>
            </a:r>
            <a:endParaRPr lang="en-US" sz="1400" dirty="0"/>
          </a:p>
        </p:txBody>
      </p:sp>
      <p:sp>
        <p:nvSpPr>
          <p:cNvPr id="21" name="Text 16"/>
          <p:cNvSpPr txBox="1"/>
          <p:nvPr/>
        </p:nvSpPr>
        <p:spPr>
          <a:xfrm>
            <a:off x="502920" y="5532120"/>
            <a:ext cx="7772400" cy="594360"/>
          </a:xfrm>
          <a:prstGeom prst="rect">
            <a:avLst/>
          </a:prstGeom>
          <a:noFill/>
          <a:ln/>
        </p:spPr>
        <p:txBody>
          <a:bodyPr wrap="square" lIns="0" tIns="0" rIns="0" bIns="0" rtlCol="0" anchor="ctr"/>
          <a:lstStyle/>
          <a:p>
            <a:pPr indent="0" marL="0">
              <a:buNone/>
            </a:pPr>
            <a:r>
              <a:rPr lang="en-US" sz="1400" b="1" dirty="0">
                <a:solidFill>
                  <a:srgbClr val="168F99"/>
                </a:solidFill>
              </a:rPr>
              <a:t>Rule-based and sourced, not a black box: </a:t>
            </a:r>
            <a:pPr indent="0" marL="0">
              <a:buNone/>
            </a:pPr>
            <a:r>
              <a:rPr lang="en-US" sz="1400" dirty="0">
                <a:solidFill>
                  <a:srgbClr val="0F2A36"/>
                </a:solidFill>
              </a:rPr>
              <a:t>every advice figure traces to a sensor reading, a weather row or a cited FAO-56 value.</a:t>
            </a:r>
            <a:endParaRPr lang="en-US" sz="1400" dirty="0"/>
          </a:p>
        </p:txBody>
      </p:sp>
      <p:pic>
        <p:nvPicPr>
          <p:cNvPr id="22" name="Farmer app — Irrigation" descr="/home/user/AgroFlow/presentation/presentation-assets/ui/mobile-irrigation.png">    </p:cNvPr>
          <p:cNvPicPr>
            <a:picLocks noChangeAspect="1"/>
          </p:cNvPicPr>
          <p:nvPr/>
        </p:nvPicPr>
        <p:blipFill>
          <a:blip r:embed="rId4"/>
          <a:stretch>
            <a:fillRect/>
          </a:stretch>
        </p:blipFill>
        <p:spPr>
          <a:xfrm>
            <a:off x="8823960" y="1188720"/>
            <a:ext cx="2372903" cy="4983480"/>
          </a:xfrm>
          <a:prstGeom prst="rect">
            <a:avLst/>
          </a:prstGeom>
        </p:spPr>
      </p:pic>
      <p:sp>
        <p:nvSpPr>
          <p:cNvPr id="23" name="Text 17"/>
          <p:cNvSpPr txBox="1"/>
          <p:nvPr/>
        </p:nvSpPr>
        <p:spPr>
          <a:xfrm>
            <a:off x="8823960" y="6199632"/>
            <a:ext cx="2377440" cy="274320"/>
          </a:xfrm>
          <a:prstGeom prst="rect">
            <a:avLst/>
          </a:prstGeom>
          <a:noFill/>
          <a:ln/>
        </p:spPr>
        <p:txBody>
          <a:bodyPr wrap="square" lIns="0" tIns="0" rIns="0" bIns="0" rtlCol="0" anchor="t"/>
          <a:lstStyle/>
          <a:p>
            <a:pPr algn="ctr" indent="0" marL="0">
              <a:buNone/>
            </a:pPr>
            <a:r>
              <a:rPr lang="en-US" sz="1000" i="1" dirty="0">
                <a:solidFill>
                  <a:srgbClr val="5B6B73"/>
                </a:solidFill>
              </a:rPr>
              <a:t>Farmer app · Irrigation</a:t>
            </a:r>
            <a:endParaRPr lang="en-US" sz="1000" dirty="0"/>
          </a:p>
        </p:txBody>
      </p:sp>
      <p:sp>
        <p:nvSpPr>
          <p:cNvPr id="25" name="Slide Number Placeholder 0"/>
          <p:cNvSpPr>
            <a:spLocks noGrp="1"/>
          </p:cNvSpPr>
          <p:nvPr>
            <p:ph type="sldNum" sz="quarter" idx="4294967295"/>
          </p:nvPr>
        </p:nvSpPr>
        <p:spPr>
          <a:xfrm>
            <a:off x="1129284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02920" y="347472"/>
            <a:ext cx="9326880" cy="731520"/>
          </a:xfrm>
          <a:prstGeom prst="rect">
            <a:avLst/>
          </a:prstGeom>
          <a:noFill/>
          <a:ln/>
        </p:spPr>
        <p:txBody>
          <a:bodyPr wrap="square" lIns="0" tIns="0" rIns="0" bIns="0" rtlCol="0" anchor="ctr"/>
          <a:lstStyle/>
          <a:p>
            <a:pPr algn="l" indent="0" marL="0">
              <a:buNone/>
            </a:pPr>
            <a:r>
              <a:rPr lang="en-US" sz="3400" b="1" dirty="0">
                <a:solidFill>
                  <a:srgbClr val="0F2A36"/>
                </a:solidFill>
              </a:rPr>
              <a:t>How AgroFlow works</a:t>
            </a:r>
            <a:endParaRPr lang="en-US" sz="3400" dirty="0"/>
          </a:p>
        </p:txBody>
      </p:sp>
      <p:sp>
        <p:nvSpPr>
          <p:cNvPr id="3" name="Speaker tag"/>
          <p:cNvSpPr txBox="1"/>
          <p:nvPr/>
        </p:nvSpPr>
        <p:spPr>
          <a:xfrm>
            <a:off x="10012680" y="457200"/>
            <a:ext cx="1691640" cy="329184"/>
          </a:xfrm>
          <a:prstGeom prst="roundRect">
            <a:avLst>
              <a:gd name="adj" fmla="val 41667"/>
            </a:avLst>
          </a:prstGeom>
          <a:solidFill>
            <a:srgbClr val="E3F4F5"/>
          </a:solidFill>
          <a:ln>
            <a:solidFill>
              <a:srgbClr val="E3F4F5"/>
            </a:solidFill>
          </a:ln>
        </p:spPr>
        <p:txBody>
          <a:bodyPr wrap="square" lIns="0" tIns="0" rIns="0" bIns="0" rtlCol="0" anchor="ctr"/>
          <a:lstStyle/>
          <a:p>
            <a:pPr algn="ctr" indent="0" marL="0">
              <a:buNone/>
            </a:pPr>
            <a:r>
              <a:rPr lang="en-US" sz="1100" b="1" dirty="0">
                <a:solidFill>
                  <a:srgbClr val="168F99"/>
                </a:solidFill>
              </a:rPr>
              <a:t>Leruo</a:t>
            </a:r>
            <a:endParaRPr lang="en-US" sz="1100" dirty="0"/>
          </a:p>
        </p:txBody>
      </p:sp>
      <p:sp>
        <p:nvSpPr>
          <p:cNvPr id="4" name="Text 2"/>
          <p:cNvSpPr txBox="1"/>
          <p:nvPr/>
        </p:nvSpPr>
        <p:spPr>
          <a:xfrm>
            <a:off x="502920" y="1234440"/>
            <a:ext cx="2103120" cy="274320"/>
          </a:xfrm>
          <a:prstGeom prst="rect">
            <a:avLst/>
          </a:prstGeom>
          <a:noFill/>
          <a:ln/>
        </p:spPr>
        <p:txBody>
          <a:bodyPr wrap="square" lIns="0" tIns="0" rIns="0" bIns="0" rtlCol="0" anchor="t"/>
          <a:lstStyle/>
          <a:p>
            <a:pPr indent="0" marL="0">
              <a:buNone/>
            </a:pPr>
            <a:r>
              <a:rPr lang="en-US" sz="1200" b="1" spc="100" kern="0" dirty="0">
                <a:solidFill>
                  <a:srgbClr val="2F6B4B"/>
                </a:solidFill>
              </a:rPr>
              <a:t>FIELD HARDWARE</a:t>
            </a:r>
            <a:endParaRPr lang="en-US" sz="1200" dirty="0"/>
          </a:p>
        </p:txBody>
      </p:sp>
      <p:sp>
        <p:nvSpPr>
          <p:cNvPr id="5" name="Text 3"/>
          <p:cNvSpPr txBox="1"/>
          <p:nvPr/>
        </p:nvSpPr>
        <p:spPr>
          <a:xfrm>
            <a:off x="2834640" y="1234440"/>
            <a:ext cx="1874520" cy="274320"/>
          </a:xfrm>
          <a:prstGeom prst="rect">
            <a:avLst/>
          </a:prstGeom>
          <a:noFill/>
          <a:ln/>
        </p:spPr>
        <p:txBody>
          <a:bodyPr wrap="square" lIns="0" tIns="0" rIns="0" bIns="0" rtlCol="0" anchor="t"/>
          <a:lstStyle/>
          <a:p>
            <a:pPr indent="0" marL="0">
              <a:buNone/>
            </a:pPr>
            <a:r>
              <a:rPr lang="en-US" sz="1200" b="1" spc="100" kern="0" dirty="0">
                <a:solidFill>
                  <a:srgbClr val="42C3C7"/>
                </a:solidFill>
              </a:rPr>
              <a:t>COMMUNICATION</a:t>
            </a:r>
            <a:endParaRPr lang="en-US" sz="1200" dirty="0"/>
          </a:p>
        </p:txBody>
      </p:sp>
      <p:sp>
        <p:nvSpPr>
          <p:cNvPr id="6" name="Text 4"/>
          <p:cNvSpPr txBox="1"/>
          <p:nvPr/>
        </p:nvSpPr>
        <p:spPr>
          <a:xfrm>
            <a:off x="4937760" y="1234440"/>
            <a:ext cx="2514600" cy="274320"/>
          </a:xfrm>
          <a:prstGeom prst="rect">
            <a:avLst/>
          </a:prstGeom>
          <a:noFill/>
          <a:ln/>
        </p:spPr>
        <p:txBody>
          <a:bodyPr wrap="square" lIns="0" tIns="0" rIns="0" bIns="0" rtlCol="0" anchor="t"/>
          <a:lstStyle/>
          <a:p>
            <a:pPr indent="0" marL="0">
              <a:buNone/>
            </a:pPr>
            <a:r>
              <a:rPr lang="en-US" sz="1200" b="1" spc="100" kern="0" dirty="0">
                <a:solidFill>
                  <a:srgbClr val="168F99"/>
                </a:solidFill>
              </a:rPr>
              <a:t>PLATFORM</a:t>
            </a:r>
            <a:endParaRPr lang="en-US" sz="1200" dirty="0"/>
          </a:p>
        </p:txBody>
      </p:sp>
      <p:sp>
        <p:nvSpPr>
          <p:cNvPr id="7" name="Text 5"/>
          <p:cNvSpPr txBox="1"/>
          <p:nvPr/>
        </p:nvSpPr>
        <p:spPr>
          <a:xfrm>
            <a:off x="7680960" y="1234440"/>
            <a:ext cx="1737360" cy="274320"/>
          </a:xfrm>
          <a:prstGeom prst="rect">
            <a:avLst/>
          </a:prstGeom>
          <a:noFill/>
          <a:ln/>
        </p:spPr>
        <p:txBody>
          <a:bodyPr wrap="square" lIns="0" tIns="0" rIns="0" bIns="0" rtlCol="0" anchor="t"/>
          <a:lstStyle/>
          <a:p>
            <a:pPr indent="0" marL="0">
              <a:buNone/>
            </a:pPr>
            <a:r>
              <a:rPr lang="en-US" sz="1200" b="1" spc="100" kern="0" dirty="0">
                <a:solidFill>
                  <a:srgbClr val="184D35"/>
                </a:solidFill>
              </a:rPr>
              <a:t>DATABASE</a:t>
            </a:r>
            <a:endParaRPr lang="en-US" sz="1200" dirty="0"/>
          </a:p>
        </p:txBody>
      </p:sp>
      <p:sp>
        <p:nvSpPr>
          <p:cNvPr id="8" name="Text 6"/>
          <p:cNvSpPr txBox="1"/>
          <p:nvPr/>
        </p:nvSpPr>
        <p:spPr>
          <a:xfrm>
            <a:off x="9646920" y="1234440"/>
            <a:ext cx="2011680" cy="274320"/>
          </a:xfrm>
          <a:prstGeom prst="rect">
            <a:avLst/>
          </a:prstGeom>
          <a:noFill/>
          <a:ln/>
        </p:spPr>
        <p:txBody>
          <a:bodyPr wrap="square" lIns="0" tIns="0" rIns="0" bIns="0" rtlCol="0" anchor="t"/>
          <a:lstStyle/>
          <a:p>
            <a:pPr indent="0" marL="0">
              <a:buNone/>
            </a:pPr>
            <a:r>
              <a:rPr lang="en-US" sz="1200" b="1" spc="100" kern="0" dirty="0">
                <a:solidFill>
                  <a:srgbClr val="1E88E5"/>
                </a:solidFill>
              </a:rPr>
              <a:t>APPS</a:t>
            </a:r>
            <a:endParaRPr lang="en-US" sz="1200" dirty="0"/>
          </a:p>
        </p:txBody>
      </p:sp>
      <p:sp>
        <p:nvSpPr>
          <p:cNvPr id="9" name="Zone kit boundary"/>
          <p:cNvSpPr/>
          <p:nvPr/>
        </p:nvSpPr>
        <p:spPr>
          <a:xfrm>
            <a:off x="502920" y="1600200"/>
            <a:ext cx="2103120" cy="3337560"/>
          </a:xfrm>
          <a:prstGeom prst="roundRect">
            <a:avLst>
              <a:gd name="adj" fmla="val 4348"/>
            </a:avLst>
          </a:prstGeom>
          <a:solidFill>
            <a:srgbClr val="FFFFFF"/>
          </a:solidFill>
          <a:ln w="15875">
            <a:solidFill>
              <a:srgbClr val="2F6B4B"/>
            </a:solidFill>
            <a:prstDash val="dash"/>
          </a:ln>
        </p:spPr>
      </p:sp>
      <p:sp>
        <p:nvSpPr>
          <p:cNvPr id="10" name="Text 8"/>
          <p:cNvSpPr txBox="1"/>
          <p:nvPr/>
        </p:nvSpPr>
        <p:spPr>
          <a:xfrm>
            <a:off x="594360" y="1673352"/>
            <a:ext cx="1920240" cy="256032"/>
          </a:xfrm>
          <a:prstGeom prst="rect">
            <a:avLst/>
          </a:prstGeom>
          <a:noFill/>
          <a:ln/>
        </p:spPr>
        <p:txBody>
          <a:bodyPr wrap="square" lIns="0" tIns="0" rIns="0" bIns="0" rtlCol="0" anchor="t"/>
          <a:lstStyle/>
          <a:p>
            <a:pPr algn="ctr" indent="0" marL="0">
              <a:buNone/>
            </a:pPr>
            <a:r>
              <a:rPr lang="en-US" sz="1100" b="1" dirty="0">
                <a:solidFill>
                  <a:srgbClr val="2F6B4B"/>
                </a:solidFill>
              </a:rPr>
              <a:t>Zone kit · one per zone</a:t>
            </a:r>
            <a:endParaRPr lang="en-US" sz="1100" dirty="0"/>
          </a:p>
        </p:txBody>
      </p:sp>
      <p:sp>
        <p:nvSpPr>
          <p:cNvPr id="11" name="Soil probe"/>
          <p:cNvSpPr/>
          <p:nvPr/>
        </p:nvSpPr>
        <p:spPr>
          <a:xfrm>
            <a:off x="640080" y="2011680"/>
            <a:ext cx="868680" cy="822960"/>
          </a:xfrm>
          <a:prstGeom prst="roundRect">
            <a:avLst>
              <a:gd name="adj" fmla="val 8889"/>
            </a:avLst>
          </a:prstGeom>
          <a:solidFill>
            <a:srgbClr val="E6F0EA"/>
          </a:solidFill>
          <a:ln w="12700">
            <a:solidFill>
              <a:srgbClr val="2F6B4B"/>
            </a:solidFill>
            <a:prstDash val="solid"/>
          </a:ln>
        </p:spPr>
      </p:sp>
      <p:sp>
        <p:nvSpPr>
          <p:cNvPr id="12" name="Soil probe label"/>
          <p:cNvSpPr txBox="1"/>
          <p:nvPr/>
        </p:nvSpPr>
        <p:spPr>
          <a:xfrm>
            <a:off x="713232" y="2011680"/>
            <a:ext cx="722376" cy="822960"/>
          </a:xfrm>
          <a:prstGeom prst="rect">
            <a:avLst/>
          </a:prstGeom>
          <a:noFill/>
          <a:ln/>
        </p:spPr>
        <p:txBody>
          <a:bodyPr wrap="square" lIns="0" tIns="0" rIns="0" bIns="0" rtlCol="0" anchor="ctr"/>
          <a:lstStyle/>
          <a:p>
            <a:pPr algn="ctr" indent="0" marL="0">
              <a:buNone/>
            </a:pPr>
            <a:r>
              <a:rPr lang="en-US" sz="1300" b="1" dirty="0">
                <a:solidFill>
                  <a:srgbClr val="0F2A36"/>
                </a:solidFill>
              </a:rPr>
              <a:t>Soil probe</a:t>
            </a:r>
            <a:endParaRPr lang="en-US" sz="1300" dirty="0"/>
          </a:p>
          <a:p>
            <a:pPr algn="ctr" indent="0" marL="0">
              <a:buNone/>
            </a:pPr>
            <a:r>
              <a:rPr lang="en-US" sz="1100" dirty="0">
                <a:solidFill>
                  <a:srgbClr val="5B6B73"/>
                </a:solidFill>
              </a:rPr>
              <a:t>moisture</a:t>
            </a:r>
            <a:endParaRPr lang="en-US" sz="1300" dirty="0"/>
          </a:p>
        </p:txBody>
      </p:sp>
      <p:sp>
        <p:nvSpPr>
          <p:cNvPr id="13" name="DHT11"/>
          <p:cNvSpPr/>
          <p:nvPr/>
        </p:nvSpPr>
        <p:spPr>
          <a:xfrm>
            <a:off x="1600200" y="2011680"/>
            <a:ext cx="868680" cy="822960"/>
          </a:xfrm>
          <a:prstGeom prst="roundRect">
            <a:avLst>
              <a:gd name="adj" fmla="val 8889"/>
            </a:avLst>
          </a:prstGeom>
          <a:solidFill>
            <a:srgbClr val="E6F0EA"/>
          </a:solidFill>
          <a:ln w="12700">
            <a:solidFill>
              <a:srgbClr val="2F6B4B"/>
            </a:solidFill>
            <a:prstDash val="solid"/>
          </a:ln>
        </p:spPr>
      </p:sp>
      <p:sp>
        <p:nvSpPr>
          <p:cNvPr id="14" name="DHT11 label"/>
          <p:cNvSpPr txBox="1"/>
          <p:nvPr/>
        </p:nvSpPr>
        <p:spPr>
          <a:xfrm>
            <a:off x="1673352" y="2011680"/>
            <a:ext cx="722376" cy="822960"/>
          </a:xfrm>
          <a:prstGeom prst="rect">
            <a:avLst/>
          </a:prstGeom>
          <a:noFill/>
          <a:ln/>
        </p:spPr>
        <p:txBody>
          <a:bodyPr wrap="square" lIns="0" tIns="0" rIns="0" bIns="0" rtlCol="0" anchor="ctr"/>
          <a:lstStyle/>
          <a:p>
            <a:pPr algn="ctr" indent="0" marL="0">
              <a:buNone/>
            </a:pPr>
            <a:r>
              <a:rPr lang="en-US" sz="1300" b="1" dirty="0">
                <a:solidFill>
                  <a:srgbClr val="0F2A36"/>
                </a:solidFill>
              </a:rPr>
              <a:t>DHT11</a:t>
            </a:r>
            <a:endParaRPr lang="en-US" sz="1300" dirty="0"/>
          </a:p>
          <a:p>
            <a:pPr algn="ctr" indent="0" marL="0">
              <a:buNone/>
            </a:pPr>
            <a:r>
              <a:rPr lang="en-US" sz="1100" dirty="0">
                <a:solidFill>
                  <a:srgbClr val="5B6B73"/>
                </a:solidFill>
              </a:rPr>
              <a:t>temp · humidity</a:t>
            </a:r>
            <a:endParaRPr lang="en-US" sz="1300" dirty="0"/>
          </a:p>
        </p:txBody>
      </p:sp>
      <p:sp>
        <p:nvSpPr>
          <p:cNvPr id="15" name="ESP32"/>
          <p:cNvSpPr/>
          <p:nvPr/>
        </p:nvSpPr>
        <p:spPr>
          <a:xfrm>
            <a:off x="640080" y="3063240"/>
            <a:ext cx="1828800" cy="640080"/>
          </a:xfrm>
          <a:prstGeom prst="roundRect">
            <a:avLst>
              <a:gd name="adj" fmla="val 11429"/>
            </a:avLst>
          </a:prstGeom>
          <a:solidFill>
            <a:srgbClr val="FFFFFF"/>
          </a:solidFill>
          <a:ln w="12700">
            <a:solidFill>
              <a:srgbClr val="2F6B4B"/>
            </a:solidFill>
            <a:prstDash val="solid"/>
          </a:ln>
        </p:spPr>
      </p:sp>
      <p:sp>
        <p:nvSpPr>
          <p:cNvPr id="16" name="ESP32 label"/>
          <p:cNvSpPr txBox="1"/>
          <p:nvPr/>
        </p:nvSpPr>
        <p:spPr>
          <a:xfrm>
            <a:off x="713232" y="3063240"/>
            <a:ext cx="1682496" cy="640080"/>
          </a:xfrm>
          <a:prstGeom prst="rect">
            <a:avLst/>
          </a:prstGeom>
          <a:noFill/>
          <a:ln/>
        </p:spPr>
        <p:txBody>
          <a:bodyPr wrap="square" lIns="0" tIns="0" rIns="0" bIns="0" rtlCol="0" anchor="ctr"/>
          <a:lstStyle/>
          <a:p>
            <a:pPr algn="ctr" indent="0" marL="0">
              <a:buNone/>
            </a:pPr>
            <a:r>
              <a:rPr lang="en-US" sz="1300" b="1" dirty="0">
                <a:solidFill>
                  <a:srgbClr val="0F2A36"/>
                </a:solidFill>
              </a:rPr>
              <a:t>ESP32</a:t>
            </a:r>
            <a:endParaRPr lang="en-US" sz="1300" dirty="0"/>
          </a:p>
          <a:p>
            <a:pPr algn="ctr" indent="0" marL="0">
              <a:buNone/>
            </a:pPr>
            <a:r>
              <a:rPr lang="en-US" sz="1100" dirty="0">
                <a:solidFill>
                  <a:srgbClr val="5B6B73"/>
                </a:solidFill>
              </a:rPr>
              <a:t>firmware v1.4.0</a:t>
            </a:r>
            <a:endParaRPr lang="en-US" sz="1300" dirty="0"/>
          </a:p>
        </p:txBody>
      </p:sp>
      <p:sp>
        <p:nvSpPr>
          <p:cNvPr id="17" name="Relay"/>
          <p:cNvSpPr/>
          <p:nvPr/>
        </p:nvSpPr>
        <p:spPr>
          <a:xfrm>
            <a:off x="640080" y="3977640"/>
            <a:ext cx="841248" cy="685800"/>
          </a:xfrm>
          <a:prstGeom prst="roundRect">
            <a:avLst>
              <a:gd name="adj" fmla="val 10667"/>
            </a:avLst>
          </a:prstGeom>
          <a:solidFill>
            <a:srgbClr val="E6F0EA"/>
          </a:solidFill>
          <a:ln w="12700">
            <a:solidFill>
              <a:srgbClr val="2F6B4B"/>
            </a:solidFill>
            <a:prstDash val="solid"/>
          </a:ln>
        </p:spPr>
      </p:sp>
      <p:sp>
        <p:nvSpPr>
          <p:cNvPr id="18" name="Relay label"/>
          <p:cNvSpPr txBox="1"/>
          <p:nvPr/>
        </p:nvSpPr>
        <p:spPr>
          <a:xfrm>
            <a:off x="713232" y="3977640"/>
            <a:ext cx="694944" cy="685800"/>
          </a:xfrm>
          <a:prstGeom prst="rect">
            <a:avLst/>
          </a:prstGeom>
          <a:noFill/>
          <a:ln/>
        </p:spPr>
        <p:txBody>
          <a:bodyPr wrap="square" lIns="0" tIns="0" rIns="0" bIns="0" rtlCol="0" anchor="ctr"/>
          <a:lstStyle/>
          <a:p>
            <a:pPr algn="ctr" indent="0" marL="0">
              <a:buNone/>
            </a:pPr>
            <a:r>
              <a:rPr lang="en-US" sz="1300" b="1" dirty="0">
                <a:solidFill>
                  <a:srgbClr val="0F2A36"/>
                </a:solidFill>
              </a:rPr>
              <a:t>Relay</a:t>
            </a:r>
            <a:endParaRPr lang="en-US" sz="1300" dirty="0"/>
          </a:p>
        </p:txBody>
      </p:sp>
      <p:sp>
        <p:nvSpPr>
          <p:cNvPr id="19" name="Pump"/>
          <p:cNvSpPr/>
          <p:nvPr/>
        </p:nvSpPr>
        <p:spPr>
          <a:xfrm>
            <a:off x="1627632" y="3977640"/>
            <a:ext cx="841248" cy="685800"/>
          </a:xfrm>
          <a:prstGeom prst="roundRect">
            <a:avLst>
              <a:gd name="adj" fmla="val 10667"/>
            </a:avLst>
          </a:prstGeom>
          <a:solidFill>
            <a:srgbClr val="E6F0EA"/>
          </a:solidFill>
          <a:ln w="12700">
            <a:solidFill>
              <a:srgbClr val="2F6B4B"/>
            </a:solidFill>
            <a:prstDash val="solid"/>
          </a:ln>
        </p:spPr>
      </p:sp>
      <p:sp>
        <p:nvSpPr>
          <p:cNvPr id="20" name="Pump label"/>
          <p:cNvSpPr txBox="1"/>
          <p:nvPr/>
        </p:nvSpPr>
        <p:spPr>
          <a:xfrm>
            <a:off x="1700784" y="3977640"/>
            <a:ext cx="694944" cy="685800"/>
          </a:xfrm>
          <a:prstGeom prst="rect">
            <a:avLst/>
          </a:prstGeom>
          <a:noFill/>
          <a:ln/>
        </p:spPr>
        <p:txBody>
          <a:bodyPr wrap="square" lIns="0" tIns="0" rIns="0" bIns="0" rtlCol="0" anchor="ctr"/>
          <a:lstStyle/>
          <a:p>
            <a:pPr algn="ctr" indent="0" marL="0">
              <a:buNone/>
            </a:pPr>
            <a:r>
              <a:rPr lang="en-US" sz="1300" b="1" dirty="0">
                <a:solidFill>
                  <a:srgbClr val="0F2A36"/>
                </a:solidFill>
              </a:rPr>
              <a:t>Pump</a:t>
            </a:r>
            <a:endParaRPr lang="en-US" sz="1300" dirty="0"/>
          </a:p>
        </p:txBody>
      </p:sp>
      <p:sp>
        <p:nvSpPr>
          <p:cNvPr id="21" name="Shape 19"/>
          <p:cNvSpPr/>
          <p:nvPr/>
        </p:nvSpPr>
        <p:spPr>
          <a:xfrm>
            <a:off x="1069848" y="2834640"/>
            <a:ext cx="914" cy="228600"/>
          </a:xfrm>
          <a:prstGeom prst="line">
            <a:avLst/>
          </a:prstGeom>
          <a:noFill/>
          <a:ln w="19050">
            <a:solidFill>
              <a:srgbClr val="2F6B4B"/>
            </a:solidFill>
            <a:prstDash val="solid"/>
            <a:tailEnd type="triangle"/>
          </a:ln>
        </p:spPr>
      </p:sp>
      <p:sp>
        <p:nvSpPr>
          <p:cNvPr id="22" name="Shape 20"/>
          <p:cNvSpPr/>
          <p:nvPr/>
        </p:nvSpPr>
        <p:spPr>
          <a:xfrm>
            <a:off x="2029968" y="2834640"/>
            <a:ext cx="914" cy="228600"/>
          </a:xfrm>
          <a:prstGeom prst="line">
            <a:avLst/>
          </a:prstGeom>
          <a:noFill/>
          <a:ln w="19050">
            <a:solidFill>
              <a:srgbClr val="2F6B4B"/>
            </a:solidFill>
            <a:prstDash val="solid"/>
            <a:tailEnd type="triangle"/>
          </a:ln>
        </p:spPr>
      </p:sp>
      <p:sp>
        <p:nvSpPr>
          <p:cNvPr id="23" name="Shape 21"/>
          <p:cNvSpPr/>
          <p:nvPr/>
        </p:nvSpPr>
        <p:spPr>
          <a:xfrm>
            <a:off x="1060704" y="3703320"/>
            <a:ext cx="914" cy="274320"/>
          </a:xfrm>
          <a:prstGeom prst="line">
            <a:avLst/>
          </a:prstGeom>
          <a:noFill/>
          <a:ln w="19050">
            <a:solidFill>
              <a:srgbClr val="1E88E5"/>
            </a:solidFill>
            <a:prstDash val="solid"/>
            <a:tailEnd type="triangle"/>
          </a:ln>
        </p:spPr>
      </p:sp>
      <p:sp>
        <p:nvSpPr>
          <p:cNvPr id="24" name="Shape 22"/>
          <p:cNvSpPr/>
          <p:nvPr/>
        </p:nvSpPr>
        <p:spPr>
          <a:xfrm>
            <a:off x="1481328" y="4315968"/>
            <a:ext cx="146304" cy="914"/>
          </a:xfrm>
          <a:prstGeom prst="line">
            <a:avLst/>
          </a:prstGeom>
          <a:noFill/>
          <a:ln w="19050">
            <a:solidFill>
              <a:srgbClr val="1E88E5"/>
            </a:solidFill>
            <a:prstDash val="solid"/>
            <a:tailEnd type="triangle"/>
          </a:ln>
        </p:spPr>
      </p:sp>
      <p:sp>
        <p:nvSpPr>
          <p:cNvPr id="25" name="Wi-Fi"/>
          <p:cNvSpPr/>
          <p:nvPr/>
        </p:nvSpPr>
        <p:spPr>
          <a:xfrm>
            <a:off x="2834640" y="1600200"/>
            <a:ext cx="1874520" cy="685800"/>
          </a:xfrm>
          <a:prstGeom prst="roundRect">
            <a:avLst>
              <a:gd name="adj" fmla="val 10667"/>
            </a:avLst>
          </a:prstGeom>
          <a:solidFill>
            <a:srgbClr val="E3F4F5"/>
          </a:solidFill>
          <a:ln w="12700">
            <a:solidFill>
              <a:srgbClr val="42C3C7"/>
            </a:solidFill>
            <a:prstDash val="solid"/>
          </a:ln>
        </p:spPr>
      </p:sp>
      <p:sp>
        <p:nvSpPr>
          <p:cNvPr id="26" name="Wi-Fi label"/>
          <p:cNvSpPr txBox="1"/>
          <p:nvPr/>
        </p:nvSpPr>
        <p:spPr>
          <a:xfrm>
            <a:off x="2907792" y="1600200"/>
            <a:ext cx="1728216" cy="685800"/>
          </a:xfrm>
          <a:prstGeom prst="rect">
            <a:avLst/>
          </a:prstGeom>
          <a:noFill/>
          <a:ln/>
        </p:spPr>
        <p:txBody>
          <a:bodyPr wrap="square" lIns="0" tIns="0" rIns="0" bIns="0" rtlCol="0" anchor="ctr"/>
          <a:lstStyle/>
          <a:p>
            <a:pPr algn="ctr" indent="0" marL="0">
              <a:buNone/>
            </a:pPr>
            <a:r>
              <a:rPr lang="en-US" sz="1300" b="1" dirty="0">
                <a:solidFill>
                  <a:srgbClr val="0F2A36"/>
                </a:solidFill>
              </a:rPr>
              <a:t>Wi-Fi</a:t>
            </a:r>
            <a:endParaRPr lang="en-US" sz="1300" dirty="0"/>
          </a:p>
          <a:p>
            <a:pPr algn="ctr" indent="0" marL="0">
              <a:buNone/>
            </a:pPr>
            <a:r>
              <a:rPr lang="en-US" sz="1100" dirty="0">
                <a:solidFill>
                  <a:srgbClr val="5B6B73"/>
                </a:solidFill>
              </a:rPr>
              <a:t>site router / hotspot</a:t>
            </a:r>
            <a:endParaRPr lang="en-US" sz="1300" dirty="0"/>
          </a:p>
        </p:txBody>
      </p:sp>
      <p:sp>
        <p:nvSpPr>
          <p:cNvPr id="27" name="HiveMQ Cloud"/>
          <p:cNvSpPr/>
          <p:nvPr/>
        </p:nvSpPr>
        <p:spPr>
          <a:xfrm>
            <a:off x="2834640" y="2514600"/>
            <a:ext cx="1874520" cy="1097280"/>
          </a:xfrm>
          <a:prstGeom prst="roundRect">
            <a:avLst>
              <a:gd name="adj" fmla="val 6667"/>
            </a:avLst>
          </a:prstGeom>
          <a:solidFill>
            <a:srgbClr val="FFFFFF"/>
          </a:solidFill>
          <a:ln w="12700">
            <a:solidFill>
              <a:srgbClr val="42C3C7"/>
            </a:solidFill>
            <a:prstDash val="solid"/>
          </a:ln>
        </p:spPr>
      </p:sp>
      <p:sp>
        <p:nvSpPr>
          <p:cNvPr id="28" name="HiveMQ Cloud label"/>
          <p:cNvSpPr txBox="1"/>
          <p:nvPr/>
        </p:nvSpPr>
        <p:spPr>
          <a:xfrm>
            <a:off x="2907792" y="2514600"/>
            <a:ext cx="1728216" cy="1097280"/>
          </a:xfrm>
          <a:prstGeom prst="rect">
            <a:avLst/>
          </a:prstGeom>
          <a:noFill/>
          <a:ln/>
        </p:spPr>
        <p:txBody>
          <a:bodyPr wrap="square" lIns="0" tIns="0" rIns="0" bIns="0" rtlCol="0" anchor="ctr"/>
          <a:lstStyle/>
          <a:p>
            <a:pPr algn="ctr" indent="0" marL="0">
              <a:buNone/>
            </a:pPr>
            <a:r>
              <a:rPr lang="en-US" sz="1300" b="1" dirty="0">
                <a:solidFill>
                  <a:srgbClr val="0F2A36"/>
                </a:solidFill>
              </a:rPr>
              <a:t>HiveMQ Cloud</a:t>
            </a:r>
            <a:endParaRPr lang="en-US" sz="1300" dirty="0"/>
          </a:p>
          <a:p>
            <a:pPr algn="ctr" indent="0" marL="0">
              <a:buNone/>
            </a:pPr>
            <a:r>
              <a:rPr lang="en-US" sz="1100" dirty="0">
                <a:solidFill>
                  <a:srgbClr val="5B6B73"/>
                </a:solidFill>
              </a:rPr>
              <a:t>MQTT over TLS · readings in, commands out</a:t>
            </a:r>
            <a:endParaRPr lang="en-US" sz="1300" dirty="0"/>
          </a:p>
        </p:txBody>
      </p:sp>
      <p:sp>
        <p:nvSpPr>
          <p:cNvPr id="29" name="HTTPS"/>
          <p:cNvSpPr/>
          <p:nvPr/>
        </p:nvSpPr>
        <p:spPr>
          <a:xfrm>
            <a:off x="2834640" y="3794760"/>
            <a:ext cx="1874520" cy="1143000"/>
          </a:xfrm>
          <a:prstGeom prst="roundRect">
            <a:avLst>
              <a:gd name="adj" fmla="val 6400"/>
            </a:avLst>
          </a:prstGeom>
          <a:solidFill>
            <a:srgbClr val="E3F4F5"/>
          </a:solidFill>
          <a:ln w="12700">
            <a:solidFill>
              <a:srgbClr val="42C3C7"/>
            </a:solidFill>
            <a:prstDash val="solid"/>
          </a:ln>
        </p:spPr>
      </p:sp>
      <p:sp>
        <p:nvSpPr>
          <p:cNvPr id="30" name="HTTPS label"/>
          <p:cNvSpPr txBox="1"/>
          <p:nvPr/>
        </p:nvSpPr>
        <p:spPr>
          <a:xfrm>
            <a:off x="2907792" y="3794760"/>
            <a:ext cx="1728216" cy="1143000"/>
          </a:xfrm>
          <a:prstGeom prst="rect">
            <a:avLst/>
          </a:prstGeom>
          <a:noFill/>
          <a:ln/>
        </p:spPr>
        <p:txBody>
          <a:bodyPr wrap="square" lIns="0" tIns="0" rIns="0" bIns="0" rtlCol="0" anchor="ctr"/>
          <a:lstStyle/>
          <a:p>
            <a:pPr algn="ctr" indent="0" marL="0">
              <a:buNone/>
            </a:pPr>
            <a:r>
              <a:rPr lang="en-US" sz="1300" b="1" dirty="0">
                <a:solidFill>
                  <a:srgbClr val="0F2A36"/>
                </a:solidFill>
              </a:rPr>
              <a:t>HTTPS</a:t>
            </a:r>
            <a:endParaRPr lang="en-US" sz="1300" dirty="0"/>
          </a:p>
          <a:p>
            <a:pPr algn="ctr" indent="0" marL="0">
              <a:buNone/>
            </a:pPr>
            <a:r>
              <a:rPr lang="en-US" sz="1100" dirty="0">
                <a:solidFill>
                  <a:srgbClr val="5B6B73"/>
                </a:solidFill>
              </a:rPr>
              <a:t>enrol kit · log irrigation events · confirm commands</a:t>
            </a:r>
            <a:endParaRPr lang="en-US" sz="1300" dirty="0"/>
          </a:p>
        </p:txBody>
      </p:sp>
      <p:sp>
        <p:nvSpPr>
          <p:cNvPr id="31" name="AgroFlow.Api boundary"/>
          <p:cNvSpPr/>
          <p:nvPr/>
        </p:nvSpPr>
        <p:spPr>
          <a:xfrm>
            <a:off x="4937760" y="1600200"/>
            <a:ext cx="2514600" cy="3337560"/>
          </a:xfrm>
          <a:prstGeom prst="roundRect">
            <a:avLst>
              <a:gd name="adj" fmla="val 3636"/>
            </a:avLst>
          </a:prstGeom>
          <a:solidFill>
            <a:srgbClr val="FFFFFF"/>
          </a:solidFill>
          <a:ln w="15875">
            <a:solidFill>
              <a:srgbClr val="168F99"/>
            </a:solidFill>
            <a:prstDash val="solid"/>
          </a:ln>
        </p:spPr>
      </p:sp>
      <p:sp>
        <p:nvSpPr>
          <p:cNvPr id="32" name="Text 30"/>
          <p:cNvSpPr txBox="1"/>
          <p:nvPr/>
        </p:nvSpPr>
        <p:spPr>
          <a:xfrm>
            <a:off x="5029200" y="1673352"/>
            <a:ext cx="2331720" cy="502920"/>
          </a:xfrm>
          <a:prstGeom prst="rect">
            <a:avLst/>
          </a:prstGeom>
          <a:noFill/>
          <a:ln/>
        </p:spPr>
        <p:txBody>
          <a:bodyPr wrap="square" lIns="0" tIns="0" rIns="0" bIns="0" rtlCol="0" anchor="t"/>
          <a:lstStyle/>
          <a:p>
            <a:pPr algn="ctr" indent="0" marL="0">
              <a:buNone/>
            </a:pPr>
            <a:r>
              <a:rPr lang="en-US" sz="1300" b="1" dirty="0">
                <a:solidFill>
                  <a:srgbClr val="0F2A36"/>
                </a:solidFill>
              </a:rPr>
              <a:t>AgroFlow.Api</a:t>
            </a:r>
            <a:endParaRPr lang="en-US" sz="1300" dirty="0"/>
          </a:p>
          <a:p>
            <a:pPr algn="ctr" indent="0" marL="0">
              <a:buNone/>
            </a:pPr>
            <a:r>
              <a:rPr lang="en-US" sz="1000" dirty="0">
                <a:solidFill>
                  <a:srgbClr val="5B6B73"/>
                </a:solidFill>
              </a:rPr>
              <a:t>ASP.NET Core (.NET 8) · Docker on Railway</a:t>
            </a:r>
            <a:endParaRPr lang="en-US" sz="1300" dirty="0"/>
          </a:p>
        </p:txBody>
      </p:sp>
      <p:sp>
        <p:nvSpPr>
          <p:cNvPr id="33" name="API: Sensor ingestion + zone health"/>
          <p:cNvSpPr/>
          <p:nvPr/>
        </p:nvSpPr>
        <p:spPr>
          <a:xfrm>
            <a:off x="5074920" y="2194560"/>
            <a:ext cx="2240280" cy="438912"/>
          </a:xfrm>
          <a:prstGeom prst="roundRect">
            <a:avLst>
              <a:gd name="adj" fmla="val 16667"/>
            </a:avLst>
          </a:prstGeom>
          <a:solidFill>
            <a:srgbClr val="E3F4F5"/>
          </a:solidFill>
          <a:ln w="12700">
            <a:solidFill>
              <a:srgbClr val="168F99"/>
            </a:solidFill>
            <a:prstDash val="solid"/>
          </a:ln>
        </p:spPr>
      </p:sp>
      <p:sp>
        <p:nvSpPr>
          <p:cNvPr id="34" name="API: Sensor ingestion + zone health label"/>
          <p:cNvSpPr txBox="1"/>
          <p:nvPr/>
        </p:nvSpPr>
        <p:spPr>
          <a:xfrm>
            <a:off x="5148072" y="2194560"/>
            <a:ext cx="2093976" cy="438912"/>
          </a:xfrm>
          <a:prstGeom prst="rect">
            <a:avLst/>
          </a:prstGeom>
          <a:noFill/>
          <a:ln/>
        </p:spPr>
        <p:txBody>
          <a:bodyPr wrap="square" lIns="0" tIns="0" rIns="0" bIns="0" rtlCol="0" anchor="ctr"/>
          <a:lstStyle/>
          <a:p>
            <a:pPr algn="ctr" indent="0" marL="0">
              <a:buNone/>
            </a:pPr>
            <a:r>
              <a:rPr lang="en-US" sz="1300" b="1" dirty="0">
                <a:solidFill>
                  <a:srgbClr val="0F2A36"/>
                </a:solidFill>
              </a:rPr>
              <a:t>Sensor ingestion + zone health</a:t>
            </a:r>
            <a:endParaRPr lang="en-US" sz="1300" dirty="0"/>
          </a:p>
        </p:txBody>
      </p:sp>
      <p:sp>
        <p:nvSpPr>
          <p:cNvPr id="35" name="API: Auto-irrigation decision"/>
          <p:cNvSpPr/>
          <p:nvPr/>
        </p:nvSpPr>
        <p:spPr>
          <a:xfrm>
            <a:off x="5074920" y="2724912"/>
            <a:ext cx="2240280" cy="438912"/>
          </a:xfrm>
          <a:prstGeom prst="roundRect">
            <a:avLst>
              <a:gd name="adj" fmla="val 16667"/>
            </a:avLst>
          </a:prstGeom>
          <a:solidFill>
            <a:srgbClr val="E3F4F5"/>
          </a:solidFill>
          <a:ln w="12700">
            <a:solidFill>
              <a:srgbClr val="168F99"/>
            </a:solidFill>
            <a:prstDash val="solid"/>
          </a:ln>
        </p:spPr>
      </p:sp>
      <p:sp>
        <p:nvSpPr>
          <p:cNvPr id="36" name="API: Auto-irrigation decision label"/>
          <p:cNvSpPr txBox="1"/>
          <p:nvPr/>
        </p:nvSpPr>
        <p:spPr>
          <a:xfrm>
            <a:off x="5148072" y="2724912"/>
            <a:ext cx="2093976" cy="438912"/>
          </a:xfrm>
          <a:prstGeom prst="rect">
            <a:avLst/>
          </a:prstGeom>
          <a:noFill/>
          <a:ln/>
        </p:spPr>
        <p:txBody>
          <a:bodyPr wrap="square" lIns="0" tIns="0" rIns="0" bIns="0" rtlCol="0" anchor="ctr"/>
          <a:lstStyle/>
          <a:p>
            <a:pPr algn="ctr" indent="0" marL="0">
              <a:buNone/>
            </a:pPr>
            <a:r>
              <a:rPr lang="en-US" sz="1300" b="1" dirty="0">
                <a:solidFill>
                  <a:srgbClr val="0F2A36"/>
                </a:solidFill>
              </a:rPr>
              <a:t>Auto-irrigation decision</a:t>
            </a:r>
            <a:endParaRPr lang="en-US" sz="1300" dirty="0"/>
          </a:p>
        </p:txBody>
      </p:sp>
      <p:sp>
        <p:nvSpPr>
          <p:cNvPr id="37" name="API: FAO-56 advice engine"/>
          <p:cNvSpPr/>
          <p:nvPr/>
        </p:nvSpPr>
        <p:spPr>
          <a:xfrm>
            <a:off x="5074920" y="3255264"/>
            <a:ext cx="2240280" cy="438912"/>
          </a:xfrm>
          <a:prstGeom prst="roundRect">
            <a:avLst>
              <a:gd name="adj" fmla="val 16667"/>
            </a:avLst>
          </a:prstGeom>
          <a:solidFill>
            <a:srgbClr val="E3F4F5"/>
          </a:solidFill>
          <a:ln w="12700">
            <a:solidFill>
              <a:srgbClr val="168F99"/>
            </a:solidFill>
            <a:prstDash val="solid"/>
          </a:ln>
        </p:spPr>
      </p:sp>
      <p:sp>
        <p:nvSpPr>
          <p:cNvPr id="38" name="API: FAO-56 advice engine label"/>
          <p:cNvSpPr txBox="1"/>
          <p:nvPr/>
        </p:nvSpPr>
        <p:spPr>
          <a:xfrm>
            <a:off x="5148072" y="3255264"/>
            <a:ext cx="2093976" cy="438912"/>
          </a:xfrm>
          <a:prstGeom prst="rect">
            <a:avLst/>
          </a:prstGeom>
          <a:noFill/>
          <a:ln/>
        </p:spPr>
        <p:txBody>
          <a:bodyPr wrap="square" lIns="0" tIns="0" rIns="0" bIns="0" rtlCol="0" anchor="ctr"/>
          <a:lstStyle/>
          <a:p>
            <a:pPr algn="ctr" indent="0" marL="0">
              <a:buNone/>
            </a:pPr>
            <a:r>
              <a:rPr lang="en-US" sz="1300" b="1" dirty="0">
                <a:solidFill>
                  <a:srgbClr val="0F2A36"/>
                </a:solidFill>
              </a:rPr>
              <a:t>FAO-56 advice engine</a:t>
            </a:r>
            <a:endParaRPr lang="en-US" sz="1300" dirty="0"/>
          </a:p>
        </p:txBody>
      </p:sp>
      <p:sp>
        <p:nvSpPr>
          <p:cNvPr id="39" name="API: Command bridge → MQTT"/>
          <p:cNvSpPr/>
          <p:nvPr/>
        </p:nvSpPr>
        <p:spPr>
          <a:xfrm>
            <a:off x="5074920" y="3785616"/>
            <a:ext cx="2240280" cy="438912"/>
          </a:xfrm>
          <a:prstGeom prst="roundRect">
            <a:avLst>
              <a:gd name="adj" fmla="val 16667"/>
            </a:avLst>
          </a:prstGeom>
          <a:solidFill>
            <a:srgbClr val="E3F4F5"/>
          </a:solidFill>
          <a:ln w="12700">
            <a:solidFill>
              <a:srgbClr val="168F99"/>
            </a:solidFill>
            <a:prstDash val="solid"/>
          </a:ln>
        </p:spPr>
      </p:sp>
      <p:sp>
        <p:nvSpPr>
          <p:cNvPr id="40" name="API: Command bridge → MQTT label"/>
          <p:cNvSpPr txBox="1"/>
          <p:nvPr/>
        </p:nvSpPr>
        <p:spPr>
          <a:xfrm>
            <a:off x="5148072" y="3785616"/>
            <a:ext cx="2093976" cy="438912"/>
          </a:xfrm>
          <a:prstGeom prst="rect">
            <a:avLst/>
          </a:prstGeom>
          <a:noFill/>
          <a:ln/>
        </p:spPr>
        <p:txBody>
          <a:bodyPr wrap="square" lIns="0" tIns="0" rIns="0" bIns="0" rtlCol="0" anchor="ctr"/>
          <a:lstStyle/>
          <a:p>
            <a:pPr algn="ctr" indent="0" marL="0">
              <a:buNone/>
            </a:pPr>
            <a:r>
              <a:rPr lang="en-US" sz="1300" b="1" dirty="0">
                <a:solidFill>
                  <a:srgbClr val="0F2A36"/>
                </a:solidFill>
              </a:rPr>
              <a:t>Command bridge → MQTT</a:t>
            </a:r>
            <a:endParaRPr lang="en-US" sz="1300" dirty="0"/>
          </a:p>
        </p:txBody>
      </p:sp>
      <p:sp>
        <p:nvSpPr>
          <p:cNvPr id="41" name="API: Telegram notifications"/>
          <p:cNvSpPr/>
          <p:nvPr/>
        </p:nvSpPr>
        <p:spPr>
          <a:xfrm>
            <a:off x="5074920" y="4315968"/>
            <a:ext cx="2240280" cy="438912"/>
          </a:xfrm>
          <a:prstGeom prst="roundRect">
            <a:avLst>
              <a:gd name="adj" fmla="val 16667"/>
            </a:avLst>
          </a:prstGeom>
          <a:solidFill>
            <a:srgbClr val="E3F4F5"/>
          </a:solidFill>
          <a:ln w="12700">
            <a:solidFill>
              <a:srgbClr val="168F99"/>
            </a:solidFill>
            <a:prstDash val="solid"/>
          </a:ln>
        </p:spPr>
      </p:sp>
      <p:sp>
        <p:nvSpPr>
          <p:cNvPr id="42" name="API: Telegram notifications label"/>
          <p:cNvSpPr txBox="1"/>
          <p:nvPr/>
        </p:nvSpPr>
        <p:spPr>
          <a:xfrm>
            <a:off x="5148072" y="4315968"/>
            <a:ext cx="2093976" cy="438912"/>
          </a:xfrm>
          <a:prstGeom prst="rect">
            <a:avLst/>
          </a:prstGeom>
          <a:noFill/>
          <a:ln/>
        </p:spPr>
        <p:txBody>
          <a:bodyPr wrap="square" lIns="0" tIns="0" rIns="0" bIns="0" rtlCol="0" anchor="ctr"/>
          <a:lstStyle/>
          <a:p>
            <a:pPr algn="ctr" indent="0" marL="0">
              <a:buNone/>
            </a:pPr>
            <a:r>
              <a:rPr lang="en-US" sz="1300" b="1" dirty="0">
                <a:solidFill>
                  <a:srgbClr val="0F2A36"/>
                </a:solidFill>
              </a:rPr>
              <a:t>Telegram notifications</a:t>
            </a:r>
            <a:endParaRPr lang="en-US" sz="1300" dirty="0"/>
          </a:p>
        </p:txBody>
      </p:sp>
      <p:sp>
        <p:nvSpPr>
          <p:cNvPr id="43" name="Open-Meteo"/>
          <p:cNvSpPr/>
          <p:nvPr/>
        </p:nvSpPr>
        <p:spPr>
          <a:xfrm>
            <a:off x="4937760" y="5120640"/>
            <a:ext cx="1188720" cy="548640"/>
          </a:xfrm>
          <a:prstGeom prst="roundRect">
            <a:avLst>
              <a:gd name="adj" fmla="val 13333"/>
            </a:avLst>
          </a:prstGeom>
          <a:solidFill>
            <a:srgbClr val="F2F7F6"/>
          </a:solidFill>
          <a:ln w="12700">
            <a:solidFill>
              <a:srgbClr val="5B6B73"/>
            </a:solidFill>
            <a:prstDash val="solid"/>
          </a:ln>
        </p:spPr>
      </p:sp>
      <p:sp>
        <p:nvSpPr>
          <p:cNvPr id="44" name="Open-Meteo label"/>
          <p:cNvSpPr txBox="1"/>
          <p:nvPr/>
        </p:nvSpPr>
        <p:spPr>
          <a:xfrm>
            <a:off x="5010912" y="5120640"/>
            <a:ext cx="1042416" cy="548640"/>
          </a:xfrm>
          <a:prstGeom prst="rect">
            <a:avLst/>
          </a:prstGeom>
          <a:noFill/>
          <a:ln/>
        </p:spPr>
        <p:txBody>
          <a:bodyPr wrap="square" lIns="0" tIns="0" rIns="0" bIns="0" rtlCol="0" anchor="ctr"/>
          <a:lstStyle/>
          <a:p>
            <a:pPr algn="ctr" indent="0" marL="0">
              <a:buNone/>
            </a:pPr>
            <a:r>
              <a:rPr lang="en-US" sz="1300" b="1" dirty="0">
                <a:solidFill>
                  <a:srgbClr val="0F2A36"/>
                </a:solidFill>
              </a:rPr>
              <a:t>Open-Meteo</a:t>
            </a:r>
            <a:endParaRPr lang="en-US" sz="1300" dirty="0"/>
          </a:p>
          <a:p>
            <a:pPr algn="ctr" indent="0" marL="0">
              <a:buNone/>
            </a:pPr>
            <a:r>
              <a:rPr lang="en-US" sz="1100" dirty="0">
                <a:solidFill>
                  <a:srgbClr val="5B6B73"/>
                </a:solidFill>
              </a:rPr>
              <a:t>weather</a:t>
            </a:r>
            <a:endParaRPr lang="en-US" sz="1300" dirty="0"/>
          </a:p>
        </p:txBody>
      </p:sp>
      <p:sp>
        <p:nvSpPr>
          <p:cNvPr id="45" name="Telegram"/>
          <p:cNvSpPr/>
          <p:nvPr/>
        </p:nvSpPr>
        <p:spPr>
          <a:xfrm>
            <a:off x="6263640" y="5120640"/>
            <a:ext cx="1188720" cy="548640"/>
          </a:xfrm>
          <a:prstGeom prst="roundRect">
            <a:avLst>
              <a:gd name="adj" fmla="val 13333"/>
            </a:avLst>
          </a:prstGeom>
          <a:solidFill>
            <a:srgbClr val="F2F7F6"/>
          </a:solidFill>
          <a:ln w="12700">
            <a:solidFill>
              <a:srgbClr val="5B6B73"/>
            </a:solidFill>
            <a:prstDash val="solid"/>
          </a:ln>
        </p:spPr>
      </p:sp>
      <p:sp>
        <p:nvSpPr>
          <p:cNvPr id="46" name="Telegram label"/>
          <p:cNvSpPr txBox="1"/>
          <p:nvPr/>
        </p:nvSpPr>
        <p:spPr>
          <a:xfrm>
            <a:off x="6336792" y="5120640"/>
            <a:ext cx="1042416" cy="548640"/>
          </a:xfrm>
          <a:prstGeom prst="rect">
            <a:avLst/>
          </a:prstGeom>
          <a:noFill/>
          <a:ln/>
        </p:spPr>
        <p:txBody>
          <a:bodyPr wrap="square" lIns="0" tIns="0" rIns="0" bIns="0" rtlCol="0" anchor="ctr"/>
          <a:lstStyle/>
          <a:p>
            <a:pPr algn="ctr" indent="0" marL="0">
              <a:buNone/>
            </a:pPr>
            <a:r>
              <a:rPr lang="en-US" sz="1300" b="1" dirty="0">
                <a:solidFill>
                  <a:srgbClr val="0F2A36"/>
                </a:solidFill>
              </a:rPr>
              <a:t>Telegram</a:t>
            </a:r>
            <a:endParaRPr lang="en-US" sz="1300" dirty="0"/>
          </a:p>
          <a:p>
            <a:pPr algn="ctr" indent="0" marL="0">
              <a:buNone/>
            </a:pPr>
            <a:r>
              <a:rPr lang="en-US" sz="1100" dirty="0">
                <a:solidFill>
                  <a:srgbClr val="5B6B73"/>
                </a:solidFill>
              </a:rPr>
              <a:t>Bot API</a:t>
            </a:r>
            <a:endParaRPr lang="en-US" sz="1300" dirty="0"/>
          </a:p>
        </p:txBody>
      </p:sp>
      <p:sp>
        <p:nvSpPr>
          <p:cNvPr id="47" name="Shape 45"/>
          <p:cNvSpPr/>
          <p:nvPr/>
        </p:nvSpPr>
        <p:spPr>
          <a:xfrm flipV="1">
            <a:off x="5532120" y="4956048"/>
            <a:ext cx="914" cy="164592"/>
          </a:xfrm>
          <a:prstGeom prst="line">
            <a:avLst/>
          </a:prstGeom>
          <a:noFill/>
          <a:ln w="19050">
            <a:solidFill>
              <a:srgbClr val="5B6B73"/>
            </a:solidFill>
            <a:prstDash val="solid"/>
            <a:tailEnd type="triangle"/>
          </a:ln>
        </p:spPr>
      </p:sp>
      <p:sp>
        <p:nvSpPr>
          <p:cNvPr id="48" name="Shape 46"/>
          <p:cNvSpPr/>
          <p:nvPr/>
        </p:nvSpPr>
        <p:spPr>
          <a:xfrm>
            <a:off x="6858000" y="4956048"/>
            <a:ext cx="914" cy="164592"/>
          </a:xfrm>
          <a:prstGeom prst="line">
            <a:avLst/>
          </a:prstGeom>
          <a:noFill/>
          <a:ln w="19050">
            <a:solidFill>
              <a:srgbClr val="5B6B73"/>
            </a:solidFill>
            <a:prstDash val="solid"/>
            <a:tailEnd type="triangle"/>
          </a:ln>
        </p:spPr>
      </p:sp>
      <p:sp>
        <p:nvSpPr>
          <p:cNvPr id="49" name="Supabase"/>
          <p:cNvSpPr/>
          <p:nvPr/>
        </p:nvSpPr>
        <p:spPr>
          <a:xfrm>
            <a:off x="7680960" y="1600200"/>
            <a:ext cx="1737360" cy="3337560"/>
          </a:xfrm>
          <a:prstGeom prst="roundRect">
            <a:avLst>
              <a:gd name="adj" fmla="val 4211"/>
            </a:avLst>
          </a:prstGeom>
          <a:solidFill>
            <a:srgbClr val="E6F0EA"/>
          </a:solidFill>
          <a:ln w="12700">
            <a:solidFill>
              <a:srgbClr val="184D35"/>
            </a:solidFill>
            <a:prstDash val="solid"/>
          </a:ln>
        </p:spPr>
      </p:sp>
      <p:sp>
        <p:nvSpPr>
          <p:cNvPr id="50" name="Supabase label"/>
          <p:cNvSpPr txBox="1"/>
          <p:nvPr/>
        </p:nvSpPr>
        <p:spPr>
          <a:xfrm>
            <a:off x="7754112" y="1600200"/>
            <a:ext cx="1591056" cy="3337560"/>
          </a:xfrm>
          <a:prstGeom prst="rect">
            <a:avLst/>
          </a:prstGeom>
          <a:noFill/>
          <a:ln/>
        </p:spPr>
        <p:txBody>
          <a:bodyPr wrap="square" lIns="0" tIns="0" rIns="0" bIns="0" rtlCol="0" anchor="ctr"/>
          <a:lstStyle/>
          <a:p>
            <a:pPr algn="ctr" indent="0" marL="0">
              <a:buNone/>
            </a:pPr>
            <a:r>
              <a:rPr lang="en-US" sz="1300" b="1" dirty="0">
                <a:solidFill>
                  <a:srgbClr val="0F2A36"/>
                </a:solidFill>
              </a:rPr>
              <a:t>Supabase</a:t>
            </a:r>
            <a:endParaRPr lang="en-US" sz="1300" dirty="0"/>
          </a:p>
          <a:p>
            <a:pPr algn="ctr" indent="0" marL="0">
              <a:buNone/>
            </a:pPr>
            <a:r>
              <a:rPr lang="en-US" sz="1100" dirty="0">
                <a:solidFill>
                  <a:srgbClr val="5B6B73"/>
                </a:solidFill>
              </a:rPr>
              <a:t>PostgreSQL</a:t>
            </a:r>
            <a:endParaRPr lang="en-US" sz="1300" dirty="0"/>
          </a:p>
          <a:p>
            <a:pPr algn="ctr" indent="0" marL="0">
              <a:buNone/>
            </a:pPr>
            <a:r>
              <a:rPr lang="en-US" sz="1100" dirty="0">
                <a:solidFill>
                  <a:srgbClr val="5B6B73"/>
                </a:solidFill>
              </a:rPr>
              <a:t>Auth</a:t>
            </a:r>
            <a:endParaRPr lang="en-US" sz="1300" dirty="0"/>
          </a:p>
          <a:p>
            <a:pPr algn="ctr" indent="0" marL="0">
              <a:buNone/>
            </a:pPr>
            <a:r>
              <a:rPr lang="en-US" sz="1100" dirty="0">
                <a:solidFill>
                  <a:srgbClr val="5B6B73"/>
                </a:solidFill>
              </a:rPr>
              <a:t>Row Level Security</a:t>
            </a:r>
            <a:endParaRPr lang="en-US" sz="1300" dirty="0"/>
          </a:p>
        </p:txBody>
      </p:sp>
      <p:sp>
        <p:nvSpPr>
          <p:cNvPr id="51" name="Farmer app"/>
          <p:cNvSpPr/>
          <p:nvPr/>
        </p:nvSpPr>
        <p:spPr>
          <a:xfrm>
            <a:off x="9646920" y="1600200"/>
            <a:ext cx="2011680" cy="1463040"/>
          </a:xfrm>
          <a:prstGeom prst="roundRect">
            <a:avLst>
              <a:gd name="adj" fmla="val 5000"/>
            </a:avLst>
          </a:prstGeom>
          <a:solidFill>
            <a:srgbClr val="E5F0FC"/>
          </a:solidFill>
          <a:ln w="12700">
            <a:solidFill>
              <a:srgbClr val="1E88E5"/>
            </a:solidFill>
            <a:prstDash val="solid"/>
          </a:ln>
        </p:spPr>
      </p:sp>
      <p:sp>
        <p:nvSpPr>
          <p:cNvPr id="52" name="Farmer app label"/>
          <p:cNvSpPr txBox="1"/>
          <p:nvPr/>
        </p:nvSpPr>
        <p:spPr>
          <a:xfrm>
            <a:off x="9720072" y="1600200"/>
            <a:ext cx="1865376" cy="1463040"/>
          </a:xfrm>
          <a:prstGeom prst="rect">
            <a:avLst/>
          </a:prstGeom>
          <a:noFill/>
          <a:ln/>
        </p:spPr>
        <p:txBody>
          <a:bodyPr wrap="square" lIns="0" tIns="0" rIns="0" bIns="0" rtlCol="0" anchor="ctr"/>
          <a:lstStyle/>
          <a:p>
            <a:pPr algn="ctr" indent="0" marL="0">
              <a:buNone/>
            </a:pPr>
            <a:r>
              <a:rPr lang="en-US" sz="1300" b="1" dirty="0">
                <a:solidFill>
                  <a:srgbClr val="0F2A36"/>
                </a:solidFill>
              </a:rPr>
              <a:t>Farmer app</a:t>
            </a:r>
            <a:endParaRPr lang="en-US" sz="1300" dirty="0"/>
          </a:p>
          <a:p>
            <a:pPr algn="ctr" indent="0" marL="0">
              <a:buNone/>
            </a:pPr>
            <a:r>
              <a:rPr lang="en-US" sz="1100" dirty="0">
                <a:solidFill>
                  <a:srgbClr val="5B6B73"/>
                </a:solidFill>
              </a:rPr>
              <a:t>Expo / React Native · Android APK</a:t>
            </a:r>
            <a:endParaRPr lang="en-US" sz="1300" dirty="0"/>
          </a:p>
        </p:txBody>
      </p:sp>
      <p:sp>
        <p:nvSpPr>
          <p:cNvPr id="53" name="Admin console"/>
          <p:cNvSpPr/>
          <p:nvPr/>
        </p:nvSpPr>
        <p:spPr>
          <a:xfrm>
            <a:off x="9646920" y="3474720"/>
            <a:ext cx="2011680" cy="1463040"/>
          </a:xfrm>
          <a:prstGeom prst="roundRect">
            <a:avLst>
              <a:gd name="adj" fmla="val 5000"/>
            </a:avLst>
          </a:prstGeom>
          <a:solidFill>
            <a:srgbClr val="E5F0FC"/>
          </a:solidFill>
          <a:ln w="12700">
            <a:solidFill>
              <a:srgbClr val="1E88E5"/>
            </a:solidFill>
            <a:prstDash val="solid"/>
          </a:ln>
        </p:spPr>
      </p:sp>
      <p:sp>
        <p:nvSpPr>
          <p:cNvPr id="54" name="Admin console label"/>
          <p:cNvSpPr txBox="1"/>
          <p:nvPr/>
        </p:nvSpPr>
        <p:spPr>
          <a:xfrm>
            <a:off x="9720072" y="3474720"/>
            <a:ext cx="1865376" cy="1463040"/>
          </a:xfrm>
          <a:prstGeom prst="rect">
            <a:avLst/>
          </a:prstGeom>
          <a:noFill/>
          <a:ln/>
        </p:spPr>
        <p:txBody>
          <a:bodyPr wrap="square" lIns="0" tIns="0" rIns="0" bIns="0" rtlCol="0" anchor="ctr"/>
          <a:lstStyle/>
          <a:p>
            <a:pPr algn="ctr" indent="0" marL="0">
              <a:buNone/>
            </a:pPr>
            <a:r>
              <a:rPr lang="en-US" sz="1300" b="1" dirty="0">
                <a:solidFill>
                  <a:srgbClr val="0F2A36"/>
                </a:solidFill>
              </a:rPr>
              <a:t>Admin console</a:t>
            </a:r>
            <a:endParaRPr lang="en-US" sz="1300" dirty="0"/>
          </a:p>
          <a:p>
            <a:pPr algn="ctr" indent="0" marL="0">
              <a:buNone/>
            </a:pPr>
            <a:r>
              <a:rPr lang="en-US" sz="1100" dirty="0">
                <a:solidFill>
                  <a:srgbClr val="5B6B73"/>
                </a:solidFill>
              </a:rPr>
              <a:t>TypeScript + Vite · web</a:t>
            </a:r>
            <a:endParaRPr lang="en-US" sz="1300" dirty="0"/>
          </a:p>
        </p:txBody>
      </p:sp>
      <p:sp>
        <p:nvSpPr>
          <p:cNvPr id="55" name="Shape 53"/>
          <p:cNvSpPr/>
          <p:nvPr/>
        </p:nvSpPr>
        <p:spPr>
          <a:xfrm>
            <a:off x="2606040" y="3154680"/>
            <a:ext cx="228600" cy="914"/>
          </a:xfrm>
          <a:prstGeom prst="line">
            <a:avLst/>
          </a:prstGeom>
          <a:noFill/>
          <a:ln w="19050">
            <a:solidFill>
              <a:srgbClr val="2F6B4B"/>
            </a:solidFill>
            <a:prstDash val="solid"/>
            <a:tailEnd type="triangle"/>
          </a:ln>
        </p:spPr>
      </p:sp>
      <p:sp>
        <p:nvSpPr>
          <p:cNvPr id="56" name="Shape 54"/>
          <p:cNvSpPr/>
          <p:nvPr/>
        </p:nvSpPr>
        <p:spPr>
          <a:xfrm flipH="1">
            <a:off x="2606040" y="3429000"/>
            <a:ext cx="228600" cy="914"/>
          </a:xfrm>
          <a:prstGeom prst="line">
            <a:avLst/>
          </a:prstGeom>
          <a:noFill/>
          <a:ln w="19050">
            <a:solidFill>
              <a:srgbClr val="1E88E5"/>
            </a:solidFill>
            <a:prstDash val="solid"/>
            <a:tailEnd type="triangle"/>
          </a:ln>
        </p:spPr>
      </p:sp>
      <p:sp>
        <p:nvSpPr>
          <p:cNvPr id="57" name="Shape 55"/>
          <p:cNvSpPr/>
          <p:nvPr/>
        </p:nvSpPr>
        <p:spPr>
          <a:xfrm>
            <a:off x="2606040" y="4343400"/>
            <a:ext cx="228600" cy="914"/>
          </a:xfrm>
          <a:prstGeom prst="line">
            <a:avLst/>
          </a:prstGeom>
          <a:noFill/>
          <a:ln w="19050">
            <a:solidFill>
              <a:srgbClr val="2F6B4B"/>
            </a:solidFill>
            <a:prstDash val="solid"/>
            <a:tailEnd type="triangle"/>
          </a:ln>
        </p:spPr>
      </p:sp>
      <p:sp>
        <p:nvSpPr>
          <p:cNvPr id="58" name="Shape 56"/>
          <p:cNvSpPr/>
          <p:nvPr/>
        </p:nvSpPr>
        <p:spPr>
          <a:xfrm>
            <a:off x="4709160" y="2788920"/>
            <a:ext cx="228600" cy="914"/>
          </a:xfrm>
          <a:prstGeom prst="line">
            <a:avLst/>
          </a:prstGeom>
          <a:noFill/>
          <a:ln w="19050">
            <a:solidFill>
              <a:srgbClr val="168F99"/>
            </a:solidFill>
            <a:prstDash val="solid"/>
            <a:tailEnd type="triangle"/>
          </a:ln>
        </p:spPr>
      </p:sp>
      <p:sp>
        <p:nvSpPr>
          <p:cNvPr id="59" name="Shape 57"/>
          <p:cNvSpPr/>
          <p:nvPr/>
        </p:nvSpPr>
        <p:spPr>
          <a:xfrm flipH="1">
            <a:off x="4709160" y="3063240"/>
            <a:ext cx="228600" cy="914"/>
          </a:xfrm>
          <a:prstGeom prst="line">
            <a:avLst/>
          </a:prstGeom>
          <a:noFill/>
          <a:ln w="19050">
            <a:solidFill>
              <a:srgbClr val="1E88E5"/>
            </a:solidFill>
            <a:prstDash val="solid"/>
            <a:tailEnd type="triangle"/>
          </a:ln>
        </p:spPr>
      </p:sp>
      <p:sp>
        <p:nvSpPr>
          <p:cNvPr id="60" name="Shape 58"/>
          <p:cNvSpPr/>
          <p:nvPr/>
        </p:nvSpPr>
        <p:spPr>
          <a:xfrm>
            <a:off x="4709160" y="4343400"/>
            <a:ext cx="228600" cy="914"/>
          </a:xfrm>
          <a:prstGeom prst="line">
            <a:avLst/>
          </a:prstGeom>
          <a:noFill/>
          <a:ln w="19050">
            <a:solidFill>
              <a:srgbClr val="42C3C7"/>
            </a:solidFill>
            <a:prstDash val="solid"/>
            <a:tailEnd type="triangle"/>
          </a:ln>
        </p:spPr>
      </p:sp>
      <p:sp>
        <p:nvSpPr>
          <p:cNvPr id="61" name="Shape 59"/>
          <p:cNvSpPr/>
          <p:nvPr/>
        </p:nvSpPr>
        <p:spPr>
          <a:xfrm>
            <a:off x="7452360" y="2468880"/>
            <a:ext cx="228600" cy="914"/>
          </a:xfrm>
          <a:prstGeom prst="line">
            <a:avLst/>
          </a:prstGeom>
          <a:noFill/>
          <a:ln w="19050">
            <a:solidFill>
              <a:srgbClr val="184D35"/>
            </a:solidFill>
            <a:prstDash val="solid"/>
            <a:tailEnd type="triangle"/>
          </a:ln>
        </p:spPr>
      </p:sp>
      <p:sp>
        <p:nvSpPr>
          <p:cNvPr id="62" name="Shape 60"/>
          <p:cNvSpPr/>
          <p:nvPr/>
        </p:nvSpPr>
        <p:spPr>
          <a:xfrm flipH="1">
            <a:off x="7452360" y="2743200"/>
            <a:ext cx="228600" cy="914"/>
          </a:xfrm>
          <a:prstGeom prst="line">
            <a:avLst/>
          </a:prstGeom>
          <a:noFill/>
          <a:ln w="19050">
            <a:solidFill>
              <a:srgbClr val="184D35"/>
            </a:solidFill>
            <a:prstDash val="solid"/>
            <a:tailEnd type="triangle"/>
          </a:ln>
        </p:spPr>
      </p:sp>
      <p:sp>
        <p:nvSpPr>
          <p:cNvPr id="63" name="Shape 61"/>
          <p:cNvSpPr/>
          <p:nvPr/>
        </p:nvSpPr>
        <p:spPr>
          <a:xfrm flipH="1">
            <a:off x="9418320" y="2331720"/>
            <a:ext cx="228600" cy="914"/>
          </a:xfrm>
          <a:prstGeom prst="line">
            <a:avLst/>
          </a:prstGeom>
          <a:noFill/>
          <a:ln w="19050">
            <a:solidFill>
              <a:srgbClr val="1E88E5"/>
            </a:solidFill>
            <a:prstDash val="solid"/>
            <a:tailEnd type="triangle"/>
          </a:ln>
        </p:spPr>
      </p:sp>
      <p:sp>
        <p:nvSpPr>
          <p:cNvPr id="64" name="Shape 62"/>
          <p:cNvSpPr/>
          <p:nvPr/>
        </p:nvSpPr>
        <p:spPr>
          <a:xfrm>
            <a:off x="9418320" y="2606040"/>
            <a:ext cx="228600" cy="914"/>
          </a:xfrm>
          <a:prstGeom prst="line">
            <a:avLst/>
          </a:prstGeom>
          <a:noFill/>
          <a:ln w="19050">
            <a:solidFill>
              <a:srgbClr val="1E88E5"/>
            </a:solidFill>
            <a:prstDash val="solid"/>
            <a:tailEnd type="triangle"/>
          </a:ln>
        </p:spPr>
      </p:sp>
      <p:sp>
        <p:nvSpPr>
          <p:cNvPr id="65" name="Shape 63"/>
          <p:cNvSpPr/>
          <p:nvPr/>
        </p:nvSpPr>
        <p:spPr>
          <a:xfrm flipH="1">
            <a:off x="9418320" y="4206240"/>
            <a:ext cx="228600" cy="914"/>
          </a:xfrm>
          <a:prstGeom prst="line">
            <a:avLst/>
          </a:prstGeom>
          <a:noFill/>
          <a:ln w="19050">
            <a:solidFill>
              <a:srgbClr val="1E88E5"/>
            </a:solidFill>
            <a:prstDash val="solid"/>
            <a:tailEnd type="triangle"/>
          </a:ln>
        </p:spPr>
      </p:sp>
      <p:sp>
        <p:nvSpPr>
          <p:cNvPr id="66" name="Shape 64"/>
          <p:cNvSpPr/>
          <p:nvPr/>
        </p:nvSpPr>
        <p:spPr>
          <a:xfrm>
            <a:off x="9418320" y="4480560"/>
            <a:ext cx="228600" cy="914"/>
          </a:xfrm>
          <a:prstGeom prst="line">
            <a:avLst/>
          </a:prstGeom>
          <a:noFill/>
          <a:ln w="19050">
            <a:solidFill>
              <a:srgbClr val="1E88E5"/>
            </a:solidFill>
            <a:prstDash val="solid"/>
            <a:tailEnd type="triangle"/>
          </a:ln>
        </p:spPr>
      </p:sp>
      <p:sp>
        <p:nvSpPr>
          <p:cNvPr id="67" name="Command path band"/>
          <p:cNvSpPr/>
          <p:nvPr/>
        </p:nvSpPr>
        <p:spPr>
          <a:xfrm>
            <a:off x="502920" y="5779008"/>
            <a:ext cx="11155680" cy="475488"/>
          </a:xfrm>
          <a:prstGeom prst="roundRect">
            <a:avLst>
              <a:gd name="adj" fmla="val 19231"/>
            </a:avLst>
          </a:prstGeom>
          <a:solidFill>
            <a:srgbClr val="E5F0FC"/>
          </a:solidFill>
          <a:ln w="12700">
            <a:solidFill>
              <a:srgbClr val="E5F0FC"/>
            </a:solidFill>
            <a:prstDash val="solid"/>
          </a:ln>
        </p:spPr>
      </p:sp>
      <p:sp>
        <p:nvSpPr>
          <p:cNvPr id="68" name="Text 66"/>
          <p:cNvSpPr txBox="1"/>
          <p:nvPr/>
        </p:nvSpPr>
        <p:spPr>
          <a:xfrm>
            <a:off x="731520" y="5779008"/>
            <a:ext cx="10789920" cy="475488"/>
          </a:xfrm>
          <a:prstGeom prst="rect">
            <a:avLst/>
          </a:prstGeom>
          <a:noFill/>
          <a:ln/>
        </p:spPr>
        <p:txBody>
          <a:bodyPr wrap="square" lIns="0" tIns="0" rIns="0" bIns="0" rtlCol="0" anchor="ctr"/>
          <a:lstStyle/>
          <a:p>
            <a:pPr indent="0" marL="0">
              <a:buNone/>
            </a:pPr>
            <a:r>
              <a:rPr lang="en-US" sz="1400" b="1" dirty="0">
                <a:solidFill>
                  <a:srgbClr val="1E88E5"/>
                </a:solidFill>
              </a:rPr>
              <a:t>Irrigation command  </a:t>
            </a:r>
            <a:pPr indent="0" marL="0">
              <a:buNone/>
            </a:pPr>
            <a:r>
              <a:rPr lang="en-US" sz="1400" dirty="0">
                <a:solidFill>
                  <a:srgbClr val="0F2A36"/>
                </a:solidFill>
              </a:rPr>
              <a:t>App → API → database queue → LISTEN/NOTIFY → MQTT → ESP32 → relay → pump → event logged</a:t>
            </a:r>
            <a:endParaRPr lang="en-US" sz="1400" dirty="0"/>
          </a:p>
        </p:txBody>
      </p:sp>
      <p:sp>
        <p:nvSpPr>
          <p:cNvPr id="25" name="Slide Number Placeholder 0"/>
          <p:cNvSpPr>
            <a:spLocks noGrp="1"/>
          </p:cNvSpPr>
          <p:nvPr>
            <p:ph type="sldNum" sz="quarter" idx="4294967295"/>
          </p:nvPr>
        </p:nvSpPr>
        <p:spPr>
          <a:xfrm>
            <a:off x="1129284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02920" y="347472"/>
            <a:ext cx="9326880" cy="731520"/>
          </a:xfrm>
          <a:prstGeom prst="rect">
            <a:avLst/>
          </a:prstGeom>
          <a:noFill/>
          <a:ln/>
        </p:spPr>
        <p:txBody>
          <a:bodyPr wrap="square" lIns="0" tIns="0" rIns="0" bIns="0" rtlCol="0" anchor="ctr"/>
          <a:lstStyle/>
          <a:p>
            <a:pPr algn="l" indent="0" marL="0">
              <a:buNone/>
            </a:pPr>
            <a:r>
              <a:rPr lang="en-US" sz="3400" b="1" dirty="0">
                <a:solidFill>
                  <a:srgbClr val="0F2A36"/>
                </a:solidFill>
              </a:rPr>
              <a:t>From monitoring to irrigation</a:t>
            </a:r>
            <a:endParaRPr lang="en-US" sz="3400" dirty="0"/>
          </a:p>
        </p:txBody>
      </p:sp>
      <p:sp>
        <p:nvSpPr>
          <p:cNvPr id="3" name="Speaker tag"/>
          <p:cNvSpPr txBox="1"/>
          <p:nvPr/>
        </p:nvSpPr>
        <p:spPr>
          <a:xfrm>
            <a:off x="10012680" y="457200"/>
            <a:ext cx="1691640" cy="329184"/>
          </a:xfrm>
          <a:prstGeom prst="roundRect">
            <a:avLst>
              <a:gd name="adj" fmla="val 41667"/>
            </a:avLst>
          </a:prstGeom>
          <a:solidFill>
            <a:srgbClr val="E3F4F5"/>
          </a:solidFill>
          <a:ln>
            <a:solidFill>
              <a:srgbClr val="E3F4F5"/>
            </a:solidFill>
          </a:ln>
        </p:spPr>
        <p:txBody>
          <a:bodyPr wrap="square" lIns="0" tIns="0" rIns="0" bIns="0" rtlCol="0" anchor="ctr"/>
          <a:lstStyle/>
          <a:p>
            <a:pPr algn="ctr" indent="0" marL="0">
              <a:buNone/>
            </a:pPr>
            <a:r>
              <a:rPr lang="en-US" sz="1100" b="1" dirty="0">
                <a:solidFill>
                  <a:srgbClr val="168F99"/>
                </a:solidFill>
              </a:rPr>
              <a:t>Philisile</a:t>
            </a:r>
            <a:endParaRPr lang="en-US" sz="1100" dirty="0"/>
          </a:p>
        </p:txBody>
      </p:sp>
      <p:sp>
        <p:nvSpPr>
          <p:cNvPr id="4" name="Lane FARMER"/>
          <p:cNvSpPr/>
          <p:nvPr/>
        </p:nvSpPr>
        <p:spPr>
          <a:xfrm>
            <a:off x="502920" y="1234440"/>
            <a:ext cx="11155680" cy="1371600"/>
          </a:xfrm>
          <a:prstGeom prst="rect">
            <a:avLst/>
          </a:prstGeom>
          <a:solidFill>
            <a:srgbClr val="E5F0FC"/>
          </a:solidFill>
          <a:ln w="25400">
            <a:solidFill>
              <a:srgbClr val="FFFFFF"/>
            </a:solidFill>
            <a:prstDash val="solid"/>
          </a:ln>
        </p:spPr>
      </p:sp>
      <p:sp>
        <p:nvSpPr>
          <p:cNvPr id="5" name="Lane label FARMER"/>
          <p:cNvSpPr txBox="1"/>
          <p:nvPr/>
        </p:nvSpPr>
        <p:spPr>
          <a:xfrm rot="16200000">
            <a:off x="22860" y="1737360"/>
            <a:ext cx="1371600" cy="365760"/>
          </a:xfrm>
          <a:prstGeom prst="rect">
            <a:avLst/>
          </a:prstGeom>
          <a:noFill/>
          <a:ln/>
        </p:spPr>
        <p:txBody>
          <a:bodyPr wrap="square" lIns="0" tIns="0" rIns="0" bIns="0" rtlCol="0" anchor="ctr"/>
          <a:lstStyle/>
          <a:p>
            <a:pPr algn="ctr" indent="0" marL="0">
              <a:buNone/>
            </a:pPr>
            <a:r>
              <a:rPr lang="en-US" sz="1100" b="1" dirty="0">
                <a:solidFill>
                  <a:srgbClr val="1E88E5"/>
                </a:solidFill>
              </a:rPr>
              <a:t>FARMER</a:t>
            </a:r>
            <a:endParaRPr lang="en-US" sz="1100" dirty="0"/>
          </a:p>
        </p:txBody>
      </p:sp>
      <p:sp>
        <p:nvSpPr>
          <p:cNvPr id="6" name="Lane AGROFLOW PLATFORM"/>
          <p:cNvSpPr/>
          <p:nvPr/>
        </p:nvSpPr>
        <p:spPr>
          <a:xfrm>
            <a:off x="502920" y="2651760"/>
            <a:ext cx="11155680" cy="1965960"/>
          </a:xfrm>
          <a:prstGeom prst="rect">
            <a:avLst/>
          </a:prstGeom>
          <a:solidFill>
            <a:srgbClr val="E3F4F5"/>
          </a:solidFill>
          <a:ln w="25400">
            <a:solidFill>
              <a:srgbClr val="FFFFFF"/>
            </a:solidFill>
            <a:prstDash val="solid"/>
          </a:ln>
        </p:spPr>
      </p:sp>
      <p:sp>
        <p:nvSpPr>
          <p:cNvPr id="7" name="Lane label AGROFLOW PLATFORM"/>
          <p:cNvSpPr txBox="1"/>
          <p:nvPr/>
        </p:nvSpPr>
        <p:spPr>
          <a:xfrm rot="16200000">
            <a:off x="-274320" y="3451860"/>
            <a:ext cx="1965960" cy="365760"/>
          </a:xfrm>
          <a:prstGeom prst="rect">
            <a:avLst/>
          </a:prstGeom>
          <a:noFill/>
          <a:ln/>
        </p:spPr>
        <p:txBody>
          <a:bodyPr wrap="square" lIns="0" tIns="0" rIns="0" bIns="0" rtlCol="0" anchor="ctr"/>
          <a:lstStyle/>
          <a:p>
            <a:pPr algn="ctr" indent="0" marL="0">
              <a:buNone/>
            </a:pPr>
            <a:r>
              <a:rPr lang="en-US" sz="1100" b="1" dirty="0">
                <a:solidFill>
                  <a:srgbClr val="168F99"/>
                </a:solidFill>
              </a:rPr>
              <a:t>AGROFLOW PLATFORM</a:t>
            </a:r>
            <a:endParaRPr lang="en-US" sz="1100" dirty="0"/>
          </a:p>
        </p:txBody>
      </p:sp>
      <p:sp>
        <p:nvSpPr>
          <p:cNvPr id="8" name="Lane FIELD HARDWARE"/>
          <p:cNvSpPr/>
          <p:nvPr/>
        </p:nvSpPr>
        <p:spPr>
          <a:xfrm>
            <a:off x="502920" y="4663440"/>
            <a:ext cx="11155680" cy="1371600"/>
          </a:xfrm>
          <a:prstGeom prst="rect">
            <a:avLst/>
          </a:prstGeom>
          <a:solidFill>
            <a:srgbClr val="E6F0EA"/>
          </a:solidFill>
          <a:ln w="25400">
            <a:solidFill>
              <a:srgbClr val="FFFFFF"/>
            </a:solidFill>
            <a:prstDash val="solid"/>
          </a:ln>
        </p:spPr>
      </p:sp>
      <p:sp>
        <p:nvSpPr>
          <p:cNvPr id="9" name="Lane label FIELD HARDWARE"/>
          <p:cNvSpPr txBox="1"/>
          <p:nvPr/>
        </p:nvSpPr>
        <p:spPr>
          <a:xfrm rot="16200000">
            <a:off x="22860" y="5166360"/>
            <a:ext cx="1371600" cy="365760"/>
          </a:xfrm>
          <a:prstGeom prst="rect">
            <a:avLst/>
          </a:prstGeom>
          <a:noFill/>
          <a:ln/>
        </p:spPr>
        <p:txBody>
          <a:bodyPr wrap="square" lIns="0" tIns="0" rIns="0" bIns="0" rtlCol="0" anchor="ctr"/>
          <a:lstStyle/>
          <a:p>
            <a:pPr algn="ctr" indent="0" marL="0">
              <a:buNone/>
            </a:pPr>
            <a:r>
              <a:rPr lang="en-US" sz="1100" b="1" dirty="0">
                <a:solidFill>
                  <a:srgbClr val="2F6B4B"/>
                </a:solidFill>
              </a:rPr>
              <a:t>FIELD HARDWARE</a:t>
            </a:r>
            <a:endParaRPr lang="en-US" sz="1100" dirty="0"/>
          </a:p>
        </p:txBody>
      </p:sp>
      <p:sp>
        <p:nvSpPr>
          <p:cNvPr id="10" name="HW read"/>
          <p:cNvSpPr txBox="1"/>
          <p:nvPr/>
        </p:nvSpPr>
        <p:spPr>
          <a:xfrm>
            <a:off x="1097280" y="4983480"/>
            <a:ext cx="1371600" cy="731520"/>
          </a:xfrm>
          <a:prstGeom prst="roundRect">
            <a:avLst>
              <a:gd name="adj" fmla="val 10000"/>
            </a:avLst>
          </a:prstGeom>
          <a:solidFill>
            <a:srgbClr val="FFFFFF"/>
          </a:solidFill>
          <a:ln w="15875">
            <a:solidFill>
              <a:srgbClr val="2F6B4B"/>
            </a:solidFill>
          </a:ln>
        </p:spPr>
        <p:txBody>
          <a:bodyPr wrap="square" lIns="508" tIns="508" rIns="508" bIns="508" rtlCol="0" anchor="ctr"/>
          <a:lstStyle/>
          <a:p>
            <a:pPr algn="ctr" indent="0" marL="0">
              <a:buNone/>
            </a:pPr>
            <a:r>
              <a:rPr lang="en-US" sz="1200" dirty="0">
                <a:solidFill>
                  <a:srgbClr val="0F2A36"/>
                </a:solidFill>
              </a:rPr>
              <a:t>Read soil, temp and humidity every 30 s</a:t>
            </a:r>
            <a:endParaRPr lang="en-US" sz="1200" dirty="0"/>
          </a:p>
        </p:txBody>
      </p:sp>
      <p:sp>
        <p:nvSpPr>
          <p:cNvPr id="11" name="HW pump"/>
          <p:cNvSpPr txBox="1"/>
          <p:nvPr/>
        </p:nvSpPr>
        <p:spPr>
          <a:xfrm>
            <a:off x="8686800" y="4892040"/>
            <a:ext cx="1371600" cy="914400"/>
          </a:xfrm>
          <a:prstGeom prst="roundRect">
            <a:avLst>
              <a:gd name="adj" fmla="val 8000"/>
            </a:avLst>
          </a:prstGeom>
          <a:solidFill>
            <a:srgbClr val="FFFFFF"/>
          </a:solidFill>
          <a:ln w="15875">
            <a:solidFill>
              <a:srgbClr val="2F6B4B"/>
            </a:solidFill>
          </a:ln>
        </p:spPr>
        <p:txBody>
          <a:bodyPr wrap="square" lIns="508" tIns="508" rIns="508" bIns="508" rtlCol="0" anchor="ctr"/>
          <a:lstStyle/>
          <a:p>
            <a:pPr algn="ctr" indent="0" marL="0">
              <a:buNone/>
            </a:pPr>
            <a:r>
              <a:rPr lang="en-US" sz="1200" dirty="0">
                <a:solidFill>
                  <a:srgbClr val="0F2A36"/>
                </a:solidFill>
              </a:rPr>
              <a:t>Relay on → pump runs, stops on time, stop or safety cap</a:t>
            </a:r>
            <a:endParaRPr lang="en-US" sz="1200" dirty="0"/>
          </a:p>
        </p:txBody>
      </p:sp>
      <p:sp>
        <p:nvSpPr>
          <p:cNvPr id="12" name="SYS store"/>
          <p:cNvSpPr txBox="1"/>
          <p:nvPr/>
        </p:nvSpPr>
        <p:spPr>
          <a:xfrm>
            <a:off x="2615184" y="3611880"/>
            <a:ext cx="1371600" cy="731520"/>
          </a:xfrm>
          <a:prstGeom prst="roundRect">
            <a:avLst>
              <a:gd name="adj" fmla="val 10000"/>
            </a:avLst>
          </a:prstGeom>
          <a:solidFill>
            <a:srgbClr val="FFFFFF"/>
          </a:solidFill>
          <a:ln w="15875">
            <a:solidFill>
              <a:srgbClr val="168F99"/>
            </a:solidFill>
          </a:ln>
        </p:spPr>
        <p:txBody>
          <a:bodyPr wrap="square" lIns="508" tIns="508" rIns="508" bIns="508" rtlCol="0" anchor="ctr"/>
          <a:lstStyle/>
          <a:p>
            <a:pPr algn="ctr" indent="0" marL="0">
              <a:buNone/>
            </a:pPr>
            <a:r>
              <a:rPr lang="en-US" sz="1200" dirty="0">
                <a:solidFill>
                  <a:srgbClr val="0F2A36"/>
                </a:solidFill>
              </a:rPr>
              <a:t>Store reading, update zone health</a:t>
            </a:r>
            <a:endParaRPr lang="en-US" sz="1200" dirty="0"/>
          </a:p>
        </p:txBody>
      </p:sp>
      <p:sp>
        <p:nvSpPr>
          <p:cNvPr id="13" name="SYS advice"/>
          <p:cNvSpPr txBox="1"/>
          <p:nvPr/>
        </p:nvSpPr>
        <p:spPr>
          <a:xfrm>
            <a:off x="4133088" y="2743200"/>
            <a:ext cx="1371600" cy="658368"/>
          </a:xfrm>
          <a:prstGeom prst="roundRect">
            <a:avLst>
              <a:gd name="adj" fmla="val 11111"/>
            </a:avLst>
          </a:prstGeom>
          <a:solidFill>
            <a:srgbClr val="FFFFFF"/>
          </a:solidFill>
          <a:ln w="15875">
            <a:solidFill>
              <a:srgbClr val="168F99"/>
            </a:solidFill>
          </a:ln>
        </p:spPr>
        <p:txBody>
          <a:bodyPr wrap="square" lIns="508" tIns="508" rIns="508" bIns="508" rtlCol="0" anchor="ctr"/>
          <a:lstStyle/>
          <a:p>
            <a:pPr algn="ctr" indent="0" marL="0">
              <a:buNone/>
            </a:pPr>
            <a:r>
              <a:rPr lang="en-US" sz="1200" dirty="0">
                <a:solidFill>
                  <a:srgbClr val="0F2A36"/>
                </a:solidFill>
              </a:rPr>
              <a:t>FAO-56 advice from forecast + crop stage</a:t>
            </a:r>
            <a:endParaRPr lang="en-US" sz="1200" dirty="0"/>
          </a:p>
        </p:txBody>
      </p:sp>
      <p:sp>
        <p:nvSpPr>
          <p:cNvPr id="14" name="SYS decision"/>
          <p:cNvSpPr txBox="1"/>
          <p:nvPr/>
        </p:nvSpPr>
        <p:spPr>
          <a:xfrm>
            <a:off x="5605272" y="3401568"/>
            <a:ext cx="1463040" cy="1051560"/>
          </a:xfrm>
          <a:prstGeom prst="diamond">
            <a:avLst/>
          </a:prstGeom>
          <a:solidFill>
            <a:srgbClr val="FFFFFF"/>
          </a:solidFill>
          <a:ln w="15875">
            <a:solidFill>
              <a:srgbClr val="168F99"/>
            </a:solidFill>
          </a:ln>
        </p:spPr>
        <p:txBody>
          <a:bodyPr wrap="square" lIns="0" tIns="0" rIns="0" bIns="0" rtlCol="0" anchor="ctr"/>
          <a:lstStyle/>
          <a:p>
            <a:pPr algn="ctr" indent="0" marL="0">
              <a:buNone/>
            </a:pPr>
            <a:r>
              <a:rPr lang="en-US" sz="1100" dirty="0">
                <a:solidFill>
                  <a:srgbClr val="0F2A36"/>
                </a:solidFill>
              </a:rPr>
              <a:t>Automatic and below threshold?</a:t>
            </a:r>
            <a:endParaRPr lang="en-US" sz="1100" dirty="0"/>
          </a:p>
        </p:txBody>
      </p:sp>
      <p:sp>
        <p:nvSpPr>
          <p:cNvPr id="15" name="SYS command"/>
          <p:cNvSpPr txBox="1"/>
          <p:nvPr/>
        </p:nvSpPr>
        <p:spPr>
          <a:xfrm>
            <a:off x="7168896" y="3611880"/>
            <a:ext cx="1371600" cy="731520"/>
          </a:xfrm>
          <a:prstGeom prst="roundRect">
            <a:avLst>
              <a:gd name="adj" fmla="val 10000"/>
            </a:avLst>
          </a:prstGeom>
          <a:solidFill>
            <a:srgbClr val="FFFFFF"/>
          </a:solidFill>
          <a:ln w="15875">
            <a:solidFill>
              <a:srgbClr val="168F99"/>
            </a:solidFill>
          </a:ln>
        </p:spPr>
        <p:txBody>
          <a:bodyPr wrap="square" lIns="508" tIns="508" rIns="508" bIns="508" rtlCol="0" anchor="ctr"/>
          <a:lstStyle/>
          <a:p>
            <a:pPr algn="ctr" indent="0" marL="0">
              <a:buNone/>
            </a:pPr>
            <a:r>
              <a:rPr lang="en-US" sz="1200" dirty="0">
                <a:solidFill>
                  <a:srgbClr val="0F2A36"/>
                </a:solidFill>
              </a:rPr>
              <a:t>Queue command, publish over MQTT</a:t>
            </a:r>
            <a:endParaRPr lang="en-US" sz="1200" dirty="0"/>
          </a:p>
        </p:txBody>
      </p:sp>
      <p:sp>
        <p:nvSpPr>
          <p:cNvPr id="16" name="SYS log"/>
          <p:cNvSpPr txBox="1"/>
          <p:nvPr/>
        </p:nvSpPr>
        <p:spPr>
          <a:xfrm>
            <a:off x="10204704" y="3611880"/>
            <a:ext cx="1371600" cy="731520"/>
          </a:xfrm>
          <a:prstGeom prst="roundRect">
            <a:avLst>
              <a:gd name="adj" fmla="val 10000"/>
            </a:avLst>
          </a:prstGeom>
          <a:solidFill>
            <a:srgbClr val="FFFFFF"/>
          </a:solidFill>
          <a:ln w="15875">
            <a:solidFill>
              <a:srgbClr val="168F99"/>
            </a:solidFill>
          </a:ln>
        </p:spPr>
        <p:txBody>
          <a:bodyPr wrap="square" lIns="508" tIns="508" rIns="508" bIns="508" rtlCol="0" anchor="ctr"/>
          <a:lstStyle/>
          <a:p>
            <a:pPr algn="ctr" indent="0" marL="0">
              <a:buNone/>
            </a:pPr>
            <a:r>
              <a:rPr lang="en-US" sz="1200" dirty="0">
                <a:solidFill>
                  <a:srgbClr val="0F2A36"/>
                </a:solidFill>
              </a:rPr>
              <a:t>Log event and litres used</a:t>
            </a:r>
            <a:endParaRPr lang="en-US" sz="1200" dirty="0"/>
          </a:p>
        </p:txBody>
      </p:sp>
      <p:sp>
        <p:nvSpPr>
          <p:cNvPr id="17" name="F review"/>
          <p:cNvSpPr txBox="1"/>
          <p:nvPr/>
        </p:nvSpPr>
        <p:spPr>
          <a:xfrm>
            <a:off x="4133088" y="1554480"/>
            <a:ext cx="1371600" cy="731520"/>
          </a:xfrm>
          <a:prstGeom prst="roundRect">
            <a:avLst>
              <a:gd name="adj" fmla="val 10000"/>
            </a:avLst>
          </a:prstGeom>
          <a:solidFill>
            <a:srgbClr val="FFFFFF"/>
          </a:solidFill>
          <a:ln w="15875">
            <a:solidFill>
              <a:srgbClr val="1E88E5"/>
            </a:solidFill>
          </a:ln>
        </p:spPr>
        <p:txBody>
          <a:bodyPr wrap="square" lIns="508" tIns="508" rIns="508" bIns="508" rtlCol="0" anchor="ctr"/>
          <a:lstStyle/>
          <a:p>
            <a:pPr algn="ctr" indent="0" marL="0">
              <a:buNone/>
            </a:pPr>
            <a:r>
              <a:rPr lang="en-US" sz="1200" dirty="0">
                <a:solidFill>
                  <a:srgbClr val="0F2A36"/>
                </a:solidFill>
              </a:rPr>
              <a:t>Review conditions and advice</a:t>
            </a:r>
            <a:endParaRPr lang="en-US" sz="1200" dirty="0"/>
          </a:p>
        </p:txBody>
      </p:sp>
      <p:sp>
        <p:nvSpPr>
          <p:cNvPr id="18" name="F manual"/>
          <p:cNvSpPr txBox="1"/>
          <p:nvPr/>
        </p:nvSpPr>
        <p:spPr>
          <a:xfrm>
            <a:off x="5650992" y="1554480"/>
            <a:ext cx="1371600" cy="731520"/>
          </a:xfrm>
          <a:prstGeom prst="roundRect">
            <a:avLst>
              <a:gd name="adj" fmla="val 10000"/>
            </a:avLst>
          </a:prstGeom>
          <a:solidFill>
            <a:srgbClr val="FFFFFF"/>
          </a:solidFill>
          <a:ln w="15875">
            <a:solidFill>
              <a:srgbClr val="1E88E5"/>
            </a:solidFill>
          </a:ln>
        </p:spPr>
        <p:txBody>
          <a:bodyPr wrap="square" lIns="508" tIns="508" rIns="508" bIns="508" rtlCol="0" anchor="ctr"/>
          <a:lstStyle/>
          <a:p>
            <a:pPr algn="ctr" indent="0" marL="0">
              <a:buNone/>
            </a:pPr>
            <a:r>
              <a:rPr lang="en-US" sz="1200" dirty="0">
                <a:solidFill>
                  <a:srgbClr val="0F2A36"/>
                </a:solidFill>
              </a:rPr>
              <a:t>Start a manual run (choose minutes)</a:t>
            </a:r>
            <a:endParaRPr lang="en-US" sz="1200" dirty="0"/>
          </a:p>
        </p:txBody>
      </p:sp>
      <p:sp>
        <p:nvSpPr>
          <p:cNvPr id="19" name="F history"/>
          <p:cNvSpPr txBox="1"/>
          <p:nvPr/>
        </p:nvSpPr>
        <p:spPr>
          <a:xfrm>
            <a:off x="10204704" y="1554480"/>
            <a:ext cx="1371600" cy="731520"/>
          </a:xfrm>
          <a:prstGeom prst="roundRect">
            <a:avLst>
              <a:gd name="adj" fmla="val 10000"/>
            </a:avLst>
          </a:prstGeom>
          <a:solidFill>
            <a:srgbClr val="FFFFFF"/>
          </a:solidFill>
          <a:ln w="15875">
            <a:solidFill>
              <a:srgbClr val="1E88E5"/>
            </a:solidFill>
          </a:ln>
        </p:spPr>
        <p:txBody>
          <a:bodyPr wrap="square" lIns="508" tIns="508" rIns="508" bIns="508" rtlCol="0" anchor="ctr"/>
          <a:lstStyle/>
          <a:p>
            <a:pPr algn="ctr" indent="0" marL="0">
              <a:buNone/>
            </a:pPr>
            <a:r>
              <a:rPr lang="en-US" sz="1200" dirty="0">
                <a:solidFill>
                  <a:srgbClr val="0F2A36"/>
                </a:solidFill>
              </a:rPr>
              <a:t>See history and reports</a:t>
            </a:r>
            <a:endParaRPr lang="en-US" sz="1200" dirty="0"/>
          </a:p>
        </p:txBody>
      </p:sp>
      <p:sp>
        <p:nvSpPr>
          <p:cNvPr id="20" name="Shape 18"/>
          <p:cNvSpPr/>
          <p:nvPr/>
        </p:nvSpPr>
        <p:spPr>
          <a:xfrm flipV="1">
            <a:off x="1783080" y="4343400"/>
            <a:ext cx="1106424" cy="640080"/>
          </a:xfrm>
          <a:prstGeom prst="line">
            <a:avLst/>
          </a:prstGeom>
          <a:noFill/>
          <a:ln w="19050">
            <a:solidFill>
              <a:srgbClr val="2F6B4B"/>
            </a:solidFill>
            <a:prstDash val="solid"/>
            <a:tailEnd type="triangle"/>
          </a:ln>
        </p:spPr>
      </p:sp>
      <p:sp>
        <p:nvSpPr>
          <p:cNvPr id="21" name="Shape 19"/>
          <p:cNvSpPr/>
          <p:nvPr/>
        </p:nvSpPr>
        <p:spPr>
          <a:xfrm>
            <a:off x="3986784" y="3886200"/>
            <a:ext cx="1618488" cy="45720"/>
          </a:xfrm>
          <a:prstGeom prst="line">
            <a:avLst/>
          </a:prstGeom>
          <a:noFill/>
          <a:ln w="19050">
            <a:solidFill>
              <a:srgbClr val="168F99"/>
            </a:solidFill>
            <a:prstDash val="solid"/>
            <a:tailEnd type="triangle"/>
          </a:ln>
        </p:spPr>
      </p:sp>
      <p:sp>
        <p:nvSpPr>
          <p:cNvPr id="22" name="Shape 20"/>
          <p:cNvSpPr/>
          <p:nvPr/>
        </p:nvSpPr>
        <p:spPr>
          <a:xfrm flipV="1">
            <a:off x="3986784" y="3200400"/>
            <a:ext cx="146304" cy="548640"/>
          </a:xfrm>
          <a:prstGeom prst="line">
            <a:avLst/>
          </a:prstGeom>
          <a:noFill/>
          <a:ln w="19050">
            <a:solidFill>
              <a:srgbClr val="168F99"/>
            </a:solidFill>
            <a:prstDash val="solid"/>
            <a:tailEnd type="triangle"/>
          </a:ln>
        </p:spPr>
      </p:sp>
      <p:sp>
        <p:nvSpPr>
          <p:cNvPr id="23" name="Shape 21"/>
          <p:cNvSpPr/>
          <p:nvPr/>
        </p:nvSpPr>
        <p:spPr>
          <a:xfrm flipV="1">
            <a:off x="4818888" y="2286000"/>
            <a:ext cx="914" cy="457200"/>
          </a:xfrm>
          <a:prstGeom prst="line">
            <a:avLst/>
          </a:prstGeom>
          <a:noFill/>
          <a:ln w="19050">
            <a:solidFill>
              <a:srgbClr val="168F99"/>
            </a:solidFill>
            <a:prstDash val="solid"/>
            <a:tailEnd type="triangle"/>
          </a:ln>
        </p:spPr>
      </p:sp>
      <p:sp>
        <p:nvSpPr>
          <p:cNvPr id="24" name="Shape 22"/>
          <p:cNvSpPr/>
          <p:nvPr/>
        </p:nvSpPr>
        <p:spPr>
          <a:xfrm>
            <a:off x="5504688" y="1920240"/>
            <a:ext cx="146304" cy="914"/>
          </a:xfrm>
          <a:prstGeom prst="line">
            <a:avLst/>
          </a:prstGeom>
          <a:noFill/>
          <a:ln w="19050">
            <a:solidFill>
              <a:srgbClr val="1E88E5"/>
            </a:solidFill>
            <a:prstDash val="solid"/>
            <a:tailEnd type="triangle"/>
          </a:ln>
        </p:spPr>
      </p:sp>
      <p:sp>
        <p:nvSpPr>
          <p:cNvPr id="25" name="Shape 23"/>
          <p:cNvSpPr/>
          <p:nvPr/>
        </p:nvSpPr>
        <p:spPr>
          <a:xfrm>
            <a:off x="7022592" y="2057400"/>
            <a:ext cx="420624" cy="1554480"/>
          </a:xfrm>
          <a:prstGeom prst="line">
            <a:avLst/>
          </a:prstGeom>
          <a:noFill/>
          <a:ln w="19050">
            <a:solidFill>
              <a:srgbClr val="1E88E5"/>
            </a:solidFill>
            <a:prstDash val="solid"/>
            <a:tailEnd type="triangle"/>
          </a:ln>
        </p:spPr>
      </p:sp>
      <p:sp>
        <p:nvSpPr>
          <p:cNvPr id="26" name="Shape 24"/>
          <p:cNvSpPr/>
          <p:nvPr/>
        </p:nvSpPr>
        <p:spPr>
          <a:xfrm>
            <a:off x="7068312" y="3931920"/>
            <a:ext cx="100584" cy="914"/>
          </a:xfrm>
          <a:prstGeom prst="line">
            <a:avLst/>
          </a:prstGeom>
          <a:noFill/>
          <a:ln w="19050">
            <a:solidFill>
              <a:srgbClr val="168F99"/>
            </a:solidFill>
            <a:prstDash val="solid"/>
            <a:tailEnd type="triangle"/>
          </a:ln>
        </p:spPr>
      </p:sp>
      <p:sp>
        <p:nvSpPr>
          <p:cNvPr id="27" name="Text 25"/>
          <p:cNvSpPr txBox="1"/>
          <p:nvPr/>
        </p:nvSpPr>
        <p:spPr>
          <a:xfrm>
            <a:off x="6894576" y="3639312"/>
            <a:ext cx="320040" cy="201168"/>
          </a:xfrm>
          <a:prstGeom prst="rect">
            <a:avLst/>
          </a:prstGeom>
          <a:noFill/>
          <a:ln/>
        </p:spPr>
        <p:txBody>
          <a:bodyPr wrap="square" lIns="0" tIns="0" rIns="0" bIns="0" rtlCol="0" anchor="t"/>
          <a:lstStyle/>
          <a:p>
            <a:pPr indent="0" marL="0">
              <a:buNone/>
            </a:pPr>
            <a:r>
              <a:rPr lang="en-US" sz="1000" b="1" dirty="0">
                <a:solidFill>
                  <a:srgbClr val="168F99"/>
                </a:solidFill>
              </a:rPr>
              <a:t>yes</a:t>
            </a:r>
            <a:endParaRPr lang="en-US" sz="1000" dirty="0"/>
          </a:p>
        </p:txBody>
      </p:sp>
      <p:sp>
        <p:nvSpPr>
          <p:cNvPr id="28" name="Text 26"/>
          <p:cNvSpPr txBox="1"/>
          <p:nvPr/>
        </p:nvSpPr>
        <p:spPr>
          <a:xfrm>
            <a:off x="5559552" y="4443984"/>
            <a:ext cx="1554480" cy="201168"/>
          </a:xfrm>
          <a:prstGeom prst="rect">
            <a:avLst/>
          </a:prstGeom>
          <a:noFill/>
          <a:ln/>
        </p:spPr>
        <p:txBody>
          <a:bodyPr wrap="square" lIns="0" tIns="0" rIns="0" bIns="0" rtlCol="0" anchor="t"/>
          <a:lstStyle/>
          <a:p>
            <a:pPr algn="ctr" indent="0" marL="0">
              <a:buNone/>
            </a:pPr>
            <a:r>
              <a:rPr lang="en-US" sz="1000" dirty="0">
                <a:solidFill>
                  <a:srgbClr val="5B6B73"/>
                </a:solidFill>
              </a:rPr>
              <a:t>no: keep monitoring</a:t>
            </a:r>
            <a:endParaRPr lang="en-US" sz="1000" dirty="0"/>
          </a:p>
        </p:txBody>
      </p:sp>
      <p:sp>
        <p:nvSpPr>
          <p:cNvPr id="29" name="Shape 27"/>
          <p:cNvSpPr/>
          <p:nvPr/>
        </p:nvSpPr>
        <p:spPr>
          <a:xfrm>
            <a:off x="7854696" y="4343400"/>
            <a:ext cx="1106424" cy="548640"/>
          </a:xfrm>
          <a:prstGeom prst="line">
            <a:avLst/>
          </a:prstGeom>
          <a:noFill/>
          <a:ln w="19050">
            <a:solidFill>
              <a:srgbClr val="168F99"/>
            </a:solidFill>
            <a:prstDash val="solid"/>
            <a:tailEnd type="triangle"/>
          </a:ln>
        </p:spPr>
      </p:sp>
      <p:sp>
        <p:nvSpPr>
          <p:cNvPr id="30" name="Shape 28"/>
          <p:cNvSpPr/>
          <p:nvPr/>
        </p:nvSpPr>
        <p:spPr>
          <a:xfrm flipV="1">
            <a:off x="9784080" y="4343400"/>
            <a:ext cx="1106424" cy="548640"/>
          </a:xfrm>
          <a:prstGeom prst="line">
            <a:avLst/>
          </a:prstGeom>
          <a:noFill/>
          <a:ln w="19050">
            <a:solidFill>
              <a:srgbClr val="2F6B4B"/>
            </a:solidFill>
            <a:prstDash val="solid"/>
            <a:tailEnd type="triangle"/>
          </a:ln>
        </p:spPr>
      </p:sp>
      <p:sp>
        <p:nvSpPr>
          <p:cNvPr id="31" name="Shape 29"/>
          <p:cNvSpPr/>
          <p:nvPr/>
        </p:nvSpPr>
        <p:spPr>
          <a:xfrm flipV="1">
            <a:off x="10890504" y="2286000"/>
            <a:ext cx="914" cy="1325880"/>
          </a:xfrm>
          <a:prstGeom prst="line">
            <a:avLst/>
          </a:prstGeom>
          <a:noFill/>
          <a:ln w="19050">
            <a:solidFill>
              <a:srgbClr val="168F99"/>
            </a:solidFill>
            <a:prstDash val="solid"/>
            <a:tailEnd type="triangle"/>
          </a:ln>
        </p:spPr>
      </p:sp>
      <p:sp>
        <p:nvSpPr>
          <p:cNvPr id="32" name="Text 30"/>
          <p:cNvSpPr txBox="1"/>
          <p:nvPr/>
        </p:nvSpPr>
        <p:spPr>
          <a:xfrm>
            <a:off x="502920" y="6126480"/>
            <a:ext cx="10058400" cy="228600"/>
          </a:xfrm>
          <a:prstGeom prst="rect">
            <a:avLst/>
          </a:prstGeom>
          <a:noFill/>
          <a:ln/>
        </p:spPr>
        <p:txBody>
          <a:bodyPr wrap="square" lIns="0" tIns="0" rIns="0" bIns="0" rtlCol="0" anchor="t"/>
          <a:lstStyle/>
          <a:p>
            <a:pPr indent="0" marL="0">
              <a:buNone/>
            </a:pPr>
            <a:r>
              <a:rPr lang="en-US" sz="1000" i="1" dirty="0">
                <a:solidFill>
                  <a:srgbClr val="5B6B73"/>
                </a:solidFill>
              </a:rPr>
              <a:t>Redrawn from the Milestone 2 To-Be activity diagram and updated to the implemented flow (SensorReadingProcessor.cs, FarmerEndpoints.cs, ESP32 firmware).</a:t>
            </a:r>
            <a:endParaRPr lang="en-US" sz="1000" dirty="0"/>
          </a:p>
        </p:txBody>
      </p:sp>
      <p:sp>
        <p:nvSpPr>
          <p:cNvPr id="25" name="Slide Number Placeholder 0"/>
          <p:cNvSpPr>
            <a:spLocks noGrp="1"/>
          </p:cNvSpPr>
          <p:nvPr>
            <p:ph type="sldNum" sz="quarter" idx="4294967295"/>
          </p:nvPr>
        </p:nvSpPr>
        <p:spPr>
          <a:xfrm>
            <a:off x="1129284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02920" y="347472"/>
            <a:ext cx="9326880" cy="731520"/>
          </a:xfrm>
          <a:prstGeom prst="rect">
            <a:avLst/>
          </a:prstGeom>
          <a:noFill/>
          <a:ln/>
        </p:spPr>
        <p:txBody>
          <a:bodyPr wrap="square" lIns="0" tIns="0" rIns="0" bIns="0" rtlCol="0" anchor="ctr"/>
          <a:lstStyle/>
          <a:p>
            <a:pPr algn="l" indent="0" marL="0">
              <a:buNone/>
            </a:pPr>
            <a:r>
              <a:rPr lang="en-US" sz="3400" b="1" dirty="0">
                <a:solidFill>
                  <a:srgbClr val="0F2A36"/>
                </a:solidFill>
              </a:rPr>
              <a:t>Designed as a connected system</a:t>
            </a:r>
            <a:endParaRPr lang="en-US" sz="3400" dirty="0"/>
          </a:p>
        </p:txBody>
      </p:sp>
      <p:sp>
        <p:nvSpPr>
          <p:cNvPr id="3" name="Speaker tag"/>
          <p:cNvSpPr txBox="1"/>
          <p:nvPr/>
        </p:nvSpPr>
        <p:spPr>
          <a:xfrm>
            <a:off x="10012680" y="457200"/>
            <a:ext cx="1691640" cy="329184"/>
          </a:xfrm>
          <a:prstGeom prst="roundRect">
            <a:avLst>
              <a:gd name="adj" fmla="val 41667"/>
            </a:avLst>
          </a:prstGeom>
          <a:solidFill>
            <a:srgbClr val="E3F4F5"/>
          </a:solidFill>
          <a:ln>
            <a:solidFill>
              <a:srgbClr val="E3F4F5"/>
            </a:solidFill>
          </a:ln>
        </p:spPr>
        <p:txBody>
          <a:bodyPr wrap="square" lIns="0" tIns="0" rIns="0" bIns="0" rtlCol="0" anchor="ctr"/>
          <a:lstStyle/>
          <a:p>
            <a:pPr algn="ctr" indent="0" marL="0">
              <a:buNone/>
            </a:pPr>
            <a:r>
              <a:rPr lang="en-US" sz="1100" b="1" dirty="0">
                <a:solidFill>
                  <a:srgbClr val="168F99"/>
                </a:solidFill>
              </a:rPr>
              <a:t>Philisile</a:t>
            </a:r>
            <a:endParaRPr lang="en-US" sz="1100" dirty="0"/>
          </a:p>
        </p:txBody>
      </p:sp>
      <p:sp>
        <p:nvSpPr>
          <p:cNvPr id="4" name="Class User"/>
          <p:cNvSpPr/>
          <p:nvPr/>
        </p:nvSpPr>
        <p:spPr>
          <a:xfrm>
            <a:off x="502920" y="1280160"/>
            <a:ext cx="1783080" cy="786384"/>
          </a:xfrm>
          <a:prstGeom prst="rect">
            <a:avLst/>
          </a:prstGeom>
          <a:solidFill>
            <a:srgbClr val="FFFFFF"/>
          </a:solidFill>
          <a:ln w="15875">
            <a:solidFill>
              <a:srgbClr val="5B6B73"/>
            </a:solidFill>
            <a:prstDash val="solid"/>
          </a:ln>
        </p:spPr>
      </p:sp>
      <p:sp>
        <p:nvSpPr>
          <p:cNvPr id="5" name="Class header User"/>
          <p:cNvSpPr/>
          <p:nvPr/>
        </p:nvSpPr>
        <p:spPr>
          <a:xfrm>
            <a:off x="502920" y="1280160"/>
            <a:ext cx="1783080" cy="512064"/>
          </a:xfrm>
          <a:prstGeom prst="rect">
            <a:avLst/>
          </a:prstGeom>
          <a:solidFill>
            <a:srgbClr val="5B6B73"/>
          </a:solidFill>
          <a:ln w="15875">
            <a:solidFill>
              <a:srgbClr val="5B6B73"/>
            </a:solidFill>
            <a:prstDash val="solid"/>
          </a:ln>
        </p:spPr>
      </p:sp>
      <p:sp>
        <p:nvSpPr>
          <p:cNvPr id="6" name="Class name User"/>
          <p:cNvSpPr txBox="1"/>
          <p:nvPr/>
        </p:nvSpPr>
        <p:spPr>
          <a:xfrm>
            <a:off x="502920" y="1280160"/>
            <a:ext cx="1783080" cy="512064"/>
          </a:xfrm>
          <a:prstGeom prst="rect">
            <a:avLst/>
          </a:prstGeom>
          <a:noFill/>
          <a:ln/>
        </p:spPr>
        <p:txBody>
          <a:bodyPr wrap="square" lIns="0" tIns="0" rIns="0" bIns="0" rtlCol="0" anchor="ctr"/>
          <a:lstStyle/>
          <a:p>
            <a:pPr algn="ctr" indent="0" marL="0">
              <a:buNone/>
            </a:pPr>
            <a:r>
              <a:rPr lang="en-US" sz="900" i="1" dirty="0">
                <a:solidFill>
                  <a:srgbClr val="FFFFFF"/>
                </a:solidFill>
              </a:rPr>
              <a:t>«abstract»</a:t>
            </a:r>
            <a:endParaRPr lang="en-US" sz="900" dirty="0"/>
          </a:p>
          <a:p>
            <a:pPr algn="ctr" indent="0" marL="0">
              <a:buNone/>
            </a:pPr>
            <a:r>
              <a:rPr lang="en-US" sz="1300" b="1" dirty="0">
                <a:solidFill>
                  <a:srgbClr val="FFFFFF"/>
                </a:solidFill>
              </a:rPr>
              <a:t>User</a:t>
            </a:r>
            <a:endParaRPr lang="en-US" sz="900" dirty="0"/>
          </a:p>
        </p:txBody>
      </p:sp>
      <p:sp>
        <p:nvSpPr>
          <p:cNvPr id="7" name="Class attrs User"/>
          <p:cNvSpPr txBox="1"/>
          <p:nvPr/>
        </p:nvSpPr>
        <p:spPr>
          <a:xfrm>
            <a:off x="576072" y="1810512"/>
            <a:ext cx="1636776" cy="237744"/>
          </a:xfrm>
          <a:prstGeom prst="rect">
            <a:avLst/>
          </a:prstGeom>
          <a:noFill/>
          <a:ln/>
        </p:spPr>
        <p:txBody>
          <a:bodyPr wrap="square" lIns="0" tIns="0" rIns="0" bIns="0" rtlCol="0" anchor="t"/>
          <a:lstStyle/>
          <a:p>
            <a:pPr indent="0" marL="0">
              <a:buNone/>
            </a:pPr>
            <a:r>
              <a:rPr lang="en-US" sz="1050" dirty="0">
                <a:solidFill>
                  <a:srgbClr val="0F2A36"/>
                </a:solidFill>
                <a:latin typeface="Consolas" pitchFamily="34" charset="0"/>
                <a:ea typeface="Consolas" pitchFamily="34" charset="-122"/>
                <a:cs typeface="Consolas" pitchFamily="34" charset="-120"/>
              </a:rPr>
              <a:t>+ login()</a:t>
            </a:r>
            <a:endParaRPr lang="en-US" sz="1050" dirty="0"/>
          </a:p>
        </p:txBody>
      </p:sp>
      <p:sp>
        <p:nvSpPr>
          <p:cNvPr id="8" name="Class Admin"/>
          <p:cNvSpPr/>
          <p:nvPr/>
        </p:nvSpPr>
        <p:spPr>
          <a:xfrm>
            <a:off x="502920" y="2514600"/>
            <a:ext cx="841248" cy="384048"/>
          </a:xfrm>
          <a:prstGeom prst="rect">
            <a:avLst/>
          </a:prstGeom>
          <a:solidFill>
            <a:srgbClr val="FFFFFF"/>
          </a:solidFill>
          <a:ln w="15875">
            <a:solidFill>
              <a:srgbClr val="5B6B73"/>
            </a:solidFill>
            <a:prstDash val="solid"/>
          </a:ln>
        </p:spPr>
      </p:sp>
      <p:sp>
        <p:nvSpPr>
          <p:cNvPr id="9" name="Class header Admin"/>
          <p:cNvSpPr/>
          <p:nvPr/>
        </p:nvSpPr>
        <p:spPr>
          <a:xfrm>
            <a:off x="502920" y="2514600"/>
            <a:ext cx="841248" cy="329184"/>
          </a:xfrm>
          <a:prstGeom prst="rect">
            <a:avLst/>
          </a:prstGeom>
          <a:solidFill>
            <a:srgbClr val="5B6B73"/>
          </a:solidFill>
          <a:ln w="15875">
            <a:solidFill>
              <a:srgbClr val="5B6B73"/>
            </a:solidFill>
            <a:prstDash val="solid"/>
          </a:ln>
        </p:spPr>
      </p:sp>
      <p:sp>
        <p:nvSpPr>
          <p:cNvPr id="10" name="Class name Admin"/>
          <p:cNvSpPr txBox="1"/>
          <p:nvPr/>
        </p:nvSpPr>
        <p:spPr>
          <a:xfrm>
            <a:off x="502920" y="2514600"/>
            <a:ext cx="841248" cy="329184"/>
          </a:xfrm>
          <a:prstGeom prst="rect">
            <a:avLst/>
          </a:prstGeom>
          <a:noFill/>
          <a:ln/>
        </p:spPr>
        <p:txBody>
          <a:bodyPr wrap="square" lIns="0" tIns="0" rIns="0" bIns="0" rtlCol="0" anchor="ctr"/>
          <a:lstStyle/>
          <a:p>
            <a:pPr algn="ctr" indent="0" marL="0">
              <a:buNone/>
            </a:pPr>
            <a:r>
              <a:rPr lang="en-US" sz="1300" b="1" dirty="0">
                <a:solidFill>
                  <a:srgbClr val="FFFFFF"/>
                </a:solidFill>
              </a:rPr>
              <a:t>Admin</a:t>
            </a:r>
            <a:endParaRPr lang="en-US" sz="1300" dirty="0"/>
          </a:p>
        </p:txBody>
      </p:sp>
      <p:sp>
        <p:nvSpPr>
          <p:cNvPr id="11" name="Class FarmUser"/>
          <p:cNvSpPr/>
          <p:nvPr/>
        </p:nvSpPr>
        <p:spPr>
          <a:xfrm>
            <a:off x="1444752" y="2514600"/>
            <a:ext cx="841248" cy="384048"/>
          </a:xfrm>
          <a:prstGeom prst="rect">
            <a:avLst/>
          </a:prstGeom>
          <a:solidFill>
            <a:srgbClr val="FFFFFF"/>
          </a:solidFill>
          <a:ln w="15875">
            <a:solidFill>
              <a:srgbClr val="5B6B73"/>
            </a:solidFill>
            <a:prstDash val="solid"/>
          </a:ln>
        </p:spPr>
      </p:sp>
      <p:sp>
        <p:nvSpPr>
          <p:cNvPr id="12" name="Class header FarmUser"/>
          <p:cNvSpPr/>
          <p:nvPr/>
        </p:nvSpPr>
        <p:spPr>
          <a:xfrm>
            <a:off x="1444752" y="2514600"/>
            <a:ext cx="841248" cy="329184"/>
          </a:xfrm>
          <a:prstGeom prst="rect">
            <a:avLst/>
          </a:prstGeom>
          <a:solidFill>
            <a:srgbClr val="5B6B73"/>
          </a:solidFill>
          <a:ln w="15875">
            <a:solidFill>
              <a:srgbClr val="5B6B73"/>
            </a:solidFill>
            <a:prstDash val="solid"/>
          </a:ln>
        </p:spPr>
      </p:sp>
      <p:sp>
        <p:nvSpPr>
          <p:cNvPr id="13" name="Class name FarmUser"/>
          <p:cNvSpPr txBox="1"/>
          <p:nvPr/>
        </p:nvSpPr>
        <p:spPr>
          <a:xfrm>
            <a:off x="1444752" y="2514600"/>
            <a:ext cx="841248" cy="329184"/>
          </a:xfrm>
          <a:prstGeom prst="rect">
            <a:avLst/>
          </a:prstGeom>
          <a:noFill/>
          <a:ln/>
        </p:spPr>
        <p:txBody>
          <a:bodyPr wrap="square" lIns="0" tIns="0" rIns="0" bIns="0" rtlCol="0" anchor="ctr"/>
          <a:lstStyle/>
          <a:p>
            <a:pPr algn="ctr" indent="0" marL="0">
              <a:buNone/>
            </a:pPr>
            <a:r>
              <a:rPr lang="en-US" sz="1300" b="1" dirty="0">
                <a:solidFill>
                  <a:srgbClr val="FFFFFF"/>
                </a:solidFill>
              </a:rPr>
              <a:t>FarmUser</a:t>
            </a:r>
            <a:endParaRPr lang="en-US" sz="1300" dirty="0"/>
          </a:p>
        </p:txBody>
      </p:sp>
      <p:sp>
        <p:nvSpPr>
          <p:cNvPr id="14" name="Shape 12"/>
          <p:cNvSpPr/>
          <p:nvPr/>
        </p:nvSpPr>
        <p:spPr>
          <a:xfrm flipV="1">
            <a:off x="923544" y="2157984"/>
            <a:ext cx="265176" cy="356616"/>
          </a:xfrm>
          <a:prstGeom prst="line">
            <a:avLst/>
          </a:prstGeom>
          <a:noFill/>
          <a:ln w="15875">
            <a:solidFill>
              <a:srgbClr val="5B6B73"/>
            </a:solidFill>
            <a:prstDash val="solid"/>
            <a:tailEnd type="triangle"/>
          </a:ln>
        </p:spPr>
      </p:sp>
      <p:sp>
        <p:nvSpPr>
          <p:cNvPr id="15" name="Shape 13"/>
          <p:cNvSpPr/>
          <p:nvPr/>
        </p:nvSpPr>
        <p:spPr>
          <a:xfrm flipH="1" flipV="1">
            <a:off x="1600200" y="2157984"/>
            <a:ext cx="265176" cy="356616"/>
          </a:xfrm>
          <a:prstGeom prst="line">
            <a:avLst/>
          </a:prstGeom>
          <a:noFill/>
          <a:ln w="15875">
            <a:solidFill>
              <a:srgbClr val="5B6B73"/>
            </a:solidFill>
            <a:prstDash val="solid"/>
            <a:tailEnd type="triangle"/>
          </a:ln>
        </p:spPr>
      </p:sp>
      <p:sp>
        <p:nvSpPr>
          <p:cNvPr id="16" name="Class Farm"/>
          <p:cNvSpPr/>
          <p:nvPr/>
        </p:nvSpPr>
        <p:spPr>
          <a:xfrm>
            <a:off x="2743200" y="1280160"/>
            <a:ext cx="2148840" cy="1042416"/>
          </a:xfrm>
          <a:prstGeom prst="rect">
            <a:avLst/>
          </a:prstGeom>
          <a:solidFill>
            <a:srgbClr val="FFFFFF"/>
          </a:solidFill>
          <a:ln w="15875">
            <a:solidFill>
              <a:srgbClr val="184D35"/>
            </a:solidFill>
            <a:prstDash val="solid"/>
          </a:ln>
        </p:spPr>
      </p:sp>
      <p:sp>
        <p:nvSpPr>
          <p:cNvPr id="17" name="Class header Farm"/>
          <p:cNvSpPr/>
          <p:nvPr/>
        </p:nvSpPr>
        <p:spPr>
          <a:xfrm>
            <a:off x="2743200" y="1280160"/>
            <a:ext cx="2148840" cy="329184"/>
          </a:xfrm>
          <a:prstGeom prst="rect">
            <a:avLst/>
          </a:prstGeom>
          <a:solidFill>
            <a:srgbClr val="184D35"/>
          </a:solidFill>
          <a:ln w="15875">
            <a:solidFill>
              <a:srgbClr val="184D35"/>
            </a:solidFill>
            <a:prstDash val="solid"/>
          </a:ln>
        </p:spPr>
      </p:sp>
      <p:sp>
        <p:nvSpPr>
          <p:cNvPr id="18" name="Class name Farm"/>
          <p:cNvSpPr txBox="1"/>
          <p:nvPr/>
        </p:nvSpPr>
        <p:spPr>
          <a:xfrm>
            <a:off x="2743200" y="1280160"/>
            <a:ext cx="2148840" cy="329184"/>
          </a:xfrm>
          <a:prstGeom prst="rect">
            <a:avLst/>
          </a:prstGeom>
          <a:noFill/>
          <a:ln/>
        </p:spPr>
        <p:txBody>
          <a:bodyPr wrap="square" lIns="0" tIns="0" rIns="0" bIns="0" rtlCol="0" anchor="ctr"/>
          <a:lstStyle/>
          <a:p>
            <a:pPr algn="ctr" indent="0" marL="0">
              <a:buNone/>
            </a:pPr>
            <a:r>
              <a:rPr lang="en-US" sz="1300" b="1" dirty="0">
                <a:solidFill>
                  <a:srgbClr val="FFFFFF"/>
                </a:solidFill>
              </a:rPr>
              <a:t>Farm</a:t>
            </a:r>
            <a:endParaRPr lang="en-US" sz="1300" dirty="0"/>
          </a:p>
        </p:txBody>
      </p:sp>
      <p:sp>
        <p:nvSpPr>
          <p:cNvPr id="19" name="Class attrs Farm"/>
          <p:cNvSpPr txBox="1"/>
          <p:nvPr/>
        </p:nvSpPr>
        <p:spPr>
          <a:xfrm>
            <a:off x="2816352" y="1627632"/>
            <a:ext cx="2002536" cy="676656"/>
          </a:xfrm>
          <a:prstGeom prst="rect">
            <a:avLst/>
          </a:prstGeom>
          <a:noFill/>
          <a:ln/>
        </p:spPr>
        <p:txBody>
          <a:bodyPr wrap="square" lIns="0" tIns="0" rIns="0" bIns="0" rtlCol="0" anchor="t"/>
          <a:lstStyle/>
          <a:p>
            <a:pPr indent="0" marL="0">
              <a:buNone/>
            </a:pPr>
            <a:r>
              <a:rPr lang="en-US" sz="1050" dirty="0">
                <a:solidFill>
                  <a:srgbClr val="0F2A36"/>
                </a:solidFill>
                <a:latin typeface="Consolas" pitchFamily="34" charset="0"/>
                <a:ea typeface="Consolas" pitchFamily="34" charset="-122"/>
                <a:cs typeface="Consolas" pitchFamily="34" charset="-120"/>
              </a:rPr>
              <a:t>farmName</a:t>
            </a:r>
            <a:endParaRPr lang="en-US" sz="1050" dirty="0"/>
          </a:p>
          <a:p>
            <a:pPr indent="0" marL="0">
              <a:buNone/>
            </a:pPr>
            <a:r>
              <a:rPr lang="en-US" sz="1050" dirty="0">
                <a:solidFill>
                  <a:srgbClr val="0F2A36"/>
                </a:solidFill>
                <a:latin typeface="Consolas" pitchFamily="34" charset="0"/>
                <a:ea typeface="Consolas" pitchFamily="34" charset="-122"/>
                <a:cs typeface="Consolas" pitchFamily="34" charset="-120"/>
              </a:rPr>
              <a:t>location</a:t>
            </a:r>
            <a:endParaRPr lang="en-US" sz="1050" dirty="0"/>
          </a:p>
          <a:p>
            <a:pPr indent="0" marL="0">
              <a:buNone/>
            </a:pPr>
            <a:r>
              <a:rPr lang="en-US" sz="1050" dirty="0">
                <a:solidFill>
                  <a:srgbClr val="0F2A36"/>
                </a:solidFill>
                <a:latin typeface="Consolas" pitchFamily="34" charset="0"/>
                <a:ea typeface="Consolas" pitchFamily="34" charset="-122"/>
                <a:cs typeface="Consolas" pitchFamily="34" charset="-120"/>
              </a:rPr>
              <a:t>+ AddZone()</a:t>
            </a:r>
            <a:endParaRPr lang="en-US" sz="1050" dirty="0"/>
          </a:p>
        </p:txBody>
      </p:sp>
      <p:sp>
        <p:nvSpPr>
          <p:cNvPr id="20" name="Shape 18"/>
          <p:cNvSpPr/>
          <p:nvPr/>
        </p:nvSpPr>
        <p:spPr>
          <a:xfrm flipV="1">
            <a:off x="2286000" y="2103120"/>
            <a:ext cx="457200" cy="594360"/>
          </a:xfrm>
          <a:prstGeom prst="line">
            <a:avLst/>
          </a:prstGeom>
          <a:noFill/>
          <a:ln w="15875">
            <a:solidFill>
              <a:srgbClr val="5B6B73"/>
            </a:solidFill>
            <a:prstDash val="solid"/>
            <a:tailEnd type="none"/>
          </a:ln>
        </p:spPr>
      </p:sp>
      <p:sp>
        <p:nvSpPr>
          <p:cNvPr id="21" name="Text 19"/>
          <p:cNvSpPr txBox="1"/>
          <p:nvPr/>
        </p:nvSpPr>
        <p:spPr>
          <a:xfrm>
            <a:off x="2240280" y="2212848"/>
            <a:ext cx="731520" cy="182880"/>
          </a:xfrm>
          <a:prstGeom prst="rect">
            <a:avLst/>
          </a:prstGeom>
          <a:noFill/>
          <a:ln/>
        </p:spPr>
        <p:txBody>
          <a:bodyPr wrap="square" lIns="0" tIns="0" rIns="0" bIns="0" rtlCol="0" anchor="t"/>
          <a:lstStyle/>
          <a:p>
            <a:pPr indent="0" marL="0">
              <a:buNone/>
            </a:pPr>
            <a:r>
              <a:rPr lang="en-US" sz="1000" dirty="0">
                <a:solidFill>
                  <a:srgbClr val="5B6B73"/>
                </a:solidFill>
              </a:rPr>
              <a:t>owns</a:t>
            </a:r>
            <a:endParaRPr lang="en-US" sz="1000" dirty="0"/>
          </a:p>
        </p:txBody>
      </p:sp>
      <p:sp>
        <p:nvSpPr>
          <p:cNvPr id="22" name="Class Zone"/>
          <p:cNvSpPr/>
          <p:nvPr/>
        </p:nvSpPr>
        <p:spPr>
          <a:xfrm>
            <a:off x="2743200" y="2880360"/>
            <a:ext cx="2148840" cy="1042416"/>
          </a:xfrm>
          <a:prstGeom prst="rect">
            <a:avLst/>
          </a:prstGeom>
          <a:solidFill>
            <a:srgbClr val="FFFFFF"/>
          </a:solidFill>
          <a:ln w="15875">
            <a:solidFill>
              <a:srgbClr val="168F99"/>
            </a:solidFill>
            <a:prstDash val="solid"/>
          </a:ln>
        </p:spPr>
      </p:sp>
      <p:sp>
        <p:nvSpPr>
          <p:cNvPr id="23" name="Class header Zone"/>
          <p:cNvSpPr/>
          <p:nvPr/>
        </p:nvSpPr>
        <p:spPr>
          <a:xfrm>
            <a:off x="2743200" y="2880360"/>
            <a:ext cx="2148840" cy="329184"/>
          </a:xfrm>
          <a:prstGeom prst="rect">
            <a:avLst/>
          </a:prstGeom>
          <a:solidFill>
            <a:srgbClr val="168F99"/>
          </a:solidFill>
          <a:ln w="15875">
            <a:solidFill>
              <a:srgbClr val="168F99"/>
            </a:solidFill>
            <a:prstDash val="solid"/>
          </a:ln>
        </p:spPr>
      </p:sp>
      <p:sp>
        <p:nvSpPr>
          <p:cNvPr id="24" name="Class name Zone"/>
          <p:cNvSpPr txBox="1"/>
          <p:nvPr/>
        </p:nvSpPr>
        <p:spPr>
          <a:xfrm>
            <a:off x="2743200" y="2880360"/>
            <a:ext cx="2148840" cy="329184"/>
          </a:xfrm>
          <a:prstGeom prst="rect">
            <a:avLst/>
          </a:prstGeom>
          <a:noFill/>
          <a:ln/>
        </p:spPr>
        <p:txBody>
          <a:bodyPr wrap="square" lIns="0" tIns="0" rIns="0" bIns="0" rtlCol="0" anchor="ctr"/>
          <a:lstStyle/>
          <a:p>
            <a:pPr algn="ctr" indent="0" marL="0">
              <a:buNone/>
            </a:pPr>
            <a:r>
              <a:rPr lang="en-US" sz="1300" b="1" dirty="0">
                <a:solidFill>
                  <a:srgbClr val="FFFFFF"/>
                </a:solidFill>
              </a:rPr>
              <a:t>Zone</a:t>
            </a:r>
            <a:endParaRPr lang="en-US" sz="1300" dirty="0"/>
          </a:p>
        </p:txBody>
      </p:sp>
      <p:sp>
        <p:nvSpPr>
          <p:cNvPr id="25" name="Class attrs Zone"/>
          <p:cNvSpPr txBox="1"/>
          <p:nvPr/>
        </p:nvSpPr>
        <p:spPr>
          <a:xfrm>
            <a:off x="2816352" y="3227832"/>
            <a:ext cx="2002536" cy="676656"/>
          </a:xfrm>
          <a:prstGeom prst="rect">
            <a:avLst/>
          </a:prstGeom>
          <a:noFill/>
          <a:ln/>
        </p:spPr>
        <p:txBody>
          <a:bodyPr wrap="square" lIns="0" tIns="0" rIns="0" bIns="0" rtlCol="0" anchor="t"/>
          <a:lstStyle/>
          <a:p>
            <a:pPr indent="0" marL="0">
              <a:buNone/>
            </a:pPr>
            <a:r>
              <a:rPr lang="en-US" sz="1050" dirty="0">
                <a:solidFill>
                  <a:srgbClr val="0F2A36"/>
                </a:solidFill>
                <a:latin typeface="Consolas" pitchFamily="34" charset="0"/>
                <a:ea typeface="Consolas" pitchFamily="34" charset="-122"/>
                <a:cs typeface="Consolas" pitchFamily="34" charset="-120"/>
              </a:rPr>
              <a:t>cropType</a:t>
            </a:r>
            <a:endParaRPr lang="en-US" sz="1050" dirty="0"/>
          </a:p>
          <a:p>
            <a:pPr indent="0" marL="0">
              <a:buNone/>
            </a:pPr>
            <a:r>
              <a:rPr lang="en-US" sz="1050" dirty="0">
                <a:solidFill>
                  <a:srgbClr val="0F2A36"/>
                </a:solidFill>
                <a:latin typeface="Consolas" pitchFamily="34" charset="0"/>
                <a:ea typeface="Consolas" pitchFamily="34" charset="-122"/>
                <a:cs typeface="Consolas" pitchFamily="34" charset="-120"/>
              </a:rPr>
              <a:t>moistureThreshold</a:t>
            </a:r>
            <a:endParaRPr lang="en-US" sz="1050" dirty="0"/>
          </a:p>
          <a:p>
            <a:pPr indent="0" marL="0">
              <a:buNone/>
            </a:pPr>
            <a:r>
              <a:rPr lang="en-US" sz="1050" dirty="0">
                <a:solidFill>
                  <a:srgbClr val="0F2A36"/>
                </a:solidFill>
                <a:latin typeface="Consolas" pitchFamily="34" charset="0"/>
                <a:ea typeface="Consolas" pitchFamily="34" charset="-122"/>
                <a:cs typeface="Consolas" pitchFamily="34" charset="-120"/>
              </a:rPr>
              <a:t>+ ShouldStartIrrigation()</a:t>
            </a:r>
            <a:endParaRPr lang="en-US" sz="1050" dirty="0"/>
          </a:p>
        </p:txBody>
      </p:sp>
      <p:sp>
        <p:nvSpPr>
          <p:cNvPr id="26" name="Shape 24"/>
          <p:cNvSpPr/>
          <p:nvPr/>
        </p:nvSpPr>
        <p:spPr>
          <a:xfrm>
            <a:off x="3813048" y="2322576"/>
            <a:ext cx="914" cy="557784"/>
          </a:xfrm>
          <a:prstGeom prst="line">
            <a:avLst/>
          </a:prstGeom>
          <a:noFill/>
          <a:ln w="15875">
            <a:solidFill>
              <a:srgbClr val="5B6B73"/>
            </a:solidFill>
            <a:prstDash val="solid"/>
            <a:tailEnd type="none"/>
          </a:ln>
        </p:spPr>
      </p:sp>
      <p:sp>
        <p:nvSpPr>
          <p:cNvPr id="27" name="Text 25"/>
          <p:cNvSpPr txBox="1"/>
          <p:nvPr/>
        </p:nvSpPr>
        <p:spPr>
          <a:xfrm>
            <a:off x="3886200" y="2487168"/>
            <a:ext cx="731520" cy="182880"/>
          </a:xfrm>
          <a:prstGeom prst="rect">
            <a:avLst/>
          </a:prstGeom>
          <a:noFill/>
          <a:ln/>
        </p:spPr>
        <p:txBody>
          <a:bodyPr wrap="square" lIns="0" tIns="0" rIns="0" bIns="0" rtlCol="0" anchor="t"/>
          <a:lstStyle/>
          <a:p>
            <a:pPr indent="0" marL="0">
              <a:buNone/>
            </a:pPr>
            <a:r>
              <a:rPr lang="en-US" sz="1000" dirty="0">
                <a:solidFill>
                  <a:srgbClr val="5B6B73"/>
                </a:solidFill>
              </a:rPr>
              <a:t>1..*</a:t>
            </a:r>
            <a:endParaRPr lang="en-US" sz="1000" dirty="0"/>
          </a:p>
        </p:txBody>
      </p:sp>
      <p:sp>
        <p:nvSpPr>
          <p:cNvPr id="28" name="Class Weather"/>
          <p:cNvSpPr/>
          <p:nvPr/>
        </p:nvSpPr>
        <p:spPr>
          <a:xfrm>
            <a:off x="5349240" y="1280160"/>
            <a:ext cx="1600200" cy="822960"/>
          </a:xfrm>
          <a:prstGeom prst="rect">
            <a:avLst/>
          </a:prstGeom>
          <a:solidFill>
            <a:srgbClr val="FFFFFF"/>
          </a:solidFill>
          <a:ln w="15875">
            <a:solidFill>
              <a:srgbClr val="5B6B73"/>
            </a:solidFill>
            <a:prstDash val="solid"/>
          </a:ln>
        </p:spPr>
      </p:sp>
      <p:sp>
        <p:nvSpPr>
          <p:cNvPr id="29" name="Class header Weather"/>
          <p:cNvSpPr/>
          <p:nvPr/>
        </p:nvSpPr>
        <p:spPr>
          <a:xfrm>
            <a:off x="5349240" y="1280160"/>
            <a:ext cx="1600200" cy="329184"/>
          </a:xfrm>
          <a:prstGeom prst="rect">
            <a:avLst/>
          </a:prstGeom>
          <a:solidFill>
            <a:srgbClr val="5B6B73"/>
          </a:solidFill>
          <a:ln w="15875">
            <a:solidFill>
              <a:srgbClr val="5B6B73"/>
            </a:solidFill>
            <a:prstDash val="solid"/>
          </a:ln>
        </p:spPr>
      </p:sp>
      <p:sp>
        <p:nvSpPr>
          <p:cNvPr id="30" name="Class name Weather"/>
          <p:cNvSpPr txBox="1"/>
          <p:nvPr/>
        </p:nvSpPr>
        <p:spPr>
          <a:xfrm>
            <a:off x="5349240" y="1280160"/>
            <a:ext cx="1600200" cy="329184"/>
          </a:xfrm>
          <a:prstGeom prst="rect">
            <a:avLst/>
          </a:prstGeom>
          <a:noFill/>
          <a:ln/>
        </p:spPr>
        <p:txBody>
          <a:bodyPr wrap="square" lIns="0" tIns="0" rIns="0" bIns="0" rtlCol="0" anchor="ctr"/>
          <a:lstStyle/>
          <a:p>
            <a:pPr algn="ctr" indent="0" marL="0">
              <a:buNone/>
            </a:pPr>
            <a:r>
              <a:rPr lang="en-US" sz="1300" b="1" dirty="0">
                <a:solidFill>
                  <a:srgbClr val="FFFFFF"/>
                </a:solidFill>
              </a:rPr>
              <a:t>Weather</a:t>
            </a:r>
            <a:endParaRPr lang="en-US" sz="1300" dirty="0"/>
          </a:p>
        </p:txBody>
      </p:sp>
      <p:sp>
        <p:nvSpPr>
          <p:cNvPr id="31" name="Class attrs Weather"/>
          <p:cNvSpPr txBox="1"/>
          <p:nvPr/>
        </p:nvSpPr>
        <p:spPr>
          <a:xfrm>
            <a:off x="5422392" y="1627632"/>
            <a:ext cx="1453896" cy="457200"/>
          </a:xfrm>
          <a:prstGeom prst="rect">
            <a:avLst/>
          </a:prstGeom>
          <a:noFill/>
          <a:ln/>
        </p:spPr>
        <p:txBody>
          <a:bodyPr wrap="square" lIns="0" tIns="0" rIns="0" bIns="0" rtlCol="0" anchor="t"/>
          <a:lstStyle/>
          <a:p>
            <a:pPr indent="0" marL="0">
              <a:buNone/>
            </a:pPr>
            <a:r>
              <a:rPr lang="en-US" sz="1050" dirty="0">
                <a:solidFill>
                  <a:srgbClr val="0F2A36"/>
                </a:solidFill>
                <a:latin typeface="Consolas" pitchFamily="34" charset="0"/>
                <a:ea typeface="Consolas" pitchFamily="34" charset="-122"/>
                <a:cs typeface="Consolas" pitchFamily="34" charset="-120"/>
              </a:rPr>
              <a:t>temperature</a:t>
            </a:r>
            <a:endParaRPr lang="en-US" sz="1050" dirty="0"/>
          </a:p>
          <a:p>
            <a:pPr indent="0" marL="0">
              <a:buNone/>
            </a:pPr>
            <a:r>
              <a:rPr lang="en-US" sz="1050" dirty="0">
                <a:solidFill>
                  <a:srgbClr val="0F2A36"/>
                </a:solidFill>
                <a:latin typeface="Consolas" pitchFamily="34" charset="0"/>
                <a:ea typeface="Consolas" pitchFamily="34" charset="-122"/>
                <a:cs typeface="Consolas" pitchFamily="34" charset="-120"/>
              </a:rPr>
              <a:t>windSpeed</a:t>
            </a:r>
            <a:endParaRPr lang="en-US" sz="1050" dirty="0"/>
          </a:p>
        </p:txBody>
      </p:sp>
      <p:sp>
        <p:nvSpPr>
          <p:cNvPr id="32" name="Shape 30"/>
          <p:cNvSpPr/>
          <p:nvPr/>
        </p:nvSpPr>
        <p:spPr>
          <a:xfrm>
            <a:off x="4892040" y="1691640"/>
            <a:ext cx="457200" cy="914"/>
          </a:xfrm>
          <a:prstGeom prst="line">
            <a:avLst/>
          </a:prstGeom>
          <a:noFill/>
          <a:ln w="15875">
            <a:solidFill>
              <a:srgbClr val="5B6B73"/>
            </a:solidFill>
            <a:prstDash val="solid"/>
            <a:tailEnd type="none"/>
          </a:ln>
        </p:spPr>
      </p:sp>
      <p:sp>
        <p:nvSpPr>
          <p:cNvPr id="33" name="Text 31"/>
          <p:cNvSpPr txBox="1"/>
          <p:nvPr/>
        </p:nvSpPr>
        <p:spPr>
          <a:xfrm>
            <a:off x="4937760" y="1463040"/>
            <a:ext cx="731520" cy="182880"/>
          </a:xfrm>
          <a:prstGeom prst="rect">
            <a:avLst/>
          </a:prstGeom>
          <a:noFill/>
          <a:ln/>
        </p:spPr>
        <p:txBody>
          <a:bodyPr wrap="square" lIns="0" tIns="0" rIns="0" bIns="0" rtlCol="0" anchor="t"/>
          <a:lstStyle/>
          <a:p>
            <a:pPr indent="0" marL="0">
              <a:buNone/>
            </a:pPr>
            <a:r>
              <a:rPr lang="en-US" sz="1000" dirty="0">
                <a:solidFill>
                  <a:srgbClr val="5B6B73"/>
                </a:solidFill>
              </a:rPr>
              <a:t>1..*</a:t>
            </a:r>
            <a:endParaRPr lang="en-US" sz="1000" dirty="0"/>
          </a:p>
        </p:txBody>
      </p:sp>
      <p:sp>
        <p:nvSpPr>
          <p:cNvPr id="34" name="Class Hardware"/>
          <p:cNvSpPr/>
          <p:nvPr/>
        </p:nvSpPr>
        <p:spPr>
          <a:xfrm>
            <a:off x="5349240" y="2880360"/>
            <a:ext cx="1600200" cy="822960"/>
          </a:xfrm>
          <a:prstGeom prst="rect">
            <a:avLst/>
          </a:prstGeom>
          <a:solidFill>
            <a:srgbClr val="FFFFFF"/>
          </a:solidFill>
          <a:ln w="15875">
            <a:solidFill>
              <a:srgbClr val="2F6B4B"/>
            </a:solidFill>
            <a:prstDash val="solid"/>
          </a:ln>
        </p:spPr>
      </p:sp>
      <p:sp>
        <p:nvSpPr>
          <p:cNvPr id="35" name="Class header Hardware"/>
          <p:cNvSpPr/>
          <p:nvPr/>
        </p:nvSpPr>
        <p:spPr>
          <a:xfrm>
            <a:off x="5349240" y="2880360"/>
            <a:ext cx="1600200" cy="329184"/>
          </a:xfrm>
          <a:prstGeom prst="rect">
            <a:avLst/>
          </a:prstGeom>
          <a:solidFill>
            <a:srgbClr val="2F6B4B"/>
          </a:solidFill>
          <a:ln w="15875">
            <a:solidFill>
              <a:srgbClr val="2F6B4B"/>
            </a:solidFill>
            <a:prstDash val="solid"/>
          </a:ln>
        </p:spPr>
      </p:sp>
      <p:sp>
        <p:nvSpPr>
          <p:cNvPr id="36" name="Class name Hardware"/>
          <p:cNvSpPr txBox="1"/>
          <p:nvPr/>
        </p:nvSpPr>
        <p:spPr>
          <a:xfrm>
            <a:off x="5349240" y="2880360"/>
            <a:ext cx="1600200" cy="329184"/>
          </a:xfrm>
          <a:prstGeom prst="rect">
            <a:avLst/>
          </a:prstGeom>
          <a:noFill/>
          <a:ln/>
        </p:spPr>
        <p:txBody>
          <a:bodyPr wrap="square" lIns="0" tIns="0" rIns="0" bIns="0" rtlCol="0" anchor="ctr"/>
          <a:lstStyle/>
          <a:p>
            <a:pPr algn="ctr" indent="0" marL="0">
              <a:buNone/>
            </a:pPr>
            <a:r>
              <a:rPr lang="en-US" sz="1300" b="1" dirty="0">
                <a:solidFill>
                  <a:srgbClr val="FFFFFF"/>
                </a:solidFill>
              </a:rPr>
              <a:t>Hardware</a:t>
            </a:r>
            <a:endParaRPr lang="en-US" sz="1300" dirty="0"/>
          </a:p>
        </p:txBody>
      </p:sp>
      <p:sp>
        <p:nvSpPr>
          <p:cNvPr id="37" name="Class attrs Hardware"/>
          <p:cNvSpPr txBox="1"/>
          <p:nvPr/>
        </p:nvSpPr>
        <p:spPr>
          <a:xfrm>
            <a:off x="5422392" y="3227832"/>
            <a:ext cx="1453896" cy="457200"/>
          </a:xfrm>
          <a:prstGeom prst="rect">
            <a:avLst/>
          </a:prstGeom>
          <a:noFill/>
          <a:ln/>
        </p:spPr>
        <p:txBody>
          <a:bodyPr wrap="square" lIns="0" tIns="0" rIns="0" bIns="0" rtlCol="0" anchor="t"/>
          <a:lstStyle/>
          <a:p>
            <a:pPr indent="0" marL="0">
              <a:buNone/>
            </a:pPr>
            <a:r>
              <a:rPr lang="en-US" sz="1050" dirty="0">
                <a:solidFill>
                  <a:srgbClr val="0F2A36"/>
                </a:solidFill>
                <a:latin typeface="Consolas" pitchFamily="34" charset="0"/>
                <a:ea typeface="Consolas" pitchFamily="34" charset="-122"/>
                <a:cs typeface="Consolas" pitchFamily="34" charset="-120"/>
              </a:rPr>
              <a:t>status</a:t>
            </a:r>
            <a:endParaRPr lang="en-US" sz="1050" dirty="0"/>
          </a:p>
          <a:p>
            <a:pPr indent="0" marL="0">
              <a:buNone/>
            </a:pPr>
            <a:r>
              <a:rPr lang="en-US" sz="1050" dirty="0">
                <a:solidFill>
                  <a:srgbClr val="0F2A36"/>
                </a:solidFill>
                <a:latin typeface="Consolas" pitchFamily="34" charset="0"/>
                <a:ea typeface="Consolas" pitchFamily="34" charset="-122"/>
                <a:cs typeface="Consolas" pitchFamily="34" charset="-120"/>
              </a:rPr>
              <a:t>lastSeen</a:t>
            </a:r>
            <a:endParaRPr lang="en-US" sz="1050" dirty="0"/>
          </a:p>
        </p:txBody>
      </p:sp>
      <p:sp>
        <p:nvSpPr>
          <p:cNvPr id="38" name="Shape 36"/>
          <p:cNvSpPr/>
          <p:nvPr/>
        </p:nvSpPr>
        <p:spPr>
          <a:xfrm>
            <a:off x="4892040" y="3291840"/>
            <a:ext cx="457200" cy="914"/>
          </a:xfrm>
          <a:prstGeom prst="line">
            <a:avLst/>
          </a:prstGeom>
          <a:noFill/>
          <a:ln w="15875">
            <a:solidFill>
              <a:srgbClr val="5B6B73"/>
            </a:solidFill>
            <a:prstDash val="solid"/>
            <a:tailEnd type="none"/>
          </a:ln>
        </p:spPr>
      </p:sp>
      <p:sp>
        <p:nvSpPr>
          <p:cNvPr id="39" name="Text 37"/>
          <p:cNvSpPr txBox="1"/>
          <p:nvPr/>
        </p:nvSpPr>
        <p:spPr>
          <a:xfrm>
            <a:off x="4937760" y="3063240"/>
            <a:ext cx="731520" cy="182880"/>
          </a:xfrm>
          <a:prstGeom prst="rect">
            <a:avLst/>
          </a:prstGeom>
          <a:noFill/>
          <a:ln/>
        </p:spPr>
        <p:txBody>
          <a:bodyPr wrap="square" lIns="0" tIns="0" rIns="0" bIns="0" rtlCol="0" anchor="t"/>
          <a:lstStyle/>
          <a:p>
            <a:pPr indent="0" marL="0">
              <a:buNone/>
            </a:pPr>
            <a:r>
              <a:rPr lang="en-US" sz="1000" dirty="0">
                <a:solidFill>
                  <a:srgbClr val="5B6B73"/>
                </a:solidFill>
              </a:rPr>
              <a:t>0..*</a:t>
            </a:r>
            <a:endParaRPr lang="en-US" sz="1000" dirty="0"/>
          </a:p>
        </p:txBody>
      </p:sp>
      <p:sp>
        <p:nvSpPr>
          <p:cNvPr id="40" name="Class ESP32"/>
          <p:cNvSpPr/>
          <p:nvPr/>
        </p:nvSpPr>
        <p:spPr>
          <a:xfrm>
            <a:off x="4937760" y="4343400"/>
            <a:ext cx="749808" cy="384048"/>
          </a:xfrm>
          <a:prstGeom prst="rect">
            <a:avLst/>
          </a:prstGeom>
          <a:solidFill>
            <a:srgbClr val="FFFFFF"/>
          </a:solidFill>
          <a:ln w="15875">
            <a:solidFill>
              <a:srgbClr val="2F6B4B"/>
            </a:solidFill>
            <a:prstDash val="solid"/>
          </a:ln>
        </p:spPr>
      </p:sp>
      <p:sp>
        <p:nvSpPr>
          <p:cNvPr id="41" name="Class header ESP32"/>
          <p:cNvSpPr/>
          <p:nvPr/>
        </p:nvSpPr>
        <p:spPr>
          <a:xfrm>
            <a:off x="4937760" y="4343400"/>
            <a:ext cx="749808" cy="329184"/>
          </a:xfrm>
          <a:prstGeom prst="rect">
            <a:avLst/>
          </a:prstGeom>
          <a:solidFill>
            <a:srgbClr val="2F6B4B"/>
          </a:solidFill>
          <a:ln w="15875">
            <a:solidFill>
              <a:srgbClr val="2F6B4B"/>
            </a:solidFill>
            <a:prstDash val="solid"/>
          </a:ln>
        </p:spPr>
      </p:sp>
      <p:sp>
        <p:nvSpPr>
          <p:cNvPr id="42" name="Class name ESP32"/>
          <p:cNvSpPr txBox="1"/>
          <p:nvPr/>
        </p:nvSpPr>
        <p:spPr>
          <a:xfrm>
            <a:off x="4937760" y="4343400"/>
            <a:ext cx="749808" cy="329184"/>
          </a:xfrm>
          <a:prstGeom prst="rect">
            <a:avLst/>
          </a:prstGeom>
          <a:noFill/>
          <a:ln/>
        </p:spPr>
        <p:txBody>
          <a:bodyPr wrap="square" lIns="0" tIns="0" rIns="0" bIns="0" rtlCol="0" anchor="ctr"/>
          <a:lstStyle/>
          <a:p>
            <a:pPr algn="ctr" indent="0" marL="0">
              <a:buNone/>
            </a:pPr>
            <a:r>
              <a:rPr lang="en-US" sz="1300" b="1" dirty="0">
                <a:solidFill>
                  <a:srgbClr val="FFFFFF"/>
                </a:solidFill>
              </a:rPr>
              <a:t>ESP32</a:t>
            </a:r>
            <a:endParaRPr lang="en-US" sz="1300" dirty="0"/>
          </a:p>
        </p:txBody>
      </p:sp>
      <p:sp>
        <p:nvSpPr>
          <p:cNvPr id="43" name="Class Sensor"/>
          <p:cNvSpPr/>
          <p:nvPr/>
        </p:nvSpPr>
        <p:spPr>
          <a:xfrm>
            <a:off x="5779008" y="4343400"/>
            <a:ext cx="749808" cy="384048"/>
          </a:xfrm>
          <a:prstGeom prst="rect">
            <a:avLst/>
          </a:prstGeom>
          <a:solidFill>
            <a:srgbClr val="FFFFFF"/>
          </a:solidFill>
          <a:ln w="15875">
            <a:solidFill>
              <a:srgbClr val="2F6B4B"/>
            </a:solidFill>
            <a:prstDash val="solid"/>
          </a:ln>
        </p:spPr>
      </p:sp>
      <p:sp>
        <p:nvSpPr>
          <p:cNvPr id="44" name="Class header Sensor"/>
          <p:cNvSpPr/>
          <p:nvPr/>
        </p:nvSpPr>
        <p:spPr>
          <a:xfrm>
            <a:off x="5779008" y="4343400"/>
            <a:ext cx="749808" cy="329184"/>
          </a:xfrm>
          <a:prstGeom prst="rect">
            <a:avLst/>
          </a:prstGeom>
          <a:solidFill>
            <a:srgbClr val="2F6B4B"/>
          </a:solidFill>
          <a:ln w="15875">
            <a:solidFill>
              <a:srgbClr val="2F6B4B"/>
            </a:solidFill>
            <a:prstDash val="solid"/>
          </a:ln>
        </p:spPr>
      </p:sp>
      <p:sp>
        <p:nvSpPr>
          <p:cNvPr id="45" name="Class name Sensor"/>
          <p:cNvSpPr txBox="1"/>
          <p:nvPr/>
        </p:nvSpPr>
        <p:spPr>
          <a:xfrm>
            <a:off x="5779008" y="4343400"/>
            <a:ext cx="749808" cy="329184"/>
          </a:xfrm>
          <a:prstGeom prst="rect">
            <a:avLst/>
          </a:prstGeom>
          <a:noFill/>
          <a:ln/>
        </p:spPr>
        <p:txBody>
          <a:bodyPr wrap="square" lIns="0" tIns="0" rIns="0" bIns="0" rtlCol="0" anchor="ctr"/>
          <a:lstStyle/>
          <a:p>
            <a:pPr algn="ctr" indent="0" marL="0">
              <a:buNone/>
            </a:pPr>
            <a:r>
              <a:rPr lang="en-US" sz="1300" b="1" dirty="0">
                <a:solidFill>
                  <a:srgbClr val="FFFFFF"/>
                </a:solidFill>
              </a:rPr>
              <a:t>Sensor</a:t>
            </a:r>
            <a:endParaRPr lang="en-US" sz="1300" dirty="0"/>
          </a:p>
        </p:txBody>
      </p:sp>
      <p:sp>
        <p:nvSpPr>
          <p:cNvPr id="46" name="Class Pump"/>
          <p:cNvSpPr/>
          <p:nvPr/>
        </p:nvSpPr>
        <p:spPr>
          <a:xfrm>
            <a:off x="6620256" y="4343400"/>
            <a:ext cx="749808" cy="384048"/>
          </a:xfrm>
          <a:prstGeom prst="rect">
            <a:avLst/>
          </a:prstGeom>
          <a:solidFill>
            <a:srgbClr val="FFFFFF"/>
          </a:solidFill>
          <a:ln w="15875">
            <a:solidFill>
              <a:srgbClr val="2F6B4B"/>
            </a:solidFill>
            <a:prstDash val="solid"/>
          </a:ln>
        </p:spPr>
      </p:sp>
      <p:sp>
        <p:nvSpPr>
          <p:cNvPr id="47" name="Class header Pump"/>
          <p:cNvSpPr/>
          <p:nvPr/>
        </p:nvSpPr>
        <p:spPr>
          <a:xfrm>
            <a:off x="6620256" y="4343400"/>
            <a:ext cx="749808" cy="329184"/>
          </a:xfrm>
          <a:prstGeom prst="rect">
            <a:avLst/>
          </a:prstGeom>
          <a:solidFill>
            <a:srgbClr val="2F6B4B"/>
          </a:solidFill>
          <a:ln w="15875">
            <a:solidFill>
              <a:srgbClr val="2F6B4B"/>
            </a:solidFill>
            <a:prstDash val="solid"/>
          </a:ln>
        </p:spPr>
      </p:sp>
      <p:sp>
        <p:nvSpPr>
          <p:cNvPr id="48" name="Class name Pump"/>
          <p:cNvSpPr txBox="1"/>
          <p:nvPr/>
        </p:nvSpPr>
        <p:spPr>
          <a:xfrm>
            <a:off x="6620256" y="4343400"/>
            <a:ext cx="749808" cy="329184"/>
          </a:xfrm>
          <a:prstGeom prst="rect">
            <a:avLst/>
          </a:prstGeom>
          <a:noFill/>
          <a:ln/>
        </p:spPr>
        <p:txBody>
          <a:bodyPr wrap="square" lIns="0" tIns="0" rIns="0" bIns="0" rtlCol="0" anchor="ctr"/>
          <a:lstStyle/>
          <a:p>
            <a:pPr algn="ctr" indent="0" marL="0">
              <a:buNone/>
            </a:pPr>
            <a:r>
              <a:rPr lang="en-US" sz="1300" b="1" dirty="0">
                <a:solidFill>
                  <a:srgbClr val="FFFFFF"/>
                </a:solidFill>
              </a:rPr>
              <a:t>Pump</a:t>
            </a:r>
            <a:endParaRPr lang="en-US" sz="1300" dirty="0"/>
          </a:p>
        </p:txBody>
      </p:sp>
      <p:sp>
        <p:nvSpPr>
          <p:cNvPr id="49" name="Shape 47"/>
          <p:cNvSpPr/>
          <p:nvPr/>
        </p:nvSpPr>
        <p:spPr>
          <a:xfrm flipV="1">
            <a:off x="5312664" y="3703320"/>
            <a:ext cx="832104" cy="640080"/>
          </a:xfrm>
          <a:prstGeom prst="line">
            <a:avLst/>
          </a:prstGeom>
          <a:noFill/>
          <a:ln w="15875">
            <a:solidFill>
              <a:srgbClr val="5B6B73"/>
            </a:solidFill>
            <a:prstDash val="solid"/>
            <a:tailEnd type="triangle"/>
          </a:ln>
        </p:spPr>
      </p:sp>
      <p:sp>
        <p:nvSpPr>
          <p:cNvPr id="50" name="Shape 48"/>
          <p:cNvSpPr/>
          <p:nvPr/>
        </p:nvSpPr>
        <p:spPr>
          <a:xfrm flipH="1" flipV="1">
            <a:off x="6144768" y="3703320"/>
            <a:ext cx="9144" cy="640080"/>
          </a:xfrm>
          <a:prstGeom prst="line">
            <a:avLst/>
          </a:prstGeom>
          <a:noFill/>
          <a:ln w="15875">
            <a:solidFill>
              <a:srgbClr val="5B6B73"/>
            </a:solidFill>
            <a:prstDash val="solid"/>
            <a:tailEnd type="triangle"/>
          </a:ln>
        </p:spPr>
      </p:sp>
      <p:sp>
        <p:nvSpPr>
          <p:cNvPr id="51" name="Shape 49"/>
          <p:cNvSpPr/>
          <p:nvPr/>
        </p:nvSpPr>
        <p:spPr>
          <a:xfrm flipH="1" flipV="1">
            <a:off x="6144768" y="3703320"/>
            <a:ext cx="850392" cy="640080"/>
          </a:xfrm>
          <a:prstGeom prst="line">
            <a:avLst/>
          </a:prstGeom>
          <a:noFill/>
          <a:ln w="15875">
            <a:solidFill>
              <a:srgbClr val="5B6B73"/>
            </a:solidFill>
            <a:prstDash val="solid"/>
            <a:tailEnd type="triangle"/>
          </a:ln>
        </p:spPr>
      </p:sp>
      <p:sp>
        <p:nvSpPr>
          <p:cNvPr id="52" name="Class IrrigationLog"/>
          <p:cNvSpPr/>
          <p:nvPr/>
        </p:nvSpPr>
        <p:spPr>
          <a:xfrm>
            <a:off x="502920" y="4206240"/>
            <a:ext cx="1600200" cy="822960"/>
          </a:xfrm>
          <a:prstGeom prst="rect">
            <a:avLst/>
          </a:prstGeom>
          <a:solidFill>
            <a:srgbClr val="FFFFFF"/>
          </a:solidFill>
          <a:ln w="15875">
            <a:solidFill>
              <a:srgbClr val="1E88E5"/>
            </a:solidFill>
            <a:prstDash val="solid"/>
          </a:ln>
        </p:spPr>
      </p:sp>
      <p:sp>
        <p:nvSpPr>
          <p:cNvPr id="53" name="Class header IrrigationLog"/>
          <p:cNvSpPr/>
          <p:nvPr/>
        </p:nvSpPr>
        <p:spPr>
          <a:xfrm>
            <a:off x="502920" y="4206240"/>
            <a:ext cx="1600200" cy="329184"/>
          </a:xfrm>
          <a:prstGeom prst="rect">
            <a:avLst/>
          </a:prstGeom>
          <a:solidFill>
            <a:srgbClr val="1E88E5"/>
          </a:solidFill>
          <a:ln w="15875">
            <a:solidFill>
              <a:srgbClr val="1E88E5"/>
            </a:solidFill>
            <a:prstDash val="solid"/>
          </a:ln>
        </p:spPr>
      </p:sp>
      <p:sp>
        <p:nvSpPr>
          <p:cNvPr id="54" name="Class name IrrigationLog"/>
          <p:cNvSpPr txBox="1"/>
          <p:nvPr/>
        </p:nvSpPr>
        <p:spPr>
          <a:xfrm>
            <a:off x="502920" y="4206240"/>
            <a:ext cx="1600200" cy="329184"/>
          </a:xfrm>
          <a:prstGeom prst="rect">
            <a:avLst/>
          </a:prstGeom>
          <a:noFill/>
          <a:ln/>
        </p:spPr>
        <p:txBody>
          <a:bodyPr wrap="square" lIns="0" tIns="0" rIns="0" bIns="0" rtlCol="0" anchor="ctr"/>
          <a:lstStyle/>
          <a:p>
            <a:pPr algn="ctr" indent="0" marL="0">
              <a:buNone/>
            </a:pPr>
            <a:r>
              <a:rPr lang="en-US" sz="1300" b="1" dirty="0">
                <a:solidFill>
                  <a:srgbClr val="FFFFFF"/>
                </a:solidFill>
              </a:rPr>
              <a:t>IrrigationLog</a:t>
            </a:r>
            <a:endParaRPr lang="en-US" sz="1300" dirty="0"/>
          </a:p>
        </p:txBody>
      </p:sp>
      <p:sp>
        <p:nvSpPr>
          <p:cNvPr id="55" name="Class attrs IrrigationLog"/>
          <p:cNvSpPr txBox="1"/>
          <p:nvPr/>
        </p:nvSpPr>
        <p:spPr>
          <a:xfrm>
            <a:off x="576072" y="4553712"/>
            <a:ext cx="1453896" cy="457200"/>
          </a:xfrm>
          <a:prstGeom prst="rect">
            <a:avLst/>
          </a:prstGeom>
          <a:noFill/>
          <a:ln/>
        </p:spPr>
        <p:txBody>
          <a:bodyPr wrap="square" lIns="0" tIns="0" rIns="0" bIns="0" rtlCol="0" anchor="t"/>
          <a:lstStyle/>
          <a:p>
            <a:pPr indent="0" marL="0">
              <a:buNone/>
            </a:pPr>
            <a:r>
              <a:rPr lang="en-US" sz="1050" dirty="0">
                <a:solidFill>
                  <a:srgbClr val="0F2A36"/>
                </a:solidFill>
                <a:latin typeface="Consolas" pitchFamily="34" charset="0"/>
                <a:ea typeface="Consolas" pitchFamily="34" charset="-122"/>
                <a:cs typeface="Consolas" pitchFamily="34" charset="-120"/>
              </a:rPr>
              <a:t>runtimeSeconds</a:t>
            </a:r>
            <a:endParaRPr lang="en-US" sz="1050" dirty="0"/>
          </a:p>
          <a:p>
            <a:pPr indent="0" marL="0">
              <a:buNone/>
            </a:pPr>
            <a:r>
              <a:rPr lang="en-US" sz="1050" dirty="0">
                <a:solidFill>
                  <a:srgbClr val="0F2A36"/>
                </a:solidFill>
                <a:latin typeface="Consolas" pitchFamily="34" charset="0"/>
                <a:ea typeface="Consolas" pitchFamily="34" charset="-122"/>
                <a:cs typeface="Consolas" pitchFamily="34" charset="-120"/>
              </a:rPr>
              <a:t>estimatedLitres</a:t>
            </a:r>
            <a:endParaRPr lang="en-US" sz="1050" dirty="0"/>
          </a:p>
        </p:txBody>
      </p:sp>
      <p:sp>
        <p:nvSpPr>
          <p:cNvPr id="56" name="Class Alert"/>
          <p:cNvSpPr/>
          <p:nvPr/>
        </p:nvSpPr>
        <p:spPr>
          <a:xfrm>
            <a:off x="2240280" y="4343400"/>
            <a:ext cx="1143000" cy="603504"/>
          </a:xfrm>
          <a:prstGeom prst="rect">
            <a:avLst/>
          </a:prstGeom>
          <a:solidFill>
            <a:srgbClr val="FFFFFF"/>
          </a:solidFill>
          <a:ln w="15875">
            <a:solidFill>
              <a:srgbClr val="C98A00"/>
            </a:solidFill>
            <a:prstDash val="solid"/>
          </a:ln>
        </p:spPr>
      </p:sp>
      <p:sp>
        <p:nvSpPr>
          <p:cNvPr id="57" name="Class header Alert"/>
          <p:cNvSpPr/>
          <p:nvPr/>
        </p:nvSpPr>
        <p:spPr>
          <a:xfrm>
            <a:off x="2240280" y="4343400"/>
            <a:ext cx="1143000" cy="329184"/>
          </a:xfrm>
          <a:prstGeom prst="rect">
            <a:avLst/>
          </a:prstGeom>
          <a:solidFill>
            <a:srgbClr val="C98A00"/>
          </a:solidFill>
          <a:ln w="15875">
            <a:solidFill>
              <a:srgbClr val="C98A00"/>
            </a:solidFill>
            <a:prstDash val="solid"/>
          </a:ln>
        </p:spPr>
      </p:sp>
      <p:sp>
        <p:nvSpPr>
          <p:cNvPr id="58" name="Class name Alert"/>
          <p:cNvSpPr txBox="1"/>
          <p:nvPr/>
        </p:nvSpPr>
        <p:spPr>
          <a:xfrm>
            <a:off x="2240280" y="4343400"/>
            <a:ext cx="1143000" cy="329184"/>
          </a:xfrm>
          <a:prstGeom prst="rect">
            <a:avLst/>
          </a:prstGeom>
          <a:noFill/>
          <a:ln/>
        </p:spPr>
        <p:txBody>
          <a:bodyPr wrap="square" lIns="0" tIns="0" rIns="0" bIns="0" rtlCol="0" anchor="ctr"/>
          <a:lstStyle/>
          <a:p>
            <a:pPr algn="ctr" indent="0" marL="0">
              <a:buNone/>
            </a:pPr>
            <a:r>
              <a:rPr lang="en-US" sz="1300" b="1" dirty="0">
                <a:solidFill>
                  <a:srgbClr val="FFFFFF"/>
                </a:solidFill>
              </a:rPr>
              <a:t>Alert</a:t>
            </a:r>
            <a:endParaRPr lang="en-US" sz="1300" dirty="0"/>
          </a:p>
        </p:txBody>
      </p:sp>
      <p:sp>
        <p:nvSpPr>
          <p:cNvPr id="59" name="Class attrs Alert"/>
          <p:cNvSpPr txBox="1"/>
          <p:nvPr/>
        </p:nvSpPr>
        <p:spPr>
          <a:xfrm>
            <a:off x="2313432" y="4690872"/>
            <a:ext cx="996696" cy="237744"/>
          </a:xfrm>
          <a:prstGeom prst="rect">
            <a:avLst/>
          </a:prstGeom>
          <a:noFill/>
          <a:ln/>
        </p:spPr>
        <p:txBody>
          <a:bodyPr wrap="square" lIns="0" tIns="0" rIns="0" bIns="0" rtlCol="0" anchor="t"/>
          <a:lstStyle/>
          <a:p>
            <a:pPr indent="0" marL="0">
              <a:buNone/>
            </a:pPr>
            <a:r>
              <a:rPr lang="en-US" sz="1050" dirty="0">
                <a:solidFill>
                  <a:srgbClr val="0F2A36"/>
                </a:solidFill>
                <a:latin typeface="Consolas" pitchFamily="34" charset="0"/>
                <a:ea typeface="Consolas" pitchFamily="34" charset="-122"/>
                <a:cs typeface="Consolas" pitchFamily="34" charset="-120"/>
              </a:rPr>
              <a:t>severity</a:t>
            </a:r>
            <a:endParaRPr lang="en-US" sz="1050" dirty="0"/>
          </a:p>
        </p:txBody>
      </p:sp>
      <p:sp>
        <p:nvSpPr>
          <p:cNvPr id="60" name="Class AIRecommendation"/>
          <p:cNvSpPr/>
          <p:nvPr/>
        </p:nvSpPr>
        <p:spPr>
          <a:xfrm>
            <a:off x="3520440" y="4343400"/>
            <a:ext cx="1143000" cy="603504"/>
          </a:xfrm>
          <a:prstGeom prst="rect">
            <a:avLst/>
          </a:prstGeom>
          <a:solidFill>
            <a:srgbClr val="FFFFFF"/>
          </a:solidFill>
          <a:ln w="15875">
            <a:solidFill>
              <a:srgbClr val="168F99"/>
            </a:solidFill>
            <a:prstDash val="solid"/>
          </a:ln>
        </p:spPr>
      </p:sp>
      <p:sp>
        <p:nvSpPr>
          <p:cNvPr id="61" name="Class header AIRecommendation"/>
          <p:cNvSpPr/>
          <p:nvPr/>
        </p:nvSpPr>
        <p:spPr>
          <a:xfrm>
            <a:off x="3520440" y="4343400"/>
            <a:ext cx="1143000" cy="329184"/>
          </a:xfrm>
          <a:prstGeom prst="rect">
            <a:avLst/>
          </a:prstGeom>
          <a:solidFill>
            <a:srgbClr val="168F99"/>
          </a:solidFill>
          <a:ln w="15875">
            <a:solidFill>
              <a:srgbClr val="168F99"/>
            </a:solidFill>
            <a:prstDash val="solid"/>
          </a:ln>
        </p:spPr>
      </p:sp>
      <p:sp>
        <p:nvSpPr>
          <p:cNvPr id="62" name="Class name AIRecommendation"/>
          <p:cNvSpPr txBox="1"/>
          <p:nvPr/>
        </p:nvSpPr>
        <p:spPr>
          <a:xfrm>
            <a:off x="3520440" y="4343400"/>
            <a:ext cx="1143000" cy="329184"/>
          </a:xfrm>
          <a:prstGeom prst="rect">
            <a:avLst/>
          </a:prstGeom>
          <a:noFill/>
          <a:ln/>
        </p:spPr>
        <p:txBody>
          <a:bodyPr wrap="square" lIns="0" tIns="0" rIns="0" bIns="0" rtlCol="0" anchor="ctr"/>
          <a:lstStyle/>
          <a:p>
            <a:pPr algn="ctr" indent="0" marL="0">
              <a:buNone/>
            </a:pPr>
            <a:r>
              <a:rPr lang="en-US" sz="1300" b="1" dirty="0">
                <a:solidFill>
                  <a:srgbClr val="FFFFFF"/>
                </a:solidFill>
              </a:rPr>
              <a:t>Advice</a:t>
            </a:r>
            <a:endParaRPr lang="en-US" sz="1300" dirty="0"/>
          </a:p>
        </p:txBody>
      </p:sp>
      <p:sp>
        <p:nvSpPr>
          <p:cNvPr id="63" name="Class attrs AIRecommendation"/>
          <p:cNvSpPr txBox="1"/>
          <p:nvPr/>
        </p:nvSpPr>
        <p:spPr>
          <a:xfrm>
            <a:off x="3593592" y="4690872"/>
            <a:ext cx="996696" cy="237744"/>
          </a:xfrm>
          <a:prstGeom prst="rect">
            <a:avLst/>
          </a:prstGeom>
          <a:noFill/>
          <a:ln/>
        </p:spPr>
        <p:txBody>
          <a:bodyPr wrap="square" lIns="0" tIns="0" rIns="0" bIns="0" rtlCol="0" anchor="t"/>
          <a:lstStyle/>
          <a:p>
            <a:pPr indent="0" marL="0">
              <a:buNone/>
            </a:pPr>
            <a:r>
              <a:rPr lang="en-US" sz="1050" dirty="0">
                <a:solidFill>
                  <a:srgbClr val="0F2A36"/>
                </a:solidFill>
                <a:latin typeface="Consolas" pitchFamily="34" charset="0"/>
                <a:ea typeface="Consolas" pitchFamily="34" charset="-122"/>
                <a:cs typeface="Consolas" pitchFamily="34" charset="-120"/>
              </a:rPr>
              <a:t>message</a:t>
            </a:r>
            <a:endParaRPr lang="en-US" sz="1050" dirty="0"/>
          </a:p>
        </p:txBody>
      </p:sp>
      <p:sp>
        <p:nvSpPr>
          <p:cNvPr id="64" name="Shape 62"/>
          <p:cNvSpPr/>
          <p:nvPr/>
        </p:nvSpPr>
        <p:spPr>
          <a:xfrm flipH="1">
            <a:off x="1307592" y="3922776"/>
            <a:ext cx="1801368" cy="283464"/>
          </a:xfrm>
          <a:prstGeom prst="line">
            <a:avLst/>
          </a:prstGeom>
          <a:noFill/>
          <a:ln w="15875">
            <a:solidFill>
              <a:srgbClr val="5B6B73"/>
            </a:solidFill>
            <a:prstDash val="solid"/>
            <a:tailEnd type="none"/>
          </a:ln>
        </p:spPr>
      </p:sp>
      <p:sp>
        <p:nvSpPr>
          <p:cNvPr id="65" name="Text 63"/>
          <p:cNvSpPr txBox="1"/>
          <p:nvPr/>
        </p:nvSpPr>
        <p:spPr>
          <a:xfrm>
            <a:off x="1600200" y="4005072"/>
            <a:ext cx="731520" cy="182880"/>
          </a:xfrm>
          <a:prstGeom prst="rect">
            <a:avLst/>
          </a:prstGeom>
          <a:noFill/>
          <a:ln/>
        </p:spPr>
        <p:txBody>
          <a:bodyPr wrap="square" lIns="0" tIns="0" rIns="0" bIns="0" rtlCol="0" anchor="t"/>
          <a:lstStyle/>
          <a:p>
            <a:pPr indent="0" marL="0">
              <a:buNone/>
            </a:pPr>
            <a:r>
              <a:rPr lang="en-US" sz="1000" dirty="0">
                <a:solidFill>
                  <a:srgbClr val="5B6B73"/>
                </a:solidFill>
              </a:rPr>
              <a:t>0..*</a:t>
            </a:r>
            <a:endParaRPr lang="en-US" sz="1000" dirty="0"/>
          </a:p>
        </p:txBody>
      </p:sp>
      <p:sp>
        <p:nvSpPr>
          <p:cNvPr id="66" name="Shape 64"/>
          <p:cNvSpPr/>
          <p:nvPr/>
        </p:nvSpPr>
        <p:spPr>
          <a:xfrm flipH="1">
            <a:off x="2807208" y="3922776"/>
            <a:ext cx="758952" cy="420624"/>
          </a:xfrm>
          <a:prstGeom prst="line">
            <a:avLst/>
          </a:prstGeom>
          <a:noFill/>
          <a:ln w="15875">
            <a:solidFill>
              <a:srgbClr val="5B6B73"/>
            </a:solidFill>
            <a:prstDash val="solid"/>
            <a:tailEnd type="none"/>
          </a:ln>
        </p:spPr>
      </p:sp>
      <p:sp>
        <p:nvSpPr>
          <p:cNvPr id="67" name="Text 65"/>
          <p:cNvSpPr txBox="1"/>
          <p:nvPr/>
        </p:nvSpPr>
        <p:spPr>
          <a:xfrm>
            <a:off x="2514600" y="4096512"/>
            <a:ext cx="731520" cy="182880"/>
          </a:xfrm>
          <a:prstGeom prst="rect">
            <a:avLst/>
          </a:prstGeom>
          <a:noFill/>
          <a:ln/>
        </p:spPr>
        <p:txBody>
          <a:bodyPr wrap="square" lIns="0" tIns="0" rIns="0" bIns="0" rtlCol="0" anchor="t"/>
          <a:lstStyle/>
          <a:p>
            <a:pPr indent="0" marL="0">
              <a:buNone/>
            </a:pPr>
            <a:r>
              <a:rPr lang="en-US" sz="1000" dirty="0">
                <a:solidFill>
                  <a:srgbClr val="5B6B73"/>
                </a:solidFill>
              </a:rPr>
              <a:t>0..*</a:t>
            </a:r>
            <a:endParaRPr lang="en-US" sz="1000" dirty="0"/>
          </a:p>
        </p:txBody>
      </p:sp>
      <p:sp>
        <p:nvSpPr>
          <p:cNvPr id="68" name="Shape 66"/>
          <p:cNvSpPr/>
          <p:nvPr/>
        </p:nvSpPr>
        <p:spPr>
          <a:xfrm>
            <a:off x="4069080" y="3922776"/>
            <a:ext cx="18288" cy="420624"/>
          </a:xfrm>
          <a:prstGeom prst="line">
            <a:avLst/>
          </a:prstGeom>
          <a:noFill/>
          <a:ln w="15875">
            <a:solidFill>
              <a:srgbClr val="5B6B73"/>
            </a:solidFill>
            <a:prstDash val="solid"/>
            <a:tailEnd type="none"/>
          </a:ln>
        </p:spPr>
      </p:sp>
      <p:sp>
        <p:nvSpPr>
          <p:cNvPr id="69" name="Text 67"/>
          <p:cNvSpPr txBox="1"/>
          <p:nvPr/>
        </p:nvSpPr>
        <p:spPr>
          <a:xfrm>
            <a:off x="4133088" y="4023360"/>
            <a:ext cx="731520" cy="182880"/>
          </a:xfrm>
          <a:prstGeom prst="rect">
            <a:avLst/>
          </a:prstGeom>
          <a:noFill/>
          <a:ln/>
        </p:spPr>
        <p:txBody>
          <a:bodyPr wrap="square" lIns="0" tIns="0" rIns="0" bIns="0" rtlCol="0" anchor="t"/>
          <a:lstStyle/>
          <a:p>
            <a:pPr indent="0" marL="0">
              <a:buNone/>
            </a:pPr>
            <a:r>
              <a:rPr lang="en-US" sz="1000" dirty="0">
                <a:solidFill>
                  <a:srgbClr val="5B6B73"/>
                </a:solidFill>
              </a:rPr>
              <a:t>0..*</a:t>
            </a:r>
            <a:endParaRPr lang="en-US" sz="1000" dirty="0"/>
          </a:p>
        </p:txBody>
      </p:sp>
      <p:sp>
        <p:nvSpPr>
          <p:cNvPr id="70" name="Text 68"/>
          <p:cNvSpPr txBox="1"/>
          <p:nvPr/>
        </p:nvSpPr>
        <p:spPr>
          <a:xfrm>
            <a:off x="502920" y="5440680"/>
            <a:ext cx="6858000" cy="411480"/>
          </a:xfrm>
          <a:prstGeom prst="rect">
            <a:avLst/>
          </a:prstGeom>
          <a:noFill/>
          <a:ln/>
        </p:spPr>
        <p:txBody>
          <a:bodyPr wrap="square" lIns="0" tIns="0" rIns="0" bIns="0" rtlCol="0" anchor="t"/>
          <a:lstStyle/>
          <a:p>
            <a:pPr indent="0" marL="0">
              <a:buNone/>
            </a:pPr>
            <a:r>
              <a:rPr lang="en-US" sz="1100" i="1" dirty="0">
                <a:solidFill>
                  <a:srgbClr val="5B6B73"/>
                </a:solidFill>
              </a:rPr>
              <a:t>Advice = class AIRecommendation in code: written by the rule-based FAO-56 engine, not an AI model.</a:t>
            </a:r>
            <a:endParaRPr lang="en-US" sz="1100" dirty="0"/>
          </a:p>
        </p:txBody>
      </p:sp>
      <p:pic>
        <p:nvPicPr>
          <p:cNvPr id="71" name="Code: Zone.cs" descr="/home/user/AgroFlow/presentation/presentation-assets/code/zone-cs-irrigation-decision.png">    </p:cNvPr>
          <p:cNvPicPr>
            <a:picLocks noChangeAspect="1"/>
          </p:cNvPicPr>
          <p:nvPr/>
        </p:nvPicPr>
        <p:blipFill>
          <a:blip r:embed="rId1"/>
          <a:stretch>
            <a:fillRect/>
          </a:stretch>
        </p:blipFill>
        <p:spPr>
          <a:xfrm>
            <a:off x="7498080" y="1325880"/>
            <a:ext cx="4206240" cy="2813720"/>
          </a:xfrm>
          <a:prstGeom prst="rect">
            <a:avLst/>
          </a:prstGeom>
        </p:spPr>
      </p:pic>
      <p:sp>
        <p:nvSpPr>
          <p:cNvPr id="72" name="Text 69"/>
          <p:cNvSpPr txBox="1"/>
          <p:nvPr/>
        </p:nvSpPr>
        <p:spPr>
          <a:xfrm>
            <a:off x="7498080" y="4276760"/>
            <a:ext cx="4206240" cy="777240"/>
          </a:xfrm>
          <a:prstGeom prst="rect">
            <a:avLst/>
          </a:prstGeom>
          <a:noFill/>
          <a:ln/>
        </p:spPr>
        <p:txBody>
          <a:bodyPr wrap="square" lIns="0" tIns="0" rIns="0" bIns="0" rtlCol="0" anchor="t"/>
          <a:lstStyle/>
          <a:p>
            <a:pPr indent="0" marL="0">
              <a:buNone/>
            </a:pPr>
            <a:r>
              <a:rPr lang="en-US" sz="1300" b="1" dirty="0">
                <a:solidFill>
                  <a:srgbClr val="0F2A36"/>
                </a:solidFill>
              </a:rPr>
              <a:t>Implemented in the current AgroFlow codebase</a:t>
            </a:r>
            <a:endParaRPr lang="en-US" sz="1300" dirty="0"/>
          </a:p>
          <a:p>
            <a:pPr indent="0" marL="0">
              <a:buNone/>
            </a:pPr>
            <a:r>
              <a:rPr lang="en-US" sz="1300" dirty="0">
                <a:solidFill>
                  <a:srgbClr val="5B6B73"/>
                </a:solidFill>
              </a:rPr>
              <a:t>The same Zone class decides when an automatic zone starts and stops watering.</a:t>
            </a:r>
            <a:endParaRPr lang="en-US" sz="1300" dirty="0"/>
          </a:p>
        </p:txBody>
      </p:sp>
      <p:sp>
        <p:nvSpPr>
          <p:cNvPr id="25" name="Slide Number Placeholder 0"/>
          <p:cNvSpPr>
            <a:spLocks noGrp="1"/>
          </p:cNvSpPr>
          <p:nvPr>
            <p:ph type="sldNum" sz="quarter" idx="4294967295"/>
          </p:nvPr>
        </p:nvSpPr>
        <p:spPr>
          <a:xfrm>
            <a:off x="1129284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02920" y="347472"/>
            <a:ext cx="9326880" cy="731520"/>
          </a:xfrm>
          <a:prstGeom prst="rect">
            <a:avLst/>
          </a:prstGeom>
          <a:noFill/>
          <a:ln/>
        </p:spPr>
        <p:txBody>
          <a:bodyPr wrap="square" lIns="0" tIns="0" rIns="0" bIns="0" rtlCol="0" anchor="ctr"/>
          <a:lstStyle/>
          <a:p>
            <a:pPr algn="l" indent="0" marL="0">
              <a:buNone/>
            </a:pPr>
            <a:r>
              <a:rPr lang="en-US" sz="3400" b="1" dirty="0">
                <a:solidFill>
                  <a:srgbClr val="0F2A36"/>
                </a:solidFill>
              </a:rPr>
              <a:t>From design to implementation</a:t>
            </a:r>
            <a:endParaRPr lang="en-US" sz="3400" dirty="0"/>
          </a:p>
        </p:txBody>
      </p:sp>
      <p:sp>
        <p:nvSpPr>
          <p:cNvPr id="3" name="Speaker tag"/>
          <p:cNvSpPr txBox="1"/>
          <p:nvPr/>
        </p:nvSpPr>
        <p:spPr>
          <a:xfrm>
            <a:off x="10012680" y="457200"/>
            <a:ext cx="1691640" cy="329184"/>
          </a:xfrm>
          <a:prstGeom prst="roundRect">
            <a:avLst>
              <a:gd name="adj" fmla="val 41667"/>
            </a:avLst>
          </a:prstGeom>
          <a:solidFill>
            <a:srgbClr val="E3F4F5"/>
          </a:solidFill>
          <a:ln>
            <a:solidFill>
              <a:srgbClr val="E3F4F5"/>
            </a:solidFill>
          </a:ln>
        </p:spPr>
        <p:txBody>
          <a:bodyPr wrap="square" lIns="0" tIns="0" rIns="0" bIns="0" rtlCol="0" anchor="ctr"/>
          <a:lstStyle/>
          <a:p>
            <a:pPr algn="ctr" indent="0" marL="0">
              <a:buNone/>
            </a:pPr>
            <a:r>
              <a:rPr lang="en-US" sz="1100" b="1" dirty="0">
                <a:solidFill>
                  <a:srgbClr val="168F99"/>
                </a:solidFill>
              </a:rPr>
              <a:t>Olwethu</a:t>
            </a:r>
            <a:endParaRPr lang="en-US" sz="1100" dirty="0"/>
          </a:p>
        </p:txBody>
      </p:sp>
      <p:sp>
        <p:nvSpPr>
          <p:cNvPr id="4" name="Evidence tile 1"/>
          <p:cNvSpPr/>
          <p:nvPr/>
        </p:nvSpPr>
        <p:spPr>
          <a:xfrm>
            <a:off x="502920" y="1234440"/>
            <a:ext cx="5486400" cy="2395728"/>
          </a:xfrm>
          <a:prstGeom prst="roundRect">
            <a:avLst>
              <a:gd name="adj" fmla="val 4580"/>
            </a:avLst>
          </a:prstGeom>
          <a:solidFill>
            <a:srgbClr val="F2F7F6"/>
          </a:solidFill>
          <a:ln w="9525">
            <a:solidFill>
              <a:srgbClr val="F2F7F6"/>
            </a:solidFill>
            <a:prstDash val="solid"/>
          </a:ln>
          <a:effectLst>
            <a:outerShdw sx="100000" sy="100000" kx="0" ky="0" algn="bl" rotWithShape="0" blurRad="101600" dist="25400" dir="5400000">
              <a:srgbClr val="0F2A36">
                <a:alpha val="12000"/>
              </a:srgbClr>
            </a:outerShdw>
          </a:effectLst>
        </p:spPr>
      </p:sp>
      <p:sp>
        <p:nvSpPr>
          <p:cNvPr id="5" name="Text 3"/>
          <p:cNvSpPr txBox="1"/>
          <p:nvPr/>
        </p:nvSpPr>
        <p:spPr>
          <a:xfrm>
            <a:off x="685800" y="1417320"/>
            <a:ext cx="1965960" cy="502920"/>
          </a:xfrm>
          <a:prstGeom prst="rect">
            <a:avLst/>
          </a:prstGeom>
          <a:noFill/>
          <a:ln/>
        </p:spPr>
        <p:txBody>
          <a:bodyPr wrap="square" lIns="0" tIns="0" rIns="0" bIns="0" rtlCol="0" anchor="t"/>
          <a:lstStyle/>
          <a:p>
            <a:pPr indent="0" marL="0">
              <a:buNone/>
            </a:pPr>
            <a:r>
              <a:rPr lang="en-US" sz="1300" b="1" dirty="0">
                <a:solidFill>
                  <a:srgbClr val="1E88E5"/>
                </a:solidFill>
              </a:rPr>
              <a:t>MOBILE EXPERIENCE</a:t>
            </a:r>
            <a:endParaRPr lang="en-US" sz="1300" dirty="0"/>
          </a:p>
        </p:txBody>
      </p:sp>
      <p:sp>
        <p:nvSpPr>
          <p:cNvPr id="6" name="Text 4"/>
          <p:cNvSpPr txBox="1"/>
          <p:nvPr/>
        </p:nvSpPr>
        <p:spPr>
          <a:xfrm>
            <a:off x="685800" y="1965960"/>
            <a:ext cx="1920240" cy="1097280"/>
          </a:xfrm>
          <a:prstGeom prst="rect">
            <a:avLst/>
          </a:prstGeom>
          <a:noFill/>
          <a:ln/>
        </p:spPr>
        <p:txBody>
          <a:bodyPr wrap="square" lIns="0" tIns="0" rIns="0" bIns="0" rtlCol="0" anchor="t"/>
          <a:lstStyle/>
          <a:p>
            <a:pPr indent="0" marL="0">
              <a:buNone/>
            </a:pPr>
            <a:r>
              <a:rPr lang="en-US" sz="1200" dirty="0">
                <a:solidFill>
                  <a:srgbClr val="5B6B73"/>
                </a:solidFill>
              </a:rPr>
              <a:t>Expo / React Native farmer app</a:t>
            </a:r>
            <a:endParaRPr lang="en-US" sz="1200" dirty="0"/>
          </a:p>
        </p:txBody>
      </p:sp>
      <p:sp>
        <p:nvSpPr>
          <p:cNvPr id="7" name="Evidence tile 2"/>
          <p:cNvSpPr/>
          <p:nvPr/>
        </p:nvSpPr>
        <p:spPr>
          <a:xfrm>
            <a:off x="6172200" y="1234440"/>
            <a:ext cx="5486400" cy="2395728"/>
          </a:xfrm>
          <a:prstGeom prst="roundRect">
            <a:avLst>
              <a:gd name="adj" fmla="val 4580"/>
            </a:avLst>
          </a:prstGeom>
          <a:solidFill>
            <a:srgbClr val="F2F7F6"/>
          </a:solidFill>
          <a:ln w="9525">
            <a:solidFill>
              <a:srgbClr val="F2F7F6"/>
            </a:solidFill>
            <a:prstDash val="solid"/>
          </a:ln>
          <a:effectLst>
            <a:outerShdw sx="100000" sy="100000" kx="0" ky="0" algn="bl" rotWithShape="0" blurRad="101600" dist="25400" dir="5400000">
              <a:srgbClr val="0F2A36">
                <a:alpha val="12000"/>
              </a:srgbClr>
            </a:outerShdw>
          </a:effectLst>
        </p:spPr>
      </p:sp>
      <p:sp>
        <p:nvSpPr>
          <p:cNvPr id="8" name="Text 6"/>
          <p:cNvSpPr txBox="1"/>
          <p:nvPr/>
        </p:nvSpPr>
        <p:spPr>
          <a:xfrm>
            <a:off x="6355080" y="1417320"/>
            <a:ext cx="1965960" cy="502920"/>
          </a:xfrm>
          <a:prstGeom prst="rect">
            <a:avLst/>
          </a:prstGeom>
          <a:noFill/>
          <a:ln/>
        </p:spPr>
        <p:txBody>
          <a:bodyPr wrap="square" lIns="0" tIns="0" rIns="0" bIns="0" rtlCol="0" anchor="t"/>
          <a:lstStyle/>
          <a:p>
            <a:pPr indent="0" marL="0">
              <a:buNone/>
            </a:pPr>
            <a:r>
              <a:rPr lang="en-US" sz="1300" b="1" dirty="0">
                <a:solidFill>
                  <a:srgbClr val="168F99"/>
                </a:solidFill>
              </a:rPr>
              <a:t>PLATFORM OVERSIGHT</a:t>
            </a:r>
            <a:endParaRPr lang="en-US" sz="1300" dirty="0"/>
          </a:p>
        </p:txBody>
      </p:sp>
      <p:sp>
        <p:nvSpPr>
          <p:cNvPr id="9" name="Text 7"/>
          <p:cNvSpPr txBox="1"/>
          <p:nvPr/>
        </p:nvSpPr>
        <p:spPr>
          <a:xfrm>
            <a:off x="6355080" y="1965960"/>
            <a:ext cx="1920240" cy="1097280"/>
          </a:xfrm>
          <a:prstGeom prst="rect">
            <a:avLst/>
          </a:prstGeom>
          <a:noFill/>
          <a:ln/>
        </p:spPr>
        <p:txBody>
          <a:bodyPr wrap="square" lIns="0" tIns="0" rIns="0" bIns="0" rtlCol="0" anchor="t"/>
          <a:lstStyle/>
          <a:p>
            <a:pPr indent="0" marL="0">
              <a:buNone/>
            </a:pPr>
            <a:r>
              <a:rPr lang="en-US" sz="1200" dirty="0">
                <a:solidFill>
                  <a:srgbClr val="5B6B73"/>
                </a:solidFill>
              </a:rPr>
              <a:t>Admin console (TypeScript + Vite)</a:t>
            </a:r>
            <a:endParaRPr lang="en-US" sz="1200" dirty="0"/>
          </a:p>
        </p:txBody>
      </p:sp>
      <p:sp>
        <p:nvSpPr>
          <p:cNvPr id="10" name="Evidence tile 3"/>
          <p:cNvSpPr/>
          <p:nvPr/>
        </p:nvSpPr>
        <p:spPr>
          <a:xfrm>
            <a:off x="502920" y="3794760"/>
            <a:ext cx="5486400" cy="2395728"/>
          </a:xfrm>
          <a:prstGeom prst="roundRect">
            <a:avLst>
              <a:gd name="adj" fmla="val 4580"/>
            </a:avLst>
          </a:prstGeom>
          <a:solidFill>
            <a:srgbClr val="F2F7F6"/>
          </a:solidFill>
          <a:ln w="9525">
            <a:solidFill>
              <a:srgbClr val="F2F7F6"/>
            </a:solidFill>
            <a:prstDash val="solid"/>
          </a:ln>
          <a:effectLst>
            <a:outerShdw sx="100000" sy="100000" kx="0" ky="0" algn="bl" rotWithShape="0" blurRad="101600" dist="25400" dir="5400000">
              <a:srgbClr val="0F2A36">
                <a:alpha val="12000"/>
              </a:srgbClr>
            </a:outerShdw>
          </a:effectLst>
        </p:spPr>
      </p:sp>
      <p:sp>
        <p:nvSpPr>
          <p:cNvPr id="11" name="Text 9"/>
          <p:cNvSpPr txBox="1"/>
          <p:nvPr/>
        </p:nvSpPr>
        <p:spPr>
          <a:xfrm>
            <a:off x="685800" y="3977640"/>
            <a:ext cx="1965960" cy="502920"/>
          </a:xfrm>
          <a:prstGeom prst="rect">
            <a:avLst/>
          </a:prstGeom>
          <a:noFill/>
          <a:ln/>
        </p:spPr>
        <p:txBody>
          <a:bodyPr wrap="square" lIns="0" tIns="0" rIns="0" bIns="0" rtlCol="0" anchor="t"/>
          <a:lstStyle/>
          <a:p>
            <a:pPr indent="0" marL="0">
              <a:buNone/>
            </a:pPr>
            <a:r>
              <a:rPr lang="en-US" sz="1300" b="1" dirty="0">
                <a:solidFill>
                  <a:srgbClr val="2F6B4B"/>
                </a:solidFill>
              </a:rPr>
              <a:t>CONNECTED HARDWARE</a:t>
            </a:r>
            <a:endParaRPr lang="en-US" sz="1300" dirty="0"/>
          </a:p>
        </p:txBody>
      </p:sp>
      <p:sp>
        <p:nvSpPr>
          <p:cNvPr id="12" name="Text 10"/>
          <p:cNvSpPr txBox="1"/>
          <p:nvPr/>
        </p:nvSpPr>
        <p:spPr>
          <a:xfrm>
            <a:off x="685800" y="4526280"/>
            <a:ext cx="1920240" cy="1097280"/>
          </a:xfrm>
          <a:prstGeom prst="rect">
            <a:avLst/>
          </a:prstGeom>
          <a:noFill/>
          <a:ln/>
        </p:spPr>
        <p:txBody>
          <a:bodyPr wrap="square" lIns="0" tIns="0" rIns="0" bIns="0" rtlCol="0" anchor="t"/>
          <a:lstStyle/>
          <a:p>
            <a:pPr indent="0" marL="0">
              <a:buNone/>
            </a:pPr>
            <a:r>
              <a:rPr lang="en-US" sz="1200" dirty="0">
                <a:solidFill>
                  <a:srgbClr val="5B6B73"/>
                </a:solidFill>
              </a:rPr>
              <a:t>ESP32 kit · soil probe · DHT11 · relay · pump</a:t>
            </a:r>
            <a:endParaRPr lang="en-US" sz="1200" dirty="0"/>
          </a:p>
        </p:txBody>
      </p:sp>
      <p:sp>
        <p:nvSpPr>
          <p:cNvPr id="13" name="Evidence tile 4"/>
          <p:cNvSpPr/>
          <p:nvPr/>
        </p:nvSpPr>
        <p:spPr>
          <a:xfrm>
            <a:off x="6172200" y="3794760"/>
            <a:ext cx="5486400" cy="2395728"/>
          </a:xfrm>
          <a:prstGeom prst="roundRect">
            <a:avLst>
              <a:gd name="adj" fmla="val 4580"/>
            </a:avLst>
          </a:prstGeom>
          <a:solidFill>
            <a:srgbClr val="F2F7F6"/>
          </a:solidFill>
          <a:ln w="9525">
            <a:solidFill>
              <a:srgbClr val="F2F7F6"/>
            </a:solidFill>
            <a:prstDash val="solid"/>
          </a:ln>
          <a:effectLst>
            <a:outerShdw sx="100000" sy="100000" kx="0" ky="0" algn="bl" rotWithShape="0" blurRad="101600" dist="25400" dir="5400000">
              <a:srgbClr val="0F2A36">
                <a:alpha val="12000"/>
              </a:srgbClr>
            </a:outerShdw>
          </a:effectLst>
        </p:spPr>
      </p:sp>
      <p:sp>
        <p:nvSpPr>
          <p:cNvPr id="14" name="Text 12"/>
          <p:cNvSpPr txBox="1"/>
          <p:nvPr/>
        </p:nvSpPr>
        <p:spPr>
          <a:xfrm>
            <a:off x="6355080" y="3977640"/>
            <a:ext cx="1965960" cy="502920"/>
          </a:xfrm>
          <a:prstGeom prst="rect">
            <a:avLst/>
          </a:prstGeom>
          <a:noFill/>
          <a:ln/>
        </p:spPr>
        <p:txBody>
          <a:bodyPr wrap="square" lIns="0" tIns="0" rIns="0" bIns="0" rtlCol="0" anchor="t"/>
          <a:lstStyle/>
          <a:p>
            <a:pPr indent="0" marL="0">
              <a:buNone/>
            </a:pPr>
            <a:r>
              <a:rPr lang="en-US" sz="1300" b="1" dirty="0">
                <a:solidFill>
                  <a:srgbClr val="184D35"/>
                </a:solidFill>
              </a:rPr>
              <a:t>IRRIGATION LOGIC</a:t>
            </a:r>
            <a:endParaRPr lang="en-US" sz="1300" dirty="0"/>
          </a:p>
        </p:txBody>
      </p:sp>
      <p:sp>
        <p:nvSpPr>
          <p:cNvPr id="15" name="Text 13"/>
          <p:cNvSpPr txBox="1"/>
          <p:nvPr/>
        </p:nvSpPr>
        <p:spPr>
          <a:xfrm>
            <a:off x="6355080" y="4526280"/>
            <a:ext cx="1920240" cy="1097280"/>
          </a:xfrm>
          <a:prstGeom prst="rect">
            <a:avLst/>
          </a:prstGeom>
          <a:noFill/>
          <a:ln/>
        </p:spPr>
        <p:txBody>
          <a:bodyPr wrap="square" lIns="0" tIns="0" rIns="0" bIns="0" rtlCol="0" anchor="t"/>
          <a:lstStyle/>
          <a:p>
            <a:pPr indent="0" marL="0">
              <a:buNone/>
            </a:pPr>
            <a:r>
              <a:rPr lang="en-US" sz="1200" dirty="0">
                <a:solidFill>
                  <a:srgbClr val="5B6B73"/>
                </a:solidFill>
              </a:rPr>
              <a:t>ESP32 firmware acting on MQTT commands</a:t>
            </a:r>
            <a:endParaRPr lang="en-US" sz="1200" dirty="0"/>
          </a:p>
        </p:txBody>
      </p:sp>
      <p:pic>
        <p:nvPicPr>
          <p:cNvPr id="16" name="Mobile — zone control" descr="/home/user/AgroFlow/presentation/presentation-assets/ui/mobile-zone-manual-run.png">    </p:cNvPr>
          <p:cNvPicPr>
            <a:picLocks noChangeAspect="1"/>
          </p:cNvPicPr>
          <p:nvPr/>
        </p:nvPicPr>
        <p:blipFill>
          <a:blip r:embed="rId1"/>
          <a:stretch>
            <a:fillRect/>
          </a:stretch>
        </p:blipFill>
        <p:spPr>
          <a:xfrm>
            <a:off x="2743200" y="1344168"/>
            <a:ext cx="1036240" cy="2176272"/>
          </a:xfrm>
          <a:prstGeom prst="rect">
            <a:avLst/>
          </a:prstGeom>
        </p:spPr>
      </p:pic>
      <p:pic>
        <p:nvPicPr>
          <p:cNvPr id="17" name="Mobile — reports" descr="/home/user/AgroFlow/presentation/presentation-assets/ui/mobile-reports.png">    </p:cNvPr>
          <p:cNvPicPr>
            <a:picLocks noChangeAspect="1"/>
          </p:cNvPicPr>
          <p:nvPr/>
        </p:nvPicPr>
        <p:blipFill>
          <a:blip r:embed="rId2"/>
          <a:stretch>
            <a:fillRect/>
          </a:stretch>
        </p:blipFill>
        <p:spPr>
          <a:xfrm>
            <a:off x="3886200" y="1344168"/>
            <a:ext cx="1036240" cy="2176272"/>
          </a:xfrm>
          <a:prstGeom prst="rect">
            <a:avLst/>
          </a:prstGeom>
        </p:spPr>
      </p:pic>
      <p:pic>
        <p:nvPicPr>
          <p:cNvPr id="18" name="Admin console — Home" descr="/home/user/AgroFlow/presentation/presentation-assets/ui/admin-home.png">    </p:cNvPr>
          <p:cNvPicPr>
            <a:picLocks noChangeAspect="1"/>
          </p:cNvPicPr>
          <p:nvPr/>
        </p:nvPicPr>
        <p:blipFill>
          <a:blip r:embed="rId3"/>
          <a:stretch>
            <a:fillRect/>
          </a:stretch>
        </p:blipFill>
        <p:spPr>
          <a:xfrm>
            <a:off x="8412480" y="1417320"/>
            <a:ext cx="3108960" cy="1943100"/>
          </a:xfrm>
          <a:prstGeom prst="rect">
            <a:avLst/>
          </a:prstGeom>
        </p:spPr>
      </p:pic>
      <p:sp>
        <p:nvSpPr>
          <p:cNvPr id="19" name="PHOTO PLACEHOLDER — replace with real hardware photo"/>
          <p:cNvSpPr txBox="1"/>
          <p:nvPr/>
        </p:nvSpPr>
        <p:spPr>
          <a:xfrm>
            <a:off x="2743200" y="3959352"/>
            <a:ext cx="3063240" cy="2057400"/>
          </a:xfrm>
          <a:prstGeom prst="roundRect">
            <a:avLst>
              <a:gd name="adj" fmla="val 3556"/>
            </a:avLst>
          </a:prstGeom>
          <a:solidFill>
            <a:srgbClr val="FFFFFF"/>
          </a:solidFill>
          <a:ln w="19050">
            <a:solidFill>
              <a:srgbClr val="2F6B4B"/>
            </a:solidFill>
            <a:prstDash val="dash"/>
          </a:ln>
        </p:spPr>
        <p:txBody>
          <a:bodyPr wrap="square" lIns="0" tIns="0" rIns="0" bIns="0" rtlCol="0" anchor="ctr"/>
          <a:lstStyle/>
          <a:p>
            <a:pPr algn="ctr" indent="0" marL="0">
              <a:buNone/>
            </a:pPr>
            <a:r>
              <a:rPr lang="en-US" sz="1300" b="1" dirty="0">
                <a:solidFill>
                  <a:srgbClr val="2F6B4B"/>
                </a:solidFill>
              </a:rPr>
              <a:t>INSERT REAL KIT PHOTO</a:t>
            </a:r>
            <a:endParaRPr lang="en-US" sz="1300" dirty="0"/>
          </a:p>
          <a:p>
            <a:pPr algn="ctr" indent="0" marL="0">
              <a:buNone/>
            </a:pPr>
            <a:r>
              <a:rPr lang="en-US" sz="1000" dirty="0">
                <a:solidFill>
                  <a:srgbClr val="2F6B4B"/>
                </a:solidFill>
              </a:rPr>
              <a:t>No hardware photo in milestones or repo</a:t>
            </a:r>
            <a:endParaRPr lang="en-US" sz="1300" dirty="0"/>
          </a:p>
        </p:txBody>
      </p:sp>
      <p:pic>
        <p:nvPicPr>
          <p:cNvPr id="20" name="Code: ESP32 handleMqttCommand" descr="/home/user/AgroFlow/presentation/presentation-assets/code/esp32-handle-mqtt-command.png">    </p:cNvPr>
          <p:cNvPicPr>
            <a:picLocks noChangeAspect="1"/>
          </p:cNvPicPr>
          <p:nvPr/>
        </p:nvPicPr>
        <p:blipFill>
          <a:blip r:embed="rId4"/>
          <a:stretch>
            <a:fillRect/>
          </a:stretch>
        </p:blipFill>
        <p:spPr>
          <a:xfrm>
            <a:off x="8412480" y="4107855"/>
            <a:ext cx="3108960" cy="1751250"/>
          </a:xfrm>
          <a:prstGeom prst="rect">
            <a:avLst/>
          </a:prstGeom>
        </p:spPr>
      </p:pic>
      <p:sp>
        <p:nvSpPr>
          <p:cNvPr id="25" name="Slide Number Placeholder 0"/>
          <p:cNvSpPr>
            <a:spLocks noGrp="1"/>
          </p:cNvSpPr>
          <p:nvPr>
            <p:ph type="sldNum" sz="quarter" idx="4294967295"/>
          </p:nvPr>
        </p:nvSpPr>
        <p:spPr>
          <a:xfrm>
            <a:off x="1129284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02920" y="347472"/>
            <a:ext cx="9326880" cy="731520"/>
          </a:xfrm>
          <a:prstGeom prst="rect">
            <a:avLst/>
          </a:prstGeom>
          <a:noFill/>
          <a:ln/>
        </p:spPr>
        <p:txBody>
          <a:bodyPr wrap="square" lIns="0" tIns="0" rIns="0" bIns="0" rtlCol="0" anchor="ctr"/>
          <a:lstStyle/>
          <a:p>
            <a:pPr algn="l" indent="0" marL="0">
              <a:buNone/>
            </a:pPr>
            <a:r>
              <a:rPr lang="en-US" sz="3400" b="1" dirty="0">
                <a:solidFill>
                  <a:srgbClr val="0F2A36"/>
                </a:solidFill>
              </a:rPr>
              <a:t>What AgroFlow delivers</a:t>
            </a:r>
            <a:endParaRPr lang="en-US" sz="3400" dirty="0"/>
          </a:p>
        </p:txBody>
      </p:sp>
      <p:sp>
        <p:nvSpPr>
          <p:cNvPr id="3" name="Speaker tag"/>
          <p:cNvSpPr txBox="1"/>
          <p:nvPr/>
        </p:nvSpPr>
        <p:spPr>
          <a:xfrm>
            <a:off x="10012680" y="457200"/>
            <a:ext cx="1691640" cy="329184"/>
          </a:xfrm>
          <a:prstGeom prst="roundRect">
            <a:avLst>
              <a:gd name="adj" fmla="val 41667"/>
            </a:avLst>
          </a:prstGeom>
          <a:solidFill>
            <a:srgbClr val="E3F4F5"/>
          </a:solidFill>
          <a:ln>
            <a:solidFill>
              <a:srgbClr val="E3F4F5"/>
            </a:solidFill>
          </a:ln>
        </p:spPr>
        <p:txBody>
          <a:bodyPr wrap="square" lIns="0" tIns="0" rIns="0" bIns="0" rtlCol="0" anchor="ctr"/>
          <a:lstStyle/>
          <a:p>
            <a:pPr algn="ctr" indent="0" marL="0">
              <a:buNone/>
            </a:pPr>
            <a:r>
              <a:rPr lang="en-US" sz="1100" b="1" dirty="0">
                <a:solidFill>
                  <a:srgbClr val="168F99"/>
                </a:solidFill>
              </a:rPr>
              <a:t>Olwethu</a:t>
            </a:r>
            <a:endParaRPr lang="en-US" sz="1100" dirty="0"/>
          </a:p>
        </p:txBody>
      </p:sp>
      <p:sp>
        <p:nvSpPr>
          <p:cNvPr id="4" name="FIELD SYSTEM"/>
          <p:cNvSpPr/>
          <p:nvPr/>
        </p:nvSpPr>
        <p:spPr>
          <a:xfrm>
            <a:off x="502920" y="1234440"/>
            <a:ext cx="2606040" cy="3429000"/>
          </a:xfrm>
          <a:prstGeom prst="roundRect">
            <a:avLst>
              <a:gd name="adj" fmla="val 4211"/>
            </a:avLst>
          </a:prstGeom>
          <a:solidFill>
            <a:srgbClr val="FFFFFF"/>
          </a:solidFill>
          <a:ln w="9525">
            <a:solidFill>
              <a:srgbClr val="C9D6D9"/>
            </a:solidFill>
            <a:prstDash val="solid"/>
          </a:ln>
          <a:effectLst>
            <a:outerShdw sx="100000" sy="100000" kx="0" ky="0" algn="bl" rotWithShape="0" blurRad="101600" dist="25400" dir="5400000">
              <a:srgbClr val="0F2A36">
                <a:alpha val="12000"/>
              </a:srgbClr>
            </a:outerShdw>
          </a:effectLst>
        </p:spPr>
      </p:sp>
      <p:sp>
        <p:nvSpPr>
          <p:cNvPr id="5" name="Icon circle"/>
          <p:cNvSpPr/>
          <p:nvPr/>
        </p:nvSpPr>
        <p:spPr>
          <a:xfrm>
            <a:off x="685800" y="1389888"/>
            <a:ext cx="502920" cy="502920"/>
          </a:xfrm>
          <a:prstGeom prst="ellipse">
            <a:avLst/>
          </a:prstGeom>
          <a:solidFill>
            <a:srgbClr val="F2F7F6"/>
          </a:solidFill>
          <a:ln w="12700">
            <a:solidFill>
              <a:srgbClr val="F2F7F6"/>
            </a:solidFill>
            <a:prstDash val="solid"/>
          </a:ln>
        </p:spPr>
      </p:sp>
      <p:pic>
        <p:nvPicPr>
          <p:cNvPr id="6" name="Icon" descr="preencoded.png">    </p:cNvPr>
          <p:cNvPicPr>
            <a:picLocks noChangeAspect="1"/>
          </p:cNvPicPr>
          <p:nvPr/>
        </p:nvPicPr>
        <p:blipFill>
          <a:blip r:embed="rId1"/>
          <a:stretch>
            <a:fillRect/>
          </a:stretch>
        </p:blipFill>
        <p:spPr>
          <a:xfrm>
            <a:off x="811530" y="1515618"/>
            <a:ext cx="251460" cy="251460"/>
          </a:xfrm>
          <a:prstGeom prst="rect">
            <a:avLst/>
          </a:prstGeom>
        </p:spPr>
      </p:pic>
      <p:sp>
        <p:nvSpPr>
          <p:cNvPr id="7" name="Text 4"/>
          <p:cNvSpPr txBox="1"/>
          <p:nvPr/>
        </p:nvSpPr>
        <p:spPr>
          <a:xfrm>
            <a:off x="1280160" y="1389888"/>
            <a:ext cx="1737360" cy="502920"/>
          </a:xfrm>
          <a:prstGeom prst="rect">
            <a:avLst/>
          </a:prstGeom>
          <a:noFill/>
          <a:ln/>
        </p:spPr>
        <p:txBody>
          <a:bodyPr wrap="square" lIns="0" tIns="0" rIns="0" bIns="0" rtlCol="0" anchor="ctr"/>
          <a:lstStyle/>
          <a:p>
            <a:pPr indent="0" marL="0">
              <a:buNone/>
            </a:pPr>
            <a:r>
              <a:rPr lang="en-US" sz="1400" b="1" dirty="0">
                <a:solidFill>
                  <a:srgbClr val="2F6B4B"/>
                </a:solidFill>
              </a:rPr>
              <a:t>FIELD SYSTEM</a:t>
            </a:r>
            <a:endParaRPr lang="en-US" sz="1400" dirty="0"/>
          </a:p>
        </p:txBody>
      </p:sp>
      <p:sp>
        <p:nvSpPr>
          <p:cNvPr id="8" name="Text 5"/>
          <p:cNvSpPr txBox="1"/>
          <p:nvPr/>
        </p:nvSpPr>
        <p:spPr>
          <a:xfrm>
            <a:off x="685800" y="2057400"/>
            <a:ext cx="2331720" cy="2514600"/>
          </a:xfrm>
          <a:prstGeom prst="rect">
            <a:avLst/>
          </a:prstGeom>
          <a:noFill/>
          <a:ln/>
        </p:spPr>
        <p:txBody>
          <a:bodyPr wrap="square" lIns="0" tIns="0" rIns="0" bIns="0" rtlCol="0" anchor="t"/>
          <a:lstStyle/>
          <a:p>
            <a:pPr indent="0" marL="0">
              <a:spcAft>
                <a:spcPts val="1000"/>
              </a:spcAft>
              <a:buNone/>
            </a:pPr>
            <a:r>
              <a:rPr lang="en-US" sz="1400" dirty="0">
                <a:solidFill>
                  <a:srgbClr val="0F2A36"/>
                </a:solidFill>
              </a:rPr>
              <a:t>✓  Kit per zone: probe, DHT11, relay, pump</a:t>
            </a:r>
            <a:endParaRPr lang="en-US" sz="1400" dirty="0"/>
          </a:p>
          <a:p>
            <a:pPr indent="0" marL="0">
              <a:spcAft>
                <a:spcPts val="1000"/>
              </a:spcAft>
              <a:buNone/>
            </a:pPr>
            <a:r>
              <a:rPr lang="en-US" sz="1400" dirty="0">
                <a:solidFill>
                  <a:srgbClr val="0F2A36"/>
                </a:solidFill>
              </a:rPr>
              <a:t>✓  One-time enrolment code + Wi-Fi setup</a:t>
            </a:r>
            <a:endParaRPr lang="en-US" sz="1400" dirty="0"/>
          </a:p>
          <a:p>
            <a:pPr indent="0" marL="0">
              <a:spcAft>
                <a:spcPts val="1000"/>
              </a:spcAft>
              <a:buNone/>
            </a:pPr>
            <a:r>
              <a:rPr lang="en-US" sz="1400" dirty="0">
                <a:solidFill>
                  <a:srgbClr val="0F2A36"/>
                </a:solidFill>
              </a:rPr>
              <a:t>✓  Offline fallback watering</a:t>
            </a:r>
            <a:endParaRPr lang="en-US" sz="1400" dirty="0"/>
          </a:p>
          <a:p>
            <a:pPr indent="0" marL="0">
              <a:spcAft>
                <a:spcPts val="1000"/>
              </a:spcAft>
              <a:buNone/>
            </a:pPr>
            <a:r>
              <a:rPr lang="en-US" sz="1400" dirty="0">
                <a:solidFill>
                  <a:srgbClr val="0F2A36"/>
                </a:solidFill>
              </a:rPr>
              <a:t>✓  5-minute pump safety cap</a:t>
            </a:r>
            <a:endParaRPr lang="en-US" sz="1400" dirty="0"/>
          </a:p>
        </p:txBody>
      </p:sp>
      <p:sp>
        <p:nvSpPr>
          <p:cNvPr id="9" name="PLATFORM"/>
          <p:cNvSpPr/>
          <p:nvPr/>
        </p:nvSpPr>
        <p:spPr>
          <a:xfrm>
            <a:off x="3337560" y="1234440"/>
            <a:ext cx="2606040" cy="3429000"/>
          </a:xfrm>
          <a:prstGeom prst="roundRect">
            <a:avLst>
              <a:gd name="adj" fmla="val 4211"/>
            </a:avLst>
          </a:prstGeom>
          <a:solidFill>
            <a:srgbClr val="FFFFFF"/>
          </a:solidFill>
          <a:ln w="9525">
            <a:solidFill>
              <a:srgbClr val="C9D6D9"/>
            </a:solidFill>
            <a:prstDash val="solid"/>
          </a:ln>
          <a:effectLst>
            <a:outerShdw sx="100000" sy="100000" kx="0" ky="0" algn="bl" rotWithShape="0" blurRad="101600" dist="25400" dir="5400000">
              <a:srgbClr val="0F2A36">
                <a:alpha val="12000"/>
              </a:srgbClr>
            </a:outerShdw>
          </a:effectLst>
        </p:spPr>
      </p:sp>
      <p:sp>
        <p:nvSpPr>
          <p:cNvPr id="10" name="Icon circle"/>
          <p:cNvSpPr/>
          <p:nvPr/>
        </p:nvSpPr>
        <p:spPr>
          <a:xfrm>
            <a:off x="3520440" y="1389888"/>
            <a:ext cx="502920" cy="502920"/>
          </a:xfrm>
          <a:prstGeom prst="ellipse">
            <a:avLst/>
          </a:prstGeom>
          <a:solidFill>
            <a:srgbClr val="F2F7F6"/>
          </a:solidFill>
          <a:ln w="12700">
            <a:solidFill>
              <a:srgbClr val="F2F7F6"/>
            </a:solidFill>
            <a:prstDash val="solid"/>
          </a:ln>
        </p:spPr>
      </p:sp>
      <p:pic>
        <p:nvPicPr>
          <p:cNvPr id="11" name="Icon" descr="preencoded.png">    </p:cNvPr>
          <p:cNvPicPr>
            <a:picLocks noChangeAspect="1"/>
          </p:cNvPicPr>
          <p:nvPr/>
        </p:nvPicPr>
        <p:blipFill>
          <a:blip r:embed="rId2"/>
          <a:stretch>
            <a:fillRect/>
          </a:stretch>
        </p:blipFill>
        <p:spPr>
          <a:xfrm>
            <a:off x="3646170" y="1515618"/>
            <a:ext cx="251460" cy="251460"/>
          </a:xfrm>
          <a:prstGeom prst="rect">
            <a:avLst/>
          </a:prstGeom>
        </p:spPr>
      </p:pic>
      <p:sp>
        <p:nvSpPr>
          <p:cNvPr id="12" name="Text 8"/>
          <p:cNvSpPr txBox="1"/>
          <p:nvPr/>
        </p:nvSpPr>
        <p:spPr>
          <a:xfrm>
            <a:off x="4114800" y="1389888"/>
            <a:ext cx="1737360" cy="502920"/>
          </a:xfrm>
          <a:prstGeom prst="rect">
            <a:avLst/>
          </a:prstGeom>
          <a:noFill/>
          <a:ln/>
        </p:spPr>
        <p:txBody>
          <a:bodyPr wrap="square" lIns="0" tIns="0" rIns="0" bIns="0" rtlCol="0" anchor="ctr"/>
          <a:lstStyle/>
          <a:p>
            <a:pPr indent="0" marL="0">
              <a:buNone/>
            </a:pPr>
            <a:r>
              <a:rPr lang="en-US" sz="1400" b="1" dirty="0">
                <a:solidFill>
                  <a:srgbClr val="168F99"/>
                </a:solidFill>
              </a:rPr>
              <a:t>PLATFORM</a:t>
            </a:r>
            <a:endParaRPr lang="en-US" sz="1400" dirty="0"/>
          </a:p>
        </p:txBody>
      </p:sp>
      <p:sp>
        <p:nvSpPr>
          <p:cNvPr id="13" name="Text 9"/>
          <p:cNvSpPr txBox="1"/>
          <p:nvPr/>
        </p:nvSpPr>
        <p:spPr>
          <a:xfrm>
            <a:off x="3520440" y="2057400"/>
            <a:ext cx="2331720" cy="2514600"/>
          </a:xfrm>
          <a:prstGeom prst="rect">
            <a:avLst/>
          </a:prstGeom>
          <a:noFill/>
          <a:ln/>
        </p:spPr>
        <p:txBody>
          <a:bodyPr wrap="square" lIns="0" tIns="0" rIns="0" bIns="0" rtlCol="0" anchor="t"/>
          <a:lstStyle/>
          <a:p>
            <a:pPr indent="0" marL="0">
              <a:spcAft>
                <a:spcPts val="1000"/>
              </a:spcAft>
              <a:buNone/>
            </a:pPr>
            <a:r>
              <a:rPr lang="en-US" sz="1400" dirty="0">
                <a:solidFill>
                  <a:srgbClr val="0F2A36"/>
                </a:solidFill>
              </a:rPr>
              <a:t>✓  MQTT over TLS via HiveMQ</a:t>
            </a:r>
            <a:endParaRPr lang="en-US" sz="1400" dirty="0"/>
          </a:p>
          <a:p>
            <a:pPr indent="0" marL="0">
              <a:spcAft>
                <a:spcPts val="1000"/>
              </a:spcAft>
              <a:buNone/>
            </a:pPr>
            <a:r>
              <a:rPr lang="en-US" sz="1400" dirty="0">
                <a:solidFill>
                  <a:srgbClr val="0F2A36"/>
                </a:solidFill>
              </a:rPr>
              <a:t>✓  Auto-irrigation from thresholds</a:t>
            </a:r>
            <a:endParaRPr lang="en-US" sz="1400" dirty="0"/>
          </a:p>
          <a:p>
            <a:pPr indent="0" marL="0">
              <a:spcAft>
                <a:spcPts val="1000"/>
              </a:spcAft>
              <a:buNone/>
            </a:pPr>
            <a:r>
              <a:rPr lang="en-US" sz="1400" dirty="0">
                <a:solidFill>
                  <a:srgbClr val="0F2A36"/>
                </a:solidFill>
              </a:rPr>
              <a:t>✓  FAO-56 advice + Open-Meteo</a:t>
            </a:r>
            <a:endParaRPr lang="en-US" sz="1400" dirty="0"/>
          </a:p>
          <a:p>
            <a:pPr indent="0" marL="0">
              <a:spcAft>
                <a:spcPts val="1000"/>
              </a:spcAft>
              <a:buNone/>
            </a:pPr>
            <a:r>
              <a:rPr lang="en-US" sz="1400" dirty="0">
                <a:solidFill>
                  <a:srgbClr val="0F2A36"/>
                </a:solidFill>
              </a:rPr>
              <a:t>✓  Telegram alerts</a:t>
            </a:r>
            <a:endParaRPr lang="en-US" sz="1400" dirty="0"/>
          </a:p>
        </p:txBody>
      </p:sp>
      <p:sp>
        <p:nvSpPr>
          <p:cNvPr id="14" name="FARMER APP"/>
          <p:cNvSpPr/>
          <p:nvPr/>
        </p:nvSpPr>
        <p:spPr>
          <a:xfrm>
            <a:off x="6172200" y="1234440"/>
            <a:ext cx="2606040" cy="3429000"/>
          </a:xfrm>
          <a:prstGeom prst="roundRect">
            <a:avLst>
              <a:gd name="adj" fmla="val 4211"/>
            </a:avLst>
          </a:prstGeom>
          <a:solidFill>
            <a:srgbClr val="FFFFFF"/>
          </a:solidFill>
          <a:ln w="9525">
            <a:solidFill>
              <a:srgbClr val="C9D6D9"/>
            </a:solidFill>
            <a:prstDash val="solid"/>
          </a:ln>
          <a:effectLst>
            <a:outerShdw sx="100000" sy="100000" kx="0" ky="0" algn="bl" rotWithShape="0" blurRad="101600" dist="25400" dir="5400000">
              <a:srgbClr val="0F2A36">
                <a:alpha val="12000"/>
              </a:srgbClr>
            </a:outerShdw>
          </a:effectLst>
        </p:spPr>
      </p:sp>
      <p:sp>
        <p:nvSpPr>
          <p:cNvPr id="15" name="Icon circle"/>
          <p:cNvSpPr/>
          <p:nvPr/>
        </p:nvSpPr>
        <p:spPr>
          <a:xfrm>
            <a:off x="6355080" y="1389888"/>
            <a:ext cx="502920" cy="502920"/>
          </a:xfrm>
          <a:prstGeom prst="ellipse">
            <a:avLst/>
          </a:prstGeom>
          <a:solidFill>
            <a:srgbClr val="F2F7F6"/>
          </a:solidFill>
          <a:ln w="12700">
            <a:solidFill>
              <a:srgbClr val="F2F7F6"/>
            </a:solidFill>
            <a:prstDash val="solid"/>
          </a:ln>
        </p:spPr>
      </p:sp>
      <p:pic>
        <p:nvPicPr>
          <p:cNvPr id="16" name="Icon" descr="preencoded.png">    </p:cNvPr>
          <p:cNvPicPr>
            <a:picLocks noChangeAspect="1"/>
          </p:cNvPicPr>
          <p:nvPr/>
        </p:nvPicPr>
        <p:blipFill>
          <a:blip r:embed="rId3"/>
          <a:stretch>
            <a:fillRect/>
          </a:stretch>
        </p:blipFill>
        <p:spPr>
          <a:xfrm>
            <a:off x="6480810" y="1515618"/>
            <a:ext cx="251460" cy="251460"/>
          </a:xfrm>
          <a:prstGeom prst="rect">
            <a:avLst/>
          </a:prstGeom>
        </p:spPr>
      </p:pic>
      <p:sp>
        <p:nvSpPr>
          <p:cNvPr id="17" name="Text 12"/>
          <p:cNvSpPr txBox="1"/>
          <p:nvPr/>
        </p:nvSpPr>
        <p:spPr>
          <a:xfrm>
            <a:off x="6949440" y="1389888"/>
            <a:ext cx="1737360" cy="502920"/>
          </a:xfrm>
          <a:prstGeom prst="rect">
            <a:avLst/>
          </a:prstGeom>
          <a:noFill/>
          <a:ln/>
        </p:spPr>
        <p:txBody>
          <a:bodyPr wrap="square" lIns="0" tIns="0" rIns="0" bIns="0" rtlCol="0" anchor="ctr"/>
          <a:lstStyle/>
          <a:p>
            <a:pPr indent="0" marL="0">
              <a:buNone/>
            </a:pPr>
            <a:r>
              <a:rPr lang="en-US" sz="1400" b="1" dirty="0">
                <a:solidFill>
                  <a:srgbClr val="1E88E5"/>
                </a:solidFill>
              </a:rPr>
              <a:t>FARMER APP</a:t>
            </a:r>
            <a:endParaRPr lang="en-US" sz="1400" dirty="0"/>
          </a:p>
        </p:txBody>
      </p:sp>
      <p:sp>
        <p:nvSpPr>
          <p:cNvPr id="18" name="Text 13"/>
          <p:cNvSpPr txBox="1"/>
          <p:nvPr/>
        </p:nvSpPr>
        <p:spPr>
          <a:xfrm>
            <a:off x="6355080" y="2057400"/>
            <a:ext cx="2331720" cy="2514600"/>
          </a:xfrm>
          <a:prstGeom prst="rect">
            <a:avLst/>
          </a:prstGeom>
          <a:noFill/>
          <a:ln/>
        </p:spPr>
        <p:txBody>
          <a:bodyPr wrap="square" lIns="0" tIns="0" rIns="0" bIns="0" rtlCol="0" anchor="t"/>
          <a:lstStyle/>
          <a:p>
            <a:pPr indent="0" marL="0">
              <a:spcAft>
                <a:spcPts val="1000"/>
              </a:spcAft>
              <a:buNone/>
            </a:pPr>
            <a:r>
              <a:rPr lang="en-US" sz="1400" dirty="0">
                <a:solidFill>
                  <a:srgbClr val="0F2A36"/>
                </a:solidFill>
              </a:rPr>
              <a:t>✓  Live zone readings and health</a:t>
            </a:r>
            <a:endParaRPr lang="en-US" sz="1400" dirty="0"/>
          </a:p>
          <a:p>
            <a:pPr indent="0" marL="0">
              <a:spcAft>
                <a:spcPts val="1000"/>
              </a:spcAft>
              <a:buNone/>
            </a:pPr>
            <a:r>
              <a:rPr lang="en-US" sz="1400" dirty="0">
                <a:solidFill>
                  <a:srgbClr val="0F2A36"/>
                </a:solidFill>
              </a:rPr>
              <a:t>✓  Automatic / scheduled / manual</a:t>
            </a:r>
            <a:endParaRPr lang="en-US" sz="1400" dirty="0"/>
          </a:p>
          <a:p>
            <a:pPr indent="0" marL="0">
              <a:spcAft>
                <a:spcPts val="1000"/>
              </a:spcAft>
              <a:buNone/>
            </a:pPr>
            <a:r>
              <a:rPr lang="en-US" sz="1400" dirty="0">
                <a:solidFill>
                  <a:srgbClr val="0F2A36"/>
                </a:solidFill>
              </a:rPr>
              <a:t>✓  Manual start and stop</a:t>
            </a:r>
            <a:endParaRPr lang="en-US" sz="1400" dirty="0"/>
          </a:p>
          <a:p>
            <a:pPr indent="0" marL="0">
              <a:spcAft>
                <a:spcPts val="1000"/>
              </a:spcAft>
              <a:buNone/>
            </a:pPr>
            <a:r>
              <a:rPr lang="en-US" sz="1400" dirty="0">
                <a:solidFill>
                  <a:srgbClr val="0F2A36"/>
                </a:solidFill>
              </a:rPr>
              <a:t>✓  Water-usage reports (PDF)</a:t>
            </a:r>
            <a:endParaRPr lang="en-US" sz="1400" dirty="0"/>
          </a:p>
        </p:txBody>
      </p:sp>
      <p:sp>
        <p:nvSpPr>
          <p:cNvPr id="19" name="ADMINISTRATION"/>
          <p:cNvSpPr/>
          <p:nvPr/>
        </p:nvSpPr>
        <p:spPr>
          <a:xfrm>
            <a:off x="9006840" y="1234440"/>
            <a:ext cx="2606040" cy="3429000"/>
          </a:xfrm>
          <a:prstGeom prst="roundRect">
            <a:avLst>
              <a:gd name="adj" fmla="val 4211"/>
            </a:avLst>
          </a:prstGeom>
          <a:solidFill>
            <a:srgbClr val="FFFFFF"/>
          </a:solidFill>
          <a:ln w="9525">
            <a:solidFill>
              <a:srgbClr val="C9D6D9"/>
            </a:solidFill>
            <a:prstDash val="solid"/>
          </a:ln>
          <a:effectLst>
            <a:outerShdw sx="100000" sy="100000" kx="0" ky="0" algn="bl" rotWithShape="0" blurRad="101600" dist="25400" dir="5400000">
              <a:srgbClr val="0F2A36">
                <a:alpha val="12000"/>
              </a:srgbClr>
            </a:outerShdw>
          </a:effectLst>
        </p:spPr>
      </p:sp>
      <p:sp>
        <p:nvSpPr>
          <p:cNvPr id="20" name="Icon circle"/>
          <p:cNvSpPr/>
          <p:nvPr/>
        </p:nvSpPr>
        <p:spPr>
          <a:xfrm>
            <a:off x="9189720" y="1389888"/>
            <a:ext cx="502920" cy="502920"/>
          </a:xfrm>
          <a:prstGeom prst="ellipse">
            <a:avLst/>
          </a:prstGeom>
          <a:solidFill>
            <a:srgbClr val="F2F7F6"/>
          </a:solidFill>
          <a:ln w="12700">
            <a:solidFill>
              <a:srgbClr val="F2F7F6"/>
            </a:solidFill>
            <a:prstDash val="solid"/>
          </a:ln>
        </p:spPr>
      </p:sp>
      <p:pic>
        <p:nvPicPr>
          <p:cNvPr id="21" name="Icon" descr="preencoded.png">    </p:cNvPr>
          <p:cNvPicPr>
            <a:picLocks noChangeAspect="1"/>
          </p:cNvPicPr>
          <p:nvPr/>
        </p:nvPicPr>
        <p:blipFill>
          <a:blip r:embed="rId4"/>
          <a:stretch>
            <a:fillRect/>
          </a:stretch>
        </p:blipFill>
        <p:spPr>
          <a:xfrm>
            <a:off x="9315450" y="1515618"/>
            <a:ext cx="251460" cy="251460"/>
          </a:xfrm>
          <a:prstGeom prst="rect">
            <a:avLst/>
          </a:prstGeom>
        </p:spPr>
      </p:pic>
      <p:sp>
        <p:nvSpPr>
          <p:cNvPr id="22" name="Text 16"/>
          <p:cNvSpPr txBox="1"/>
          <p:nvPr/>
        </p:nvSpPr>
        <p:spPr>
          <a:xfrm>
            <a:off x="9784080" y="1389888"/>
            <a:ext cx="1737360" cy="502920"/>
          </a:xfrm>
          <a:prstGeom prst="rect">
            <a:avLst/>
          </a:prstGeom>
          <a:noFill/>
          <a:ln/>
        </p:spPr>
        <p:txBody>
          <a:bodyPr wrap="square" lIns="0" tIns="0" rIns="0" bIns="0" rtlCol="0" anchor="ctr"/>
          <a:lstStyle/>
          <a:p>
            <a:pPr indent="0" marL="0">
              <a:buNone/>
            </a:pPr>
            <a:r>
              <a:rPr lang="en-US" sz="1400" b="1" dirty="0">
                <a:solidFill>
                  <a:srgbClr val="184D35"/>
                </a:solidFill>
              </a:rPr>
              <a:t>ADMINISTRATION</a:t>
            </a:r>
            <a:endParaRPr lang="en-US" sz="1400" dirty="0"/>
          </a:p>
        </p:txBody>
      </p:sp>
      <p:sp>
        <p:nvSpPr>
          <p:cNvPr id="23" name="Text 17"/>
          <p:cNvSpPr txBox="1"/>
          <p:nvPr/>
        </p:nvSpPr>
        <p:spPr>
          <a:xfrm>
            <a:off x="9189720" y="2057400"/>
            <a:ext cx="2331720" cy="2514600"/>
          </a:xfrm>
          <a:prstGeom prst="rect">
            <a:avLst/>
          </a:prstGeom>
          <a:noFill/>
          <a:ln/>
        </p:spPr>
        <p:txBody>
          <a:bodyPr wrap="square" lIns="0" tIns="0" rIns="0" bIns="0" rtlCol="0" anchor="t"/>
          <a:lstStyle/>
          <a:p>
            <a:pPr indent="0" marL="0">
              <a:spcAft>
                <a:spcPts val="1000"/>
              </a:spcAft>
              <a:buNone/>
            </a:pPr>
            <a:r>
              <a:rPr lang="en-US" sz="1400" dirty="0">
                <a:solidFill>
                  <a:srgbClr val="0F2A36"/>
                </a:solidFill>
              </a:rPr>
              <a:t>✓  Farm and kit wizards</a:t>
            </a:r>
            <a:endParaRPr lang="en-US" sz="1400" dirty="0"/>
          </a:p>
          <a:p>
            <a:pPr indent="0" marL="0">
              <a:spcAft>
                <a:spcPts val="1000"/>
              </a:spcAft>
              <a:buNone/>
            </a:pPr>
            <a:r>
              <a:rPr lang="en-US" sz="1400" dirty="0">
                <a:solidFill>
                  <a:srgbClr val="0F2A36"/>
                </a:solidFill>
              </a:rPr>
              <a:t>✓  Kits online / offline</a:t>
            </a:r>
            <a:endParaRPr lang="en-US" sz="1400" dirty="0"/>
          </a:p>
          <a:p>
            <a:pPr indent="0" marL="0">
              <a:spcAft>
                <a:spcPts val="1000"/>
              </a:spcAft>
              <a:buNone/>
            </a:pPr>
            <a:r>
              <a:rPr lang="en-US" sz="1400" dirty="0">
                <a:solidFill>
                  <a:srgbClr val="0F2A36"/>
                </a:solidFill>
              </a:rPr>
              <a:t>✓  Alerts and requests</a:t>
            </a:r>
            <a:endParaRPr lang="en-US" sz="1400" dirty="0"/>
          </a:p>
          <a:p>
            <a:pPr indent="0" marL="0">
              <a:spcAft>
                <a:spcPts val="1000"/>
              </a:spcAft>
              <a:buNone/>
            </a:pPr>
            <a:r>
              <a:rPr lang="en-US" sz="1400" dirty="0">
                <a:solidFill>
                  <a:srgbClr val="0F2A36"/>
                </a:solidFill>
              </a:rPr>
              <a:t>✓  Excel, PDF and CSV exports</a:t>
            </a:r>
            <a:endParaRPr lang="en-US" sz="1400" dirty="0"/>
          </a:p>
        </p:txBody>
      </p:sp>
      <p:sp>
        <p:nvSpPr>
          <p:cNvPr id="24" name="Not yet"/>
          <p:cNvSpPr/>
          <p:nvPr/>
        </p:nvSpPr>
        <p:spPr>
          <a:xfrm>
            <a:off x="502920" y="4846320"/>
            <a:ext cx="11155680" cy="1280160"/>
          </a:xfrm>
          <a:prstGeom prst="roundRect">
            <a:avLst>
              <a:gd name="adj" fmla="val 8571"/>
            </a:avLst>
          </a:prstGeom>
          <a:solidFill>
            <a:srgbClr val="FBF1DC"/>
          </a:solidFill>
          <a:ln w="9525">
            <a:solidFill>
              <a:srgbClr val="FBF1DC"/>
            </a:solidFill>
            <a:prstDash val="solid"/>
          </a:ln>
          <a:effectLst>
            <a:outerShdw sx="100000" sy="100000" kx="0" ky="0" algn="bl" rotWithShape="0" blurRad="101600" dist="25400" dir="5400000">
              <a:srgbClr val="0F2A36">
                <a:alpha val="12000"/>
              </a:srgbClr>
            </a:outerShdw>
          </a:effectLst>
        </p:spPr>
      </p:sp>
      <p:sp>
        <p:nvSpPr>
          <p:cNvPr id="25" name="Text 19"/>
          <p:cNvSpPr txBox="1"/>
          <p:nvPr/>
        </p:nvSpPr>
        <p:spPr>
          <a:xfrm>
            <a:off x="731520" y="4956048"/>
            <a:ext cx="2743200" cy="274320"/>
          </a:xfrm>
          <a:prstGeom prst="rect">
            <a:avLst/>
          </a:prstGeom>
          <a:noFill/>
          <a:ln/>
        </p:spPr>
        <p:txBody>
          <a:bodyPr wrap="square" lIns="0" tIns="0" rIns="0" bIns="0" rtlCol="0" anchor="t"/>
          <a:lstStyle/>
          <a:p>
            <a:pPr indent="0" marL="0">
              <a:buNone/>
            </a:pPr>
            <a:r>
              <a:rPr lang="en-US" sz="1300" b="1" dirty="0">
                <a:solidFill>
                  <a:srgbClr val="7A5300"/>
                </a:solidFill>
              </a:rPr>
              <a:t>○  NOT YET / NEXT</a:t>
            </a:r>
            <a:endParaRPr lang="en-US" sz="1300" dirty="0"/>
          </a:p>
        </p:txBody>
      </p:sp>
      <p:sp>
        <p:nvSpPr>
          <p:cNvPr id="26" name="Text 20"/>
          <p:cNvSpPr txBox="1"/>
          <p:nvPr/>
        </p:nvSpPr>
        <p:spPr>
          <a:xfrm>
            <a:off x="731520" y="5285232"/>
            <a:ext cx="10789920" cy="731520"/>
          </a:xfrm>
          <a:prstGeom prst="rect">
            <a:avLst/>
          </a:prstGeom>
          <a:noFill/>
          <a:ln/>
        </p:spPr>
        <p:txBody>
          <a:bodyPr wrap="square" lIns="0" tIns="0" rIns="0" bIns="0" rtlCol="0" anchor="t"/>
          <a:lstStyle/>
          <a:p>
            <a:pPr indent="0" marL="0">
              <a:spcAft>
                <a:spcPts val="400"/>
              </a:spcAft>
              <a:buNone/>
            </a:pPr>
            <a:r>
              <a:rPr lang="en-US" sz="1300" dirty="0">
                <a:solidFill>
                  <a:srgbClr val="0F2A36"/>
                </a:solidFill>
              </a:rPr>
              <a:t>Maintenance jobs and alert assignment are session-only (no table behind them)   ·   Per-kit uptime not measured</a:t>
            </a:r>
            <a:endParaRPr lang="en-US" sz="1300" dirty="0"/>
          </a:p>
          <a:p>
            <a:pPr indent="0" marL="0">
              <a:spcAft>
                <a:spcPts val="400"/>
              </a:spcAft>
              <a:buNone/>
            </a:pPr>
            <a:r>
              <a:rPr lang="en-US" sz="1300" dirty="0">
                <a:solidFill>
                  <a:srgbClr val="0F2A36"/>
                </a:solidFill>
              </a:rPr>
              <a:t>Kit restart / remove from console is session-only   ·   ESP-NOW gateway and Supabase Realtime (Milestone 3 design) not built</a:t>
            </a:r>
            <a:endParaRPr lang="en-US" sz="1300" dirty="0"/>
          </a:p>
        </p:txBody>
      </p:sp>
      <p:sp>
        <p:nvSpPr>
          <p:cNvPr id="25" name="Slide Number Placeholder 0"/>
          <p:cNvSpPr>
            <a:spLocks noGrp="1"/>
          </p:cNvSpPr>
          <p:nvPr>
            <p:ph type="sldNum" sz="quarter" idx="4294967295"/>
          </p:nvPr>
        </p:nvSpPr>
        <p:spPr>
          <a:xfrm>
            <a:off x="1129284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02920" y="347472"/>
            <a:ext cx="9326880" cy="731520"/>
          </a:xfrm>
          <a:prstGeom prst="rect">
            <a:avLst/>
          </a:prstGeom>
          <a:noFill/>
          <a:ln/>
        </p:spPr>
        <p:txBody>
          <a:bodyPr wrap="square" lIns="0" tIns="0" rIns="0" bIns="0" rtlCol="0" anchor="ctr"/>
          <a:lstStyle/>
          <a:p>
            <a:pPr algn="l" indent="0" marL="0">
              <a:buNone/>
            </a:pPr>
            <a:r>
              <a:rPr lang="en-US" sz="3400" b="1" dirty="0">
                <a:solidFill>
                  <a:srgbClr val="0F2A36"/>
                </a:solidFill>
              </a:rPr>
              <a:t>The journey we will demonstrate</a:t>
            </a:r>
            <a:endParaRPr lang="en-US" sz="3400" dirty="0"/>
          </a:p>
        </p:txBody>
      </p:sp>
      <p:sp>
        <p:nvSpPr>
          <p:cNvPr id="3" name="Speaker tag"/>
          <p:cNvSpPr txBox="1"/>
          <p:nvPr/>
        </p:nvSpPr>
        <p:spPr>
          <a:xfrm>
            <a:off x="10012680" y="457200"/>
            <a:ext cx="1691640" cy="329184"/>
          </a:xfrm>
          <a:prstGeom prst="roundRect">
            <a:avLst>
              <a:gd name="adj" fmla="val 41667"/>
            </a:avLst>
          </a:prstGeom>
          <a:solidFill>
            <a:srgbClr val="E3F4F5"/>
          </a:solidFill>
          <a:ln>
            <a:solidFill>
              <a:srgbClr val="E3F4F5"/>
            </a:solidFill>
          </a:ln>
        </p:spPr>
        <p:txBody>
          <a:bodyPr wrap="square" lIns="0" tIns="0" rIns="0" bIns="0" rtlCol="0" anchor="ctr"/>
          <a:lstStyle/>
          <a:p>
            <a:pPr algn="ctr" indent="0" marL="0">
              <a:buNone/>
            </a:pPr>
            <a:r>
              <a:rPr lang="en-US" sz="1100" b="1" dirty="0">
                <a:solidFill>
                  <a:srgbClr val="168F99"/>
                </a:solidFill>
              </a:rPr>
              <a:t>Olwethu</a:t>
            </a:r>
            <a:endParaRPr lang="en-US" sz="1100" dirty="0"/>
          </a:p>
        </p:txBody>
      </p:sp>
      <p:sp>
        <p:nvSpPr>
          <p:cNvPr id="4" name="Step 1"/>
          <p:cNvSpPr txBox="1"/>
          <p:nvPr/>
        </p:nvSpPr>
        <p:spPr>
          <a:xfrm>
            <a:off x="1051560" y="1234440"/>
            <a:ext cx="384048" cy="384048"/>
          </a:xfrm>
          <a:prstGeom prst="ellipse">
            <a:avLst/>
          </a:prstGeom>
          <a:solidFill>
            <a:srgbClr val="1E88E5"/>
          </a:solidFill>
          <a:ln>
            <a:solidFill>
              <a:srgbClr val="1E88E5"/>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Shape 3"/>
          <p:cNvSpPr/>
          <p:nvPr/>
        </p:nvSpPr>
        <p:spPr>
          <a:xfrm>
            <a:off x="1490472" y="1426464"/>
            <a:ext cx="1115568" cy="914"/>
          </a:xfrm>
          <a:prstGeom prst="line">
            <a:avLst/>
          </a:prstGeom>
          <a:noFill/>
          <a:ln w="19050">
            <a:solidFill>
              <a:srgbClr val="C9D6D9"/>
            </a:solidFill>
            <a:prstDash val="solid"/>
            <a:tailEnd type="triangle"/>
          </a:ln>
        </p:spPr>
      </p:sp>
      <p:sp>
        <p:nvSpPr>
          <p:cNvPr id="6" name="Text 4"/>
          <p:cNvSpPr txBox="1"/>
          <p:nvPr/>
        </p:nvSpPr>
        <p:spPr>
          <a:xfrm>
            <a:off x="502920" y="1719072"/>
            <a:ext cx="1481328" cy="457200"/>
          </a:xfrm>
          <a:prstGeom prst="rect">
            <a:avLst/>
          </a:prstGeom>
          <a:noFill/>
          <a:ln/>
        </p:spPr>
        <p:txBody>
          <a:bodyPr wrap="square" lIns="0" tIns="0" rIns="0" bIns="0" rtlCol="0" anchor="t"/>
          <a:lstStyle/>
          <a:p>
            <a:pPr algn="ctr" indent="0" marL="0">
              <a:buNone/>
            </a:pPr>
            <a:r>
              <a:rPr lang="en-US" sz="1300" b="1" dirty="0">
                <a:solidFill>
                  <a:srgbClr val="0F2A36"/>
                </a:solidFill>
              </a:rPr>
              <a:t>Farmer opens AgroFlow</a:t>
            </a:r>
            <a:endParaRPr lang="en-US" sz="1300" dirty="0"/>
          </a:p>
        </p:txBody>
      </p:sp>
      <p:sp>
        <p:nvSpPr>
          <p:cNvPr id="7" name="Text 5"/>
          <p:cNvSpPr txBox="1"/>
          <p:nvPr/>
        </p:nvSpPr>
        <p:spPr>
          <a:xfrm>
            <a:off x="502920" y="2157984"/>
            <a:ext cx="1481328" cy="548640"/>
          </a:xfrm>
          <a:prstGeom prst="rect">
            <a:avLst/>
          </a:prstGeom>
          <a:noFill/>
          <a:ln/>
        </p:spPr>
        <p:txBody>
          <a:bodyPr wrap="square" lIns="0" tIns="0" rIns="0" bIns="0" rtlCol="0" anchor="t"/>
          <a:lstStyle/>
          <a:p>
            <a:pPr algn="ctr" indent="0" marL="0">
              <a:buNone/>
            </a:pPr>
            <a:r>
              <a:rPr lang="en-US" sz="1100" dirty="0">
                <a:solidFill>
                  <a:srgbClr val="5B6B73"/>
                </a:solidFill>
              </a:rPr>
              <a:t>Drip points to today's one action</a:t>
            </a:r>
            <a:endParaRPr lang="en-US" sz="1100" dirty="0"/>
          </a:p>
        </p:txBody>
      </p:sp>
      <p:sp>
        <p:nvSpPr>
          <p:cNvPr id="8" name="Step 2"/>
          <p:cNvSpPr txBox="1"/>
          <p:nvPr/>
        </p:nvSpPr>
        <p:spPr>
          <a:xfrm>
            <a:off x="2660904" y="1234440"/>
            <a:ext cx="384048" cy="384048"/>
          </a:xfrm>
          <a:prstGeom prst="ellipse">
            <a:avLst/>
          </a:prstGeom>
          <a:solidFill>
            <a:srgbClr val="C98A00"/>
          </a:solidFill>
          <a:ln>
            <a:solidFill>
              <a:srgbClr val="C98A00"/>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Shape 7"/>
          <p:cNvSpPr/>
          <p:nvPr/>
        </p:nvSpPr>
        <p:spPr>
          <a:xfrm>
            <a:off x="3099816" y="1426464"/>
            <a:ext cx="1115568" cy="914"/>
          </a:xfrm>
          <a:prstGeom prst="line">
            <a:avLst/>
          </a:prstGeom>
          <a:noFill/>
          <a:ln w="19050">
            <a:solidFill>
              <a:srgbClr val="C9D6D9"/>
            </a:solidFill>
            <a:prstDash val="solid"/>
            <a:tailEnd type="triangle"/>
          </a:ln>
        </p:spPr>
      </p:sp>
      <p:sp>
        <p:nvSpPr>
          <p:cNvPr id="10" name="Text 8"/>
          <p:cNvSpPr txBox="1"/>
          <p:nvPr/>
        </p:nvSpPr>
        <p:spPr>
          <a:xfrm>
            <a:off x="2112264" y="1719072"/>
            <a:ext cx="1481328" cy="457200"/>
          </a:xfrm>
          <a:prstGeom prst="rect">
            <a:avLst/>
          </a:prstGeom>
          <a:noFill/>
          <a:ln/>
        </p:spPr>
        <p:txBody>
          <a:bodyPr wrap="square" lIns="0" tIns="0" rIns="0" bIns="0" rtlCol="0" anchor="t"/>
          <a:lstStyle/>
          <a:p>
            <a:pPr algn="ctr" indent="0" marL="0">
              <a:buNone/>
            </a:pPr>
            <a:r>
              <a:rPr lang="en-US" sz="1300" b="1" dirty="0">
                <a:solidFill>
                  <a:srgbClr val="0F2A36"/>
                </a:solidFill>
              </a:rPr>
              <a:t>Zone 2 is critical</a:t>
            </a:r>
            <a:endParaRPr lang="en-US" sz="1300" dirty="0"/>
          </a:p>
        </p:txBody>
      </p:sp>
      <p:sp>
        <p:nvSpPr>
          <p:cNvPr id="11" name="Text 9"/>
          <p:cNvSpPr txBox="1"/>
          <p:nvPr/>
        </p:nvSpPr>
        <p:spPr>
          <a:xfrm>
            <a:off x="2112264" y="2157984"/>
            <a:ext cx="1481328" cy="548640"/>
          </a:xfrm>
          <a:prstGeom prst="rect">
            <a:avLst/>
          </a:prstGeom>
          <a:noFill/>
          <a:ln/>
        </p:spPr>
        <p:txBody>
          <a:bodyPr wrap="square" lIns="0" tIns="0" rIns="0" bIns="0" rtlCol="0" anchor="t"/>
          <a:lstStyle/>
          <a:p>
            <a:pPr algn="ctr" indent="0" marL="0">
              <a:buNone/>
            </a:pPr>
            <a:r>
              <a:rPr lang="en-US" sz="1100" dirty="0">
                <a:solidFill>
                  <a:srgbClr val="5B6B73"/>
                </a:solidFill>
              </a:rPr>
              <a:t>Soil moisture below its start level</a:t>
            </a:r>
            <a:endParaRPr lang="en-US" sz="1100" dirty="0"/>
          </a:p>
        </p:txBody>
      </p:sp>
      <p:sp>
        <p:nvSpPr>
          <p:cNvPr id="12" name="Step 3"/>
          <p:cNvSpPr txBox="1"/>
          <p:nvPr/>
        </p:nvSpPr>
        <p:spPr>
          <a:xfrm>
            <a:off x="4270248" y="1234440"/>
            <a:ext cx="384048" cy="384048"/>
          </a:xfrm>
          <a:prstGeom prst="ellipse">
            <a:avLst/>
          </a:prstGeom>
          <a:solidFill>
            <a:srgbClr val="168F99"/>
          </a:solidFill>
          <a:ln>
            <a:solidFill>
              <a:srgbClr val="168F99"/>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hape 11"/>
          <p:cNvSpPr/>
          <p:nvPr/>
        </p:nvSpPr>
        <p:spPr>
          <a:xfrm>
            <a:off x="4709160" y="1426464"/>
            <a:ext cx="1115568" cy="914"/>
          </a:xfrm>
          <a:prstGeom prst="line">
            <a:avLst/>
          </a:prstGeom>
          <a:noFill/>
          <a:ln w="19050">
            <a:solidFill>
              <a:srgbClr val="C9D6D9"/>
            </a:solidFill>
            <a:prstDash val="solid"/>
            <a:tailEnd type="triangle"/>
          </a:ln>
        </p:spPr>
      </p:sp>
      <p:sp>
        <p:nvSpPr>
          <p:cNvPr id="14" name="Text 12"/>
          <p:cNvSpPr txBox="1"/>
          <p:nvPr/>
        </p:nvSpPr>
        <p:spPr>
          <a:xfrm>
            <a:off x="3721608" y="1719072"/>
            <a:ext cx="1481328" cy="457200"/>
          </a:xfrm>
          <a:prstGeom prst="rect">
            <a:avLst/>
          </a:prstGeom>
          <a:noFill/>
          <a:ln/>
        </p:spPr>
        <p:txBody>
          <a:bodyPr wrap="square" lIns="0" tIns="0" rIns="0" bIns="0" rtlCol="0" anchor="t"/>
          <a:lstStyle/>
          <a:p>
            <a:pPr algn="ctr" indent="0" marL="0">
              <a:buNone/>
            </a:pPr>
            <a:r>
              <a:rPr lang="en-US" sz="1300" b="1" dirty="0">
                <a:solidFill>
                  <a:srgbClr val="0F2A36"/>
                </a:solidFill>
              </a:rPr>
              <a:t>Reads the advice</a:t>
            </a:r>
            <a:endParaRPr lang="en-US" sz="1300" dirty="0"/>
          </a:p>
        </p:txBody>
      </p:sp>
      <p:sp>
        <p:nvSpPr>
          <p:cNvPr id="15" name="Text 13"/>
          <p:cNvSpPr txBox="1"/>
          <p:nvPr/>
        </p:nvSpPr>
        <p:spPr>
          <a:xfrm>
            <a:off x="3721608" y="2157984"/>
            <a:ext cx="1481328" cy="548640"/>
          </a:xfrm>
          <a:prstGeom prst="rect">
            <a:avLst/>
          </a:prstGeom>
          <a:noFill/>
          <a:ln/>
        </p:spPr>
        <p:txBody>
          <a:bodyPr wrap="square" lIns="0" tIns="0" rIns="0" bIns="0" rtlCol="0" anchor="t"/>
          <a:lstStyle/>
          <a:p>
            <a:pPr algn="ctr" indent="0" marL="0">
              <a:buNone/>
            </a:pPr>
            <a:r>
              <a:rPr lang="en-US" sz="1100" dirty="0">
                <a:solidFill>
                  <a:srgbClr val="5B6B73"/>
                </a:solidFill>
              </a:rPr>
              <a:t>FAO-56: water now, about 5 min</a:t>
            </a:r>
            <a:endParaRPr lang="en-US" sz="1100" dirty="0"/>
          </a:p>
        </p:txBody>
      </p:sp>
      <p:sp>
        <p:nvSpPr>
          <p:cNvPr id="16" name="Step 4"/>
          <p:cNvSpPr txBox="1"/>
          <p:nvPr/>
        </p:nvSpPr>
        <p:spPr>
          <a:xfrm>
            <a:off x="5879592" y="1234440"/>
            <a:ext cx="384048" cy="384048"/>
          </a:xfrm>
          <a:prstGeom prst="ellipse">
            <a:avLst/>
          </a:prstGeom>
          <a:solidFill>
            <a:srgbClr val="1E88E5"/>
          </a:solidFill>
          <a:ln>
            <a:solidFill>
              <a:srgbClr val="1E88E5"/>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Shape 15"/>
          <p:cNvSpPr/>
          <p:nvPr/>
        </p:nvSpPr>
        <p:spPr>
          <a:xfrm>
            <a:off x="6318504" y="1426464"/>
            <a:ext cx="1115568" cy="914"/>
          </a:xfrm>
          <a:prstGeom prst="line">
            <a:avLst/>
          </a:prstGeom>
          <a:noFill/>
          <a:ln w="19050">
            <a:solidFill>
              <a:srgbClr val="C9D6D9"/>
            </a:solidFill>
            <a:prstDash val="solid"/>
            <a:tailEnd type="triangle"/>
          </a:ln>
        </p:spPr>
      </p:sp>
      <p:sp>
        <p:nvSpPr>
          <p:cNvPr id="18" name="Text 16"/>
          <p:cNvSpPr txBox="1"/>
          <p:nvPr/>
        </p:nvSpPr>
        <p:spPr>
          <a:xfrm>
            <a:off x="5330952" y="1719072"/>
            <a:ext cx="1481328" cy="457200"/>
          </a:xfrm>
          <a:prstGeom prst="rect">
            <a:avLst/>
          </a:prstGeom>
          <a:noFill/>
          <a:ln/>
        </p:spPr>
        <p:txBody>
          <a:bodyPr wrap="square" lIns="0" tIns="0" rIns="0" bIns="0" rtlCol="0" anchor="t"/>
          <a:lstStyle/>
          <a:p>
            <a:pPr algn="ctr" indent="0" marL="0">
              <a:buNone/>
            </a:pPr>
            <a:r>
              <a:rPr lang="en-US" sz="1300" b="1" dirty="0">
                <a:solidFill>
                  <a:srgbClr val="0F2A36"/>
                </a:solidFill>
              </a:rPr>
              <a:t>Starts a manual run</a:t>
            </a:r>
            <a:endParaRPr lang="en-US" sz="1300" dirty="0"/>
          </a:p>
        </p:txBody>
      </p:sp>
      <p:sp>
        <p:nvSpPr>
          <p:cNvPr id="19" name="Text 17"/>
          <p:cNvSpPr txBox="1"/>
          <p:nvPr/>
        </p:nvSpPr>
        <p:spPr>
          <a:xfrm>
            <a:off x="5330952" y="2157984"/>
            <a:ext cx="1481328" cy="548640"/>
          </a:xfrm>
          <a:prstGeom prst="rect">
            <a:avLst/>
          </a:prstGeom>
          <a:noFill/>
          <a:ln/>
        </p:spPr>
        <p:txBody>
          <a:bodyPr wrap="square" lIns="0" tIns="0" rIns="0" bIns="0" rtlCol="0" anchor="t"/>
          <a:lstStyle/>
          <a:p>
            <a:pPr algn="ctr" indent="0" marL="0">
              <a:buNone/>
            </a:pPr>
            <a:r>
              <a:rPr lang="en-US" sz="1100" dirty="0">
                <a:solidFill>
                  <a:srgbClr val="5B6B73"/>
                </a:solidFill>
              </a:rPr>
              <a:t>Switches the zone to Manual</a:t>
            </a:r>
            <a:endParaRPr lang="en-US" sz="1100" dirty="0"/>
          </a:p>
        </p:txBody>
      </p:sp>
      <p:sp>
        <p:nvSpPr>
          <p:cNvPr id="20" name="Step 5"/>
          <p:cNvSpPr txBox="1"/>
          <p:nvPr/>
        </p:nvSpPr>
        <p:spPr>
          <a:xfrm>
            <a:off x="7488936" y="1234440"/>
            <a:ext cx="384048" cy="384048"/>
          </a:xfrm>
          <a:prstGeom prst="ellipse">
            <a:avLst/>
          </a:prstGeom>
          <a:solidFill>
            <a:srgbClr val="2F6B4B"/>
          </a:solidFill>
          <a:ln>
            <a:solidFill>
              <a:srgbClr val="2F6B4B"/>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1" name="Shape 19"/>
          <p:cNvSpPr/>
          <p:nvPr/>
        </p:nvSpPr>
        <p:spPr>
          <a:xfrm>
            <a:off x="7927848" y="1426464"/>
            <a:ext cx="1115568" cy="914"/>
          </a:xfrm>
          <a:prstGeom prst="line">
            <a:avLst/>
          </a:prstGeom>
          <a:noFill/>
          <a:ln w="19050">
            <a:solidFill>
              <a:srgbClr val="C9D6D9"/>
            </a:solidFill>
            <a:prstDash val="solid"/>
            <a:tailEnd type="triangle"/>
          </a:ln>
        </p:spPr>
      </p:sp>
      <p:sp>
        <p:nvSpPr>
          <p:cNvPr id="22" name="Text 20"/>
          <p:cNvSpPr txBox="1"/>
          <p:nvPr/>
        </p:nvSpPr>
        <p:spPr>
          <a:xfrm>
            <a:off x="6940296" y="1719072"/>
            <a:ext cx="1481328" cy="457200"/>
          </a:xfrm>
          <a:prstGeom prst="rect">
            <a:avLst/>
          </a:prstGeom>
          <a:noFill/>
          <a:ln/>
        </p:spPr>
        <p:txBody>
          <a:bodyPr wrap="square" lIns="0" tIns="0" rIns="0" bIns="0" rtlCol="0" anchor="t"/>
          <a:lstStyle/>
          <a:p>
            <a:pPr algn="ctr" indent="0" marL="0">
              <a:buNone/>
            </a:pPr>
            <a:r>
              <a:rPr lang="en-US" sz="1300" b="1" dirty="0">
                <a:solidFill>
                  <a:srgbClr val="0F2A36"/>
                </a:solidFill>
              </a:rPr>
              <a:t>Command reaches the kit</a:t>
            </a:r>
            <a:endParaRPr lang="en-US" sz="1300" dirty="0"/>
          </a:p>
        </p:txBody>
      </p:sp>
      <p:sp>
        <p:nvSpPr>
          <p:cNvPr id="23" name="Text 21"/>
          <p:cNvSpPr txBox="1"/>
          <p:nvPr/>
        </p:nvSpPr>
        <p:spPr>
          <a:xfrm>
            <a:off x="6940296" y="2157984"/>
            <a:ext cx="1481328" cy="548640"/>
          </a:xfrm>
          <a:prstGeom prst="rect">
            <a:avLst/>
          </a:prstGeom>
          <a:noFill/>
          <a:ln/>
        </p:spPr>
        <p:txBody>
          <a:bodyPr wrap="square" lIns="0" tIns="0" rIns="0" bIns="0" rtlCol="0" anchor="t"/>
          <a:lstStyle/>
          <a:p>
            <a:pPr algn="ctr" indent="0" marL="0">
              <a:buNone/>
            </a:pPr>
            <a:r>
              <a:rPr lang="en-US" sz="1100" dirty="0">
                <a:solidFill>
                  <a:srgbClr val="5B6B73"/>
                </a:solidFill>
              </a:rPr>
              <a:t>API → MQTT → ESP32 → pump</a:t>
            </a:r>
            <a:endParaRPr lang="en-US" sz="1100" dirty="0"/>
          </a:p>
        </p:txBody>
      </p:sp>
      <p:sp>
        <p:nvSpPr>
          <p:cNvPr id="24" name="Step 6"/>
          <p:cNvSpPr txBox="1"/>
          <p:nvPr/>
        </p:nvSpPr>
        <p:spPr>
          <a:xfrm>
            <a:off x="9098280" y="1234440"/>
            <a:ext cx="384048" cy="384048"/>
          </a:xfrm>
          <a:prstGeom prst="ellipse">
            <a:avLst/>
          </a:prstGeom>
          <a:solidFill>
            <a:srgbClr val="168F99"/>
          </a:solidFill>
          <a:ln>
            <a:solidFill>
              <a:srgbClr val="168F99"/>
            </a:solid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5" name="Shape 23"/>
          <p:cNvSpPr/>
          <p:nvPr/>
        </p:nvSpPr>
        <p:spPr>
          <a:xfrm>
            <a:off x="9537192" y="1426464"/>
            <a:ext cx="1115568" cy="914"/>
          </a:xfrm>
          <a:prstGeom prst="line">
            <a:avLst/>
          </a:prstGeom>
          <a:noFill/>
          <a:ln w="19050">
            <a:solidFill>
              <a:srgbClr val="C9D6D9"/>
            </a:solidFill>
            <a:prstDash val="solid"/>
            <a:tailEnd type="triangle"/>
          </a:ln>
        </p:spPr>
      </p:sp>
      <p:sp>
        <p:nvSpPr>
          <p:cNvPr id="26" name="Text 24"/>
          <p:cNvSpPr txBox="1"/>
          <p:nvPr/>
        </p:nvSpPr>
        <p:spPr>
          <a:xfrm>
            <a:off x="8549640" y="1719072"/>
            <a:ext cx="1481328" cy="457200"/>
          </a:xfrm>
          <a:prstGeom prst="rect">
            <a:avLst/>
          </a:prstGeom>
          <a:noFill/>
          <a:ln/>
        </p:spPr>
        <p:txBody>
          <a:bodyPr wrap="square" lIns="0" tIns="0" rIns="0" bIns="0" rtlCol="0" anchor="t"/>
          <a:lstStyle/>
          <a:p>
            <a:pPr algn="ctr" indent="0" marL="0">
              <a:buNone/>
            </a:pPr>
            <a:r>
              <a:rPr lang="en-US" sz="1300" b="1" dirty="0">
                <a:solidFill>
                  <a:srgbClr val="0F2A36"/>
                </a:solidFill>
              </a:rPr>
              <a:t>Run is recorded</a:t>
            </a:r>
            <a:endParaRPr lang="en-US" sz="1300" dirty="0"/>
          </a:p>
        </p:txBody>
      </p:sp>
      <p:sp>
        <p:nvSpPr>
          <p:cNvPr id="27" name="Text 25"/>
          <p:cNvSpPr txBox="1"/>
          <p:nvPr/>
        </p:nvSpPr>
        <p:spPr>
          <a:xfrm>
            <a:off x="8549640" y="2157984"/>
            <a:ext cx="1481328" cy="548640"/>
          </a:xfrm>
          <a:prstGeom prst="rect">
            <a:avLst/>
          </a:prstGeom>
          <a:noFill/>
          <a:ln/>
        </p:spPr>
        <p:txBody>
          <a:bodyPr wrap="square" lIns="0" tIns="0" rIns="0" bIns="0" rtlCol="0" anchor="t"/>
          <a:lstStyle/>
          <a:p>
            <a:pPr algn="ctr" indent="0" marL="0">
              <a:buNone/>
            </a:pPr>
            <a:r>
              <a:rPr lang="en-US" sz="1100" dirty="0">
                <a:solidFill>
                  <a:srgbClr val="5B6B73"/>
                </a:solidFill>
              </a:rPr>
              <a:t>History: 5 min, Zone 2, manual</a:t>
            </a:r>
            <a:endParaRPr lang="en-US" sz="1100" dirty="0"/>
          </a:p>
        </p:txBody>
      </p:sp>
      <p:sp>
        <p:nvSpPr>
          <p:cNvPr id="28" name="Step 7"/>
          <p:cNvSpPr txBox="1"/>
          <p:nvPr/>
        </p:nvSpPr>
        <p:spPr>
          <a:xfrm>
            <a:off x="10707624" y="1234440"/>
            <a:ext cx="384048" cy="384048"/>
          </a:xfrm>
          <a:prstGeom prst="ellipse">
            <a:avLst/>
          </a:prstGeom>
          <a:solidFill>
            <a:srgbClr val="184D35"/>
          </a:solidFill>
          <a:ln>
            <a:solidFill>
              <a:srgbClr val="184D35"/>
            </a:solid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29" name="Text 27"/>
          <p:cNvSpPr txBox="1"/>
          <p:nvPr/>
        </p:nvSpPr>
        <p:spPr>
          <a:xfrm>
            <a:off x="10158984" y="1719072"/>
            <a:ext cx="1481328" cy="457200"/>
          </a:xfrm>
          <a:prstGeom prst="rect">
            <a:avLst/>
          </a:prstGeom>
          <a:noFill/>
          <a:ln/>
        </p:spPr>
        <p:txBody>
          <a:bodyPr wrap="square" lIns="0" tIns="0" rIns="0" bIns="0" rtlCol="0" anchor="t"/>
          <a:lstStyle/>
          <a:p>
            <a:pPr algn="ctr" indent="0" marL="0">
              <a:buNone/>
            </a:pPr>
            <a:r>
              <a:rPr lang="en-US" sz="1300" b="1" dirty="0">
                <a:solidFill>
                  <a:srgbClr val="0F2A36"/>
                </a:solidFill>
              </a:rPr>
              <a:t>Admin follows up</a:t>
            </a:r>
            <a:endParaRPr lang="en-US" sz="1300" dirty="0"/>
          </a:p>
        </p:txBody>
      </p:sp>
      <p:sp>
        <p:nvSpPr>
          <p:cNvPr id="30" name="Text 28"/>
          <p:cNvSpPr txBox="1"/>
          <p:nvPr/>
        </p:nvSpPr>
        <p:spPr>
          <a:xfrm>
            <a:off x="10158984" y="2157984"/>
            <a:ext cx="1481328" cy="548640"/>
          </a:xfrm>
          <a:prstGeom prst="rect">
            <a:avLst/>
          </a:prstGeom>
          <a:noFill/>
          <a:ln/>
        </p:spPr>
        <p:txBody>
          <a:bodyPr wrap="square" lIns="0" tIns="0" rIns="0" bIns="0" rtlCol="0" anchor="t"/>
          <a:lstStyle/>
          <a:p>
            <a:pPr algn="ctr" indent="0" marL="0">
              <a:buNone/>
            </a:pPr>
            <a:r>
              <a:rPr lang="en-US" sz="1100" dirty="0">
                <a:solidFill>
                  <a:srgbClr val="5B6B73"/>
                </a:solidFill>
              </a:rPr>
              <a:t>Alert, kits, reports, activity</a:t>
            </a:r>
            <a:endParaRPr lang="en-US" sz="1100" dirty="0"/>
          </a:p>
        </p:txBody>
      </p:sp>
      <p:pic>
        <p:nvPicPr>
          <p:cNvPr id="31" name="Demo screen — Zone 2 readings and advice" descr="/home/user/AgroFlow/presentation/presentation-assets/ui/demo-m-zone2.png">    </p:cNvPr>
          <p:cNvPicPr>
            <a:picLocks noChangeAspect="1"/>
          </p:cNvPicPr>
          <p:nvPr/>
        </p:nvPicPr>
        <p:blipFill>
          <a:blip r:embed="rId1"/>
          <a:stretch>
            <a:fillRect/>
          </a:stretch>
        </p:blipFill>
        <p:spPr>
          <a:xfrm>
            <a:off x="685800" y="2926080"/>
            <a:ext cx="1435129" cy="2971800"/>
          </a:xfrm>
          <a:prstGeom prst="rect">
            <a:avLst/>
          </a:prstGeom>
        </p:spPr>
      </p:pic>
      <p:pic>
        <p:nvPicPr>
          <p:cNvPr id="32" name="Demo screen — Manual run sent" descr="/home/user/AgroFlow/presentation/presentation-assets/ui/demo-m-zone2-sent.png">    </p:cNvPr>
          <p:cNvPicPr>
            <a:picLocks noChangeAspect="1"/>
          </p:cNvPicPr>
          <p:nvPr/>
        </p:nvPicPr>
        <p:blipFill>
          <a:blip r:embed="rId2"/>
          <a:stretch>
            <a:fillRect/>
          </a:stretch>
        </p:blipFill>
        <p:spPr>
          <a:xfrm>
            <a:off x="2377440" y="2926080"/>
            <a:ext cx="1435129" cy="2971800"/>
          </a:xfrm>
          <a:prstGeom prst="rect">
            <a:avLst/>
          </a:prstGeom>
        </p:spPr>
      </p:pic>
      <p:pic>
        <p:nvPicPr>
          <p:cNvPr id="33" name="Demo screen — Run recorded in History" descr="/home/user/AgroFlow/presentation/presentation-assets/ui/demo-m-history.png">    </p:cNvPr>
          <p:cNvPicPr>
            <a:picLocks noChangeAspect="1"/>
          </p:cNvPicPr>
          <p:nvPr/>
        </p:nvPicPr>
        <p:blipFill>
          <a:blip r:embed="rId3"/>
          <a:stretch>
            <a:fillRect/>
          </a:stretch>
        </p:blipFill>
        <p:spPr>
          <a:xfrm>
            <a:off x="4069080" y="2926080"/>
            <a:ext cx="1435129" cy="2971800"/>
          </a:xfrm>
          <a:prstGeom prst="rect">
            <a:avLst/>
          </a:prstGeom>
        </p:spPr>
      </p:pic>
      <p:sp>
        <p:nvSpPr>
          <p:cNvPr id="34" name="Text 29"/>
          <p:cNvSpPr txBox="1"/>
          <p:nvPr/>
        </p:nvSpPr>
        <p:spPr>
          <a:xfrm>
            <a:off x="685800" y="5989320"/>
            <a:ext cx="4937760" cy="274320"/>
          </a:xfrm>
          <a:prstGeom prst="rect">
            <a:avLst/>
          </a:prstGeom>
          <a:noFill/>
          <a:ln/>
        </p:spPr>
        <p:txBody>
          <a:bodyPr wrap="square" lIns="0" tIns="0" rIns="0" bIns="0" rtlCol="0" anchor="t"/>
          <a:lstStyle/>
          <a:p>
            <a:pPr indent="0" marL="0">
              <a:buNone/>
            </a:pPr>
            <a:r>
              <a:rPr lang="en-US" sz="1000" i="1" dirty="0">
                <a:solidFill>
                  <a:srgbClr val="5B6B73"/>
                </a:solidFill>
              </a:rPr>
              <a:t>Screens from our system demo: real app, illustrative demo data</a:t>
            </a:r>
            <a:endParaRPr lang="en-US" sz="1000" dirty="0"/>
          </a:p>
        </p:txBody>
      </p:sp>
      <p:sp>
        <p:nvSpPr>
          <p:cNvPr id="35" name="Validation example"/>
          <p:cNvSpPr/>
          <p:nvPr/>
        </p:nvSpPr>
        <p:spPr>
          <a:xfrm>
            <a:off x="5897880" y="2971800"/>
            <a:ext cx="2743200" cy="1874520"/>
          </a:xfrm>
          <a:prstGeom prst="roundRect">
            <a:avLst>
              <a:gd name="adj" fmla="val 5854"/>
            </a:avLst>
          </a:prstGeom>
          <a:solidFill>
            <a:srgbClr val="FBF1DC"/>
          </a:solidFill>
          <a:ln w="9525">
            <a:solidFill>
              <a:srgbClr val="FBF1DC"/>
            </a:solidFill>
            <a:prstDash val="solid"/>
          </a:ln>
          <a:effectLst>
            <a:outerShdw sx="100000" sy="100000" kx="0" ky="0" algn="bl" rotWithShape="0" blurRad="101600" dist="25400" dir="5400000">
              <a:srgbClr val="0F2A36">
                <a:alpha val="12000"/>
              </a:srgbClr>
            </a:outerShdw>
          </a:effectLst>
        </p:spPr>
      </p:sp>
      <p:sp>
        <p:nvSpPr>
          <p:cNvPr id="36" name="Text 31"/>
          <p:cNvSpPr txBox="1"/>
          <p:nvPr/>
        </p:nvSpPr>
        <p:spPr>
          <a:xfrm>
            <a:off x="6035040" y="3063240"/>
            <a:ext cx="2468880" cy="1691640"/>
          </a:xfrm>
          <a:prstGeom prst="rect">
            <a:avLst/>
          </a:prstGeom>
          <a:noFill/>
          <a:ln/>
        </p:spPr>
        <p:txBody>
          <a:bodyPr wrap="square" lIns="0" tIns="0" rIns="0" bIns="0" rtlCol="0" anchor="t"/>
          <a:lstStyle/>
          <a:p>
            <a:pPr algn="ctr" indent="0" marL="0">
              <a:buNone/>
            </a:pPr>
            <a:r>
              <a:rPr lang="en-US" sz="1100" b="1" dirty="0">
                <a:solidFill>
                  <a:srgbClr val="7A5300"/>
                </a:solidFill>
              </a:rPr>
              <a:t>VALIDATION IN THE DEMO</a:t>
            </a:r>
            <a:endParaRPr lang="en-US" sz="1200" dirty="0"/>
          </a:p>
          <a:p>
            <a:pPr algn="ctr" indent="0" marL="0">
              <a:buNone/>
            </a:pPr>
            <a:r>
              <a:rPr lang="en-US" sz="1200" dirty="0">
                <a:solidFill>
                  <a:srgbClr val="0F2A36"/>
                </a:solidFill>
              </a:rPr>
              <a:t>Farmer types 90 minutes</a:t>
            </a:r>
            <a:endParaRPr lang="en-US" sz="1200" dirty="0"/>
          </a:p>
          <a:p>
            <a:pPr algn="ctr" indent="0" marL="0">
              <a:buNone/>
            </a:pPr>
            <a:r>
              <a:rPr lang="en-US" sz="1200" dirty="0">
                <a:solidFill>
                  <a:srgbClr val="7A5300"/>
                </a:solidFill>
              </a:rPr>
              <a:t>↓</a:t>
            </a:r>
            <a:endParaRPr lang="en-US" sz="1200" dirty="0"/>
          </a:p>
          <a:p>
            <a:pPr algn="ctr" indent="0" marL="0">
              <a:buNone/>
            </a:pPr>
            <a:r>
              <a:rPr lang="en-US" sz="1200" i="1" dirty="0">
                <a:solidFill>
                  <a:srgbClr val="0F2A36"/>
                </a:solidFill>
              </a:rPr>
              <a:t>“Enter a duration between 1 and 60 minutes.”</a:t>
            </a:r>
            <a:endParaRPr lang="en-US" sz="1200" dirty="0"/>
          </a:p>
          <a:p>
            <a:pPr algn="ctr" indent="0" marL="0">
              <a:buNone/>
            </a:pPr>
            <a:r>
              <a:rPr lang="en-US" sz="1200" dirty="0">
                <a:solidFill>
                  <a:srgbClr val="7A5300"/>
                </a:solidFill>
              </a:rPr>
              <a:t>↓</a:t>
            </a:r>
            <a:endParaRPr lang="en-US" sz="1200" dirty="0"/>
          </a:p>
          <a:p>
            <a:pPr algn="ctr" indent="0" marL="0">
              <a:buNone/>
            </a:pPr>
            <a:r>
              <a:rPr lang="en-US" sz="1200" dirty="0">
                <a:solidFill>
                  <a:srgbClr val="0F2A36"/>
                </a:solidFill>
              </a:rPr>
              <a:t>Corrected to 5 → confirmed → sent</a:t>
            </a:r>
            <a:endParaRPr lang="en-US" sz="1200" dirty="0"/>
          </a:p>
        </p:txBody>
      </p:sp>
      <p:pic>
        <p:nvPicPr>
          <p:cNvPr id="37" name="Demo screen — admin kits" descr="/home/user/AgroFlow/presentation/presentation-assets/ui/demo-a-kits.png">    </p:cNvPr>
          <p:cNvPicPr>
            <a:picLocks noChangeAspect="1"/>
          </p:cNvPicPr>
          <p:nvPr/>
        </p:nvPicPr>
        <p:blipFill>
          <a:blip r:embed="rId4"/>
          <a:stretch>
            <a:fillRect/>
          </a:stretch>
        </p:blipFill>
        <p:spPr>
          <a:xfrm>
            <a:off x="8869680" y="2971800"/>
            <a:ext cx="2788920" cy="1568768"/>
          </a:xfrm>
          <a:prstGeom prst="rect">
            <a:avLst/>
          </a:prstGeom>
        </p:spPr>
      </p:pic>
      <p:sp>
        <p:nvSpPr>
          <p:cNvPr id="38" name="Text 32"/>
          <p:cNvSpPr txBox="1"/>
          <p:nvPr/>
        </p:nvSpPr>
        <p:spPr>
          <a:xfrm>
            <a:off x="8869680" y="4586288"/>
            <a:ext cx="2788920" cy="274320"/>
          </a:xfrm>
          <a:prstGeom prst="rect">
            <a:avLst/>
          </a:prstGeom>
          <a:noFill/>
          <a:ln/>
        </p:spPr>
        <p:txBody>
          <a:bodyPr wrap="square" lIns="0" tIns="0" rIns="0" bIns="0" rtlCol="0" anchor="t"/>
          <a:lstStyle/>
          <a:p>
            <a:pPr algn="ctr" indent="0" marL="0">
              <a:buNone/>
            </a:pPr>
            <a:r>
              <a:rPr lang="en-US" sz="1000" i="1" dirty="0">
                <a:solidFill>
                  <a:srgbClr val="5B6B73"/>
                </a:solidFill>
              </a:rPr>
              <a:t>Admin console · Kits (demo data)</a:t>
            </a:r>
            <a:endParaRPr lang="en-US" sz="1000" dirty="0"/>
          </a:p>
        </p:txBody>
      </p:sp>
      <p:sp>
        <p:nvSpPr>
          <p:cNvPr id="39" name="Text 33"/>
          <p:cNvSpPr txBox="1"/>
          <p:nvPr/>
        </p:nvSpPr>
        <p:spPr>
          <a:xfrm>
            <a:off x="5897880" y="5349240"/>
            <a:ext cx="5760720" cy="594360"/>
          </a:xfrm>
          <a:prstGeom prst="rect">
            <a:avLst/>
          </a:prstGeom>
          <a:noFill/>
          <a:ln/>
        </p:spPr>
        <p:txBody>
          <a:bodyPr wrap="square" lIns="0" tIns="0" rIns="0" bIns="0" rtlCol="0" anchor="ctr"/>
          <a:lstStyle/>
          <a:p>
            <a:pPr indent="0" marL="0">
              <a:buNone/>
            </a:pPr>
            <a:r>
              <a:rPr lang="en-US" sz="2400" b="1" dirty="0">
                <a:solidFill>
                  <a:srgbClr val="168F99"/>
                </a:solidFill>
              </a:rPr>
              <a:t>Now, let's see AgroFlow in action.</a:t>
            </a:r>
            <a:endParaRPr lang="en-US" sz="2400" dirty="0"/>
          </a:p>
        </p:txBody>
      </p:sp>
      <p:sp>
        <p:nvSpPr>
          <p:cNvPr id="25" name="Slide Number Placeholder 0"/>
          <p:cNvSpPr>
            <a:spLocks noGrp="1"/>
          </p:cNvSpPr>
          <p:nvPr>
            <p:ph type="sldNum" sz="quarter" idx="4294967295"/>
          </p:nvPr>
        </p:nvSpPr>
        <p:spPr>
          <a:xfrm>
            <a:off x="1129284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AgroFlow">
  <a:themeElements>
    <a:clrScheme name="AgroFlow">
      <a:dk1>
        <a:srgbClr val="0F2A36"/>
      </a:dk1>
      <a:lt1>
        <a:srgbClr val="FFFFFF"/>
      </a:lt1>
      <a:dk2>
        <a:srgbClr val="184D35"/>
      </a:dk2>
      <a:lt2>
        <a:srgbClr val="F2F7F6"/>
      </a:lt2>
      <a:accent1>
        <a:srgbClr val="168F99"/>
      </a:accent1>
      <a:accent2>
        <a:srgbClr val="2F6B4B"/>
      </a:accent2>
      <a:accent3>
        <a:srgbClr val="1E88E5"/>
      </a:accent3>
      <a:accent4>
        <a:srgbClr val="42C3C7"/>
      </a:accent4>
      <a:accent5>
        <a:srgbClr val="C98A00"/>
      </a:accent5>
      <a:accent6>
        <a:srgbClr val="5B6B73"/>
      </a:accent6>
      <a:hlink>
        <a:srgbClr val="168F99"/>
      </a:hlink>
      <a:folHlink>
        <a:srgbClr val="2F6B4B"/>
      </a:folHlink>
    </a:clrScheme>
    <a:fontScheme name="AgroFlo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University of Cape Town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AgroFlow — Showcase Introduction 2026</dc:title>
  <dc:subject>PptxGenJS Presentation</dc:subject>
  <dc:creator>Team 2, INF3003W, University of Cape Town</dc:creator>
  <cp:lastModifiedBy>Team 2, INF3003W, University of Cape Town</cp:lastModifiedBy>
  <cp:revision>1</cp:revision>
  <dcterms:created xsi:type="dcterms:W3CDTF">2026-10-06T17:37:46Z</dcterms:created>
  <dcterms:modified xsi:type="dcterms:W3CDTF">2026-10-06T17:37:46Z</dcterms:modified>
</cp:coreProperties>
</file>